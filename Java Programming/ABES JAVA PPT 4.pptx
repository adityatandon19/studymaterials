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353" r:id="rId3"/>
    <p:sldId id="356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5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258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53"/>
          </p14:sldIdLst>
        </p14:section>
        <p14:section name="Overloading" id="{95324D4E-F88B-6F40-AEA7-D98B83F96EC8}">
          <p14:sldIdLst>
            <p14:sldId id="356"/>
            <p14:sldId id="321"/>
            <p14:sldId id="322"/>
            <p14:sldId id="323"/>
            <p14:sldId id="324"/>
            <p14:sldId id="325"/>
            <p14:sldId id="326"/>
            <p14:sldId id="327"/>
          </p14:sldIdLst>
        </p14:section>
        <p14:section name="Static" id="{C8CF7CF4-4D55-8840-8F9C-9F5E9B576975}">
          <p14:sldIdLst>
            <p14:sldId id="35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D2F552-6172-CF41-AE42-C094F4069FED}" v="6" dt="2025-05-20T05:21:05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BAD2F552-6172-CF41-AE42-C094F4069FED}"/>
    <pc:docChg chg="undo custSel addSld delSld modSld delSection modSection">
      <pc:chgData name="Aditya Hare Krishna" userId="de62b921b3c41f8c" providerId="LiveId" clId="{BAD2F552-6172-CF41-AE42-C094F4069FED}" dt="2025-05-20T05:21:41.924" v="32" actId="2696"/>
      <pc:docMkLst>
        <pc:docMk/>
      </pc:docMkLst>
      <pc:sldChg chg="modSp mod">
        <pc:chgData name="Aditya Hare Krishna" userId="de62b921b3c41f8c" providerId="LiveId" clId="{BAD2F552-6172-CF41-AE42-C094F4069FED}" dt="2025-05-20T05:19:36.497" v="6" actId="27636"/>
        <pc:sldMkLst>
          <pc:docMk/>
          <pc:sldMk cId="0" sldId="256"/>
        </pc:sldMkLst>
        <pc:spChg chg="mod">
          <ac:chgData name="Aditya Hare Krishna" userId="de62b921b3c41f8c" providerId="LiveId" clId="{BAD2F552-6172-CF41-AE42-C094F4069FED}" dt="2025-05-20T05:19:36.497" v="6" actId="27636"/>
          <ac:spMkLst>
            <pc:docMk/>
            <pc:sldMk cId="0" sldId="256"/>
            <ac:spMk id="3" creationId="{F0DEE807-2466-0178-63E2-A3DD4525BB32}"/>
          </ac:spMkLst>
        </pc:spChg>
      </pc:sldChg>
      <pc:sldChg chg="add del">
        <pc:chgData name="Aditya Hare Krishna" userId="de62b921b3c41f8c" providerId="LiveId" clId="{BAD2F552-6172-CF41-AE42-C094F4069FED}" dt="2025-05-20T05:21:34.004" v="24" actId="2696"/>
        <pc:sldMkLst>
          <pc:docMk/>
          <pc:sldMk cId="0" sldId="258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3279228656" sldId="336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3979537388" sldId="337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1919404563" sldId="338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2955522308" sldId="339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896751669" sldId="340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2360771859" sldId="341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4183853143" sldId="342"/>
        </pc:sldMkLst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1638656499" sldId="343"/>
        </pc:sldMkLst>
      </pc:sldChg>
      <pc:sldChg chg="del">
        <pc:chgData name="Aditya Hare Krishna" userId="de62b921b3c41f8c" providerId="LiveId" clId="{BAD2F552-6172-CF41-AE42-C094F4069FED}" dt="2025-05-20T05:21:37.674" v="26" actId="2696"/>
        <pc:sldMkLst>
          <pc:docMk/>
          <pc:sldMk cId="3019390478" sldId="344"/>
        </pc:sldMkLst>
      </pc:sldChg>
      <pc:sldChg chg="del">
        <pc:chgData name="Aditya Hare Krishna" userId="de62b921b3c41f8c" providerId="LiveId" clId="{BAD2F552-6172-CF41-AE42-C094F4069FED}" dt="2025-05-20T05:21:37.966" v="27" actId="2696"/>
        <pc:sldMkLst>
          <pc:docMk/>
          <pc:sldMk cId="3832405386" sldId="345"/>
        </pc:sldMkLst>
      </pc:sldChg>
      <pc:sldChg chg="del">
        <pc:chgData name="Aditya Hare Krishna" userId="de62b921b3c41f8c" providerId="LiveId" clId="{BAD2F552-6172-CF41-AE42-C094F4069FED}" dt="2025-05-20T05:21:38.264" v="28" actId="2696"/>
        <pc:sldMkLst>
          <pc:docMk/>
          <pc:sldMk cId="1258999841" sldId="346"/>
        </pc:sldMkLst>
      </pc:sldChg>
      <pc:sldChg chg="del">
        <pc:chgData name="Aditya Hare Krishna" userId="de62b921b3c41f8c" providerId="LiveId" clId="{BAD2F552-6172-CF41-AE42-C094F4069FED}" dt="2025-05-20T05:21:38.608" v="29" actId="2696"/>
        <pc:sldMkLst>
          <pc:docMk/>
          <pc:sldMk cId="1925261951" sldId="347"/>
        </pc:sldMkLst>
      </pc:sldChg>
      <pc:sldChg chg="del">
        <pc:chgData name="Aditya Hare Krishna" userId="de62b921b3c41f8c" providerId="LiveId" clId="{BAD2F552-6172-CF41-AE42-C094F4069FED}" dt="2025-05-20T05:21:39.182" v="30" actId="2696"/>
        <pc:sldMkLst>
          <pc:docMk/>
          <pc:sldMk cId="1676238741" sldId="348"/>
        </pc:sldMkLst>
      </pc:sldChg>
      <pc:sldChg chg="del">
        <pc:chgData name="Aditya Hare Krishna" userId="de62b921b3c41f8c" providerId="LiveId" clId="{BAD2F552-6172-CF41-AE42-C094F4069FED}" dt="2025-05-20T05:21:39.615" v="31" actId="2696"/>
        <pc:sldMkLst>
          <pc:docMk/>
          <pc:sldMk cId="4064262338" sldId="349"/>
        </pc:sldMkLst>
      </pc:sldChg>
      <pc:sldChg chg="del">
        <pc:chgData name="Aditya Hare Krishna" userId="de62b921b3c41f8c" providerId="LiveId" clId="{BAD2F552-6172-CF41-AE42-C094F4069FED}" dt="2025-05-20T05:21:41.924" v="32" actId="2696"/>
        <pc:sldMkLst>
          <pc:docMk/>
          <pc:sldMk cId="2711226283" sldId="350"/>
        </pc:sldMkLst>
      </pc:sldChg>
      <pc:sldChg chg="delSp modSp mod">
        <pc:chgData name="Aditya Hare Krishna" userId="de62b921b3c41f8c" providerId="LiveId" clId="{BAD2F552-6172-CF41-AE42-C094F4069FED}" dt="2025-05-20T05:20:07.644" v="18"/>
        <pc:sldMkLst>
          <pc:docMk/>
          <pc:sldMk cId="2885180996" sldId="353"/>
        </pc:sldMkLst>
        <pc:graphicFrameChg chg="mod">
          <ac:chgData name="Aditya Hare Krishna" userId="de62b921b3c41f8c" providerId="LiveId" clId="{BAD2F552-6172-CF41-AE42-C094F4069FED}" dt="2025-05-20T05:20:07.644" v="18"/>
          <ac:graphicFrameMkLst>
            <pc:docMk/>
            <pc:sldMk cId="2885180996" sldId="353"/>
            <ac:graphicFrameMk id="12" creationId="{416A50E4-952E-5022-7474-39364C96BE15}"/>
          </ac:graphicFrameMkLst>
        </pc:graphicFrameChg>
        <pc:graphicFrameChg chg="mod">
          <ac:chgData name="Aditya Hare Krishna" userId="de62b921b3c41f8c" providerId="LiveId" clId="{BAD2F552-6172-CF41-AE42-C094F4069FED}" dt="2025-05-20T05:20:04.808" v="17" actId="1076"/>
          <ac:graphicFrameMkLst>
            <pc:docMk/>
            <pc:sldMk cId="2885180996" sldId="353"/>
            <ac:graphicFrameMk id="14" creationId="{7B395166-16E0-2BDC-6C4D-34CD11805F16}"/>
          </ac:graphicFrameMkLst>
        </pc:graphicFrameChg>
        <pc:graphicFrameChg chg="del">
          <ac:chgData name="Aditya Hare Krishna" userId="de62b921b3c41f8c" providerId="LiveId" clId="{BAD2F552-6172-CF41-AE42-C094F4069FED}" dt="2025-05-20T05:19:41.376" v="7" actId="478"/>
          <ac:graphicFrameMkLst>
            <pc:docMk/>
            <pc:sldMk cId="2885180996" sldId="353"/>
            <ac:graphicFrameMk id="16" creationId="{C162850B-BA7A-8E36-989D-E1AA493283BD}"/>
          </ac:graphicFrameMkLst>
        </pc:graphicFrameChg>
        <pc:graphicFrameChg chg="del">
          <ac:chgData name="Aditya Hare Krishna" userId="de62b921b3c41f8c" providerId="LiveId" clId="{BAD2F552-6172-CF41-AE42-C094F4069FED}" dt="2025-05-20T05:19:42.888" v="8" actId="478"/>
          <ac:graphicFrameMkLst>
            <pc:docMk/>
            <pc:sldMk cId="2885180996" sldId="353"/>
            <ac:graphicFrameMk id="18" creationId="{E7080F80-7052-6517-63B1-7F848BEE5162}"/>
          </ac:graphicFrameMkLst>
        </pc:graphicFrameChg>
      </pc:sldChg>
      <pc:sldChg chg="del">
        <pc:chgData name="Aditya Hare Krishna" userId="de62b921b3c41f8c" providerId="LiveId" clId="{BAD2F552-6172-CF41-AE42-C094F4069FED}" dt="2025-05-20T05:20:17.049" v="19" actId="18676"/>
        <pc:sldMkLst>
          <pc:docMk/>
          <pc:sldMk cId="2660700691" sldId="358"/>
        </pc:sldMkLst>
      </pc:sldChg>
      <pc:sldChg chg="del">
        <pc:chgData name="Aditya Hare Krishna" userId="de62b921b3c41f8c" providerId="LiveId" clId="{BAD2F552-6172-CF41-AE42-C094F4069FED}" dt="2025-05-20T05:21:37.396" v="25" actId="2696"/>
        <pc:sldMkLst>
          <pc:docMk/>
          <pc:sldMk cId="963072632" sldId="359"/>
        </pc:sldMkLst>
      </pc:sldChg>
      <pc:sldMasterChg chg="addSldLayout delSldLayout">
        <pc:chgData name="Aditya Hare Krishna" userId="de62b921b3c41f8c" providerId="LiveId" clId="{BAD2F552-6172-CF41-AE42-C094F4069FED}" dt="2025-05-20T05:21:34.004" v="24" actId="2696"/>
        <pc:sldMasterMkLst>
          <pc:docMk/>
          <pc:sldMasterMk cId="0" sldId="2147483659"/>
        </pc:sldMasterMkLst>
        <pc:sldLayoutChg chg="add del">
          <pc:chgData name="Aditya Hare Krishna" userId="de62b921b3c41f8c" providerId="LiveId" clId="{BAD2F552-6172-CF41-AE42-C094F4069FED}" dt="2025-05-20T05:21:34.004" v="24" actId="2696"/>
          <pc:sldLayoutMkLst>
            <pc:docMk/>
            <pc:sldMasterMk cId="0" sldId="2147483659"/>
            <pc:sldLayoutMk cId="2449803517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FA74-DFAA-39AE-3FC8-7FB7B13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FA4D-21FF-3478-105E-FD297364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C10F-D47A-1998-FC99-4460BA23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663-262E-9143-81F7-034DECEA58A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EE9B-CF5A-0891-5AF1-2FB85B58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ECF0-C5C5-0294-03AA-3825073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4F6E-3F2D-614E-AF98-619E386A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3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80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305920" y="1329179"/>
            <a:ext cx="6532160" cy="1159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DEE807-2466-0178-63E2-A3DD4525BB32}"/>
              </a:ext>
            </a:extLst>
          </p:cNvPr>
          <p:cNvSpPr txBox="1">
            <a:spLocks/>
          </p:cNvSpPr>
          <p:nvPr/>
        </p:nvSpPr>
        <p:spPr>
          <a:xfrm>
            <a:off x="311700" y="2278880"/>
            <a:ext cx="8520600" cy="206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Overloading and “static” keyword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2" name="Section Zoom 11">
                <a:extLst>
                  <a:ext uri="{FF2B5EF4-FFF2-40B4-BE49-F238E27FC236}">
                    <a16:creationId xmlns:a16="http://schemas.microsoft.com/office/drawing/2014/main" id="{416A50E4-952E-5022-7474-39364C96BE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8420646"/>
                  </p:ext>
                </p:extLst>
              </p:nvPr>
            </p:nvGraphicFramePr>
            <p:xfrm>
              <a:off x="202790" y="1400176"/>
              <a:ext cx="3996377" cy="2247961"/>
            </p:xfrm>
            <a:graphic>
              <a:graphicData uri="http://schemas.microsoft.com/office/powerpoint/2016/sectionzoom">
                <psez:sectionZm>
                  <psez:sectionZmObj sectionId="{95324D4E-F88B-6F40-AEA7-D98B83F96EC8}">
                    <psez:zmPr id="{045A5583-8D38-6042-B74B-7E0BED845D09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96377" cy="2247961"/>
                        </a:xfrm>
                        <a:prstGeom prst="snip2Diag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88900" algn="tl" rotWithShape="0">
                            <a:srgbClr val="000000">
                              <a:alpha val="45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2" name="Section Zoom 1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16A50E4-952E-5022-7474-39364C96BE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790" y="1400176"/>
                <a:ext cx="3996377" cy="2247961"/>
              </a:xfrm>
              <a:prstGeom prst="snip2Diag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88900" algn="tl" rotWithShape="0">
                  <a:srgbClr val="000000">
                    <a:alpha val="45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4" name="Section Zoom 13">
                <a:extLst>
                  <a:ext uri="{FF2B5EF4-FFF2-40B4-BE49-F238E27FC236}">
                    <a16:creationId xmlns:a16="http://schemas.microsoft.com/office/drawing/2014/main" id="{7B395166-16E0-2BDC-6C4D-34CD11805F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63433373"/>
                  </p:ext>
                </p:extLst>
              </p:nvPr>
            </p:nvGraphicFramePr>
            <p:xfrm>
              <a:off x="4664046" y="1447769"/>
              <a:ext cx="3996377" cy="2247962"/>
            </p:xfrm>
            <a:graphic>
              <a:graphicData uri="http://schemas.microsoft.com/office/powerpoint/2016/sectionzoom">
                <psez:sectionZm>
                  <psez:sectionZmObj sectionId="{C8CF7CF4-4D55-8840-8F9C-9F5E9B576975}">
                    <psez:zmPr id="{FC42C413-D009-3E43-908A-2EE5063B6B4C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96377" cy="2247962"/>
                        </a:xfrm>
                        <a:prstGeom prst="snip2DiagRect">
                          <a:avLst/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 w="88900" cap="sq">
                          <a:solidFill>
                            <a:srgbClr val="FFFFFF"/>
                          </a:solidFill>
                          <a:miter lim="800000"/>
                        </a:ln>
                        <a:effectLst>
                          <a:outerShdw blurRad="88900" algn="tl" rotWithShape="0">
                            <a:srgbClr val="000000">
                              <a:alpha val="45000"/>
                            </a:srgbClr>
                          </a:outerShdw>
                        </a:effectLst>
                        <a:scene3d>
                          <a:camera prst="orthographicFront"/>
                          <a:lightRig rig="twoPt" dir="t">
                            <a:rot lat="0" lon="0" rev="7200000"/>
                          </a:lightRig>
                        </a:scene3d>
                        <a:sp3d>
                          <a:bevelT w="25400" h="19050"/>
                          <a:contourClr>
                            <a:srgbClr val="FFFFFF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4" name="Section Zoom 13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B395166-16E0-2BDC-6C4D-34CD11805F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64046" y="1447769"/>
                <a:ext cx="3996377" cy="2247962"/>
              </a:xfrm>
              <a:prstGeom prst="snip2Diag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88900" algn="tl" rotWithShape="0">
                  <a:srgbClr val="000000">
                    <a:alpha val="45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51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54E75-8A00-30B0-CA12-8D5EB4FD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E661-4ED2-0A5C-58C3-A6B67521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Overloading</a:t>
            </a:r>
          </a:p>
        </p:txBody>
      </p:sp>
    </p:spTree>
    <p:extLst>
      <p:ext uri="{BB962C8B-B14F-4D97-AF65-F5344CB8AC3E}">
        <p14:creationId xmlns:p14="http://schemas.microsoft.com/office/powerpoint/2010/main" val="281023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A57C-AB08-3A5A-93DA-32C28059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Overloading?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7EB8-613F-5259-00ED-8E6415E7D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8238"/>
            <a:ext cx="7886700" cy="1202531"/>
          </a:xfrm>
        </p:spPr>
        <p:txBody>
          <a:bodyPr/>
          <a:lstStyle/>
          <a:p>
            <a:r>
              <a:rPr lang="en-IN" dirty="0"/>
              <a:t>Overloading allows </a:t>
            </a:r>
            <a:r>
              <a:rPr lang="en-IN" b="1" dirty="0"/>
              <a:t>multiple methods or constructors with the same name</a:t>
            </a:r>
            <a:r>
              <a:rPr lang="en-IN" dirty="0"/>
              <a:t> but </a:t>
            </a:r>
            <a:r>
              <a:rPr lang="en-IN" b="1" dirty="0"/>
              <a:t>different parameter lists</a:t>
            </a:r>
            <a:r>
              <a:rPr lang="en-IN" dirty="0"/>
              <a:t>.</a:t>
            </a:r>
          </a:p>
          <a:p>
            <a:r>
              <a:rPr lang="en-IN" dirty="0"/>
              <a:t>Provides </a:t>
            </a:r>
            <a:r>
              <a:rPr lang="en-IN" b="1" dirty="0"/>
              <a:t>code reusability</a:t>
            </a:r>
            <a:r>
              <a:rPr lang="en-IN" dirty="0"/>
              <a:t> and improves </a:t>
            </a:r>
            <a:r>
              <a:rPr lang="en-IN" b="1" dirty="0"/>
              <a:t>readability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95CCD-87BF-C69F-D2DE-AC29A4C9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2077642"/>
            <a:ext cx="5295900" cy="1469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8DE15-DEA1-886E-0475-DC4940895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397129"/>
            <a:ext cx="7619127" cy="174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2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EA63-1D0A-D66A-0A4D-24B0289B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Method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EC88-08BD-5DDD-3A35-6CB32C2C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5842"/>
            <a:ext cx="6610350" cy="122180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Overloading is achieved by:</a:t>
            </a:r>
            <a:endParaRPr lang="en-IN" dirty="0"/>
          </a:p>
          <a:p>
            <a:r>
              <a:rPr lang="en-IN" dirty="0"/>
              <a:t>Changing the </a:t>
            </a:r>
            <a:r>
              <a:rPr lang="en-IN" b="1" dirty="0"/>
              <a:t>number of parameters</a:t>
            </a:r>
            <a:endParaRPr lang="en-IN" dirty="0"/>
          </a:p>
          <a:p>
            <a:r>
              <a:rPr lang="en-IN" dirty="0"/>
              <a:t>Changing the </a:t>
            </a:r>
            <a:r>
              <a:rPr lang="en-IN" b="1" dirty="0"/>
              <a:t>type of parameters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FC803-4754-578E-908F-7DE2266A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703" y="2205265"/>
            <a:ext cx="6710297" cy="29382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745CF6-3D3B-976F-7189-1B2A5C3440D3}"/>
              </a:ext>
            </a:extLst>
          </p:cNvPr>
          <p:cNvSpPr txBox="1"/>
          <p:nvPr/>
        </p:nvSpPr>
        <p:spPr>
          <a:xfrm>
            <a:off x="571500" y="3086100"/>
            <a:ext cx="662361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 </a:t>
            </a:r>
          </a:p>
          <a:p>
            <a:endParaRPr lang="en-US" sz="1050" dirty="0"/>
          </a:p>
          <a:p>
            <a:r>
              <a:rPr lang="en-US" sz="1050" dirty="0"/>
              <a:t>20  </a:t>
            </a:r>
          </a:p>
          <a:p>
            <a:r>
              <a:rPr lang="en-US" sz="1050" dirty="0"/>
              <a:t>23.1  </a:t>
            </a:r>
          </a:p>
          <a:p>
            <a:r>
              <a:rPr lang="en-US" sz="1050" dirty="0"/>
              <a:t>24 </a:t>
            </a:r>
          </a:p>
        </p:txBody>
      </p:sp>
    </p:spTree>
    <p:extLst>
      <p:ext uri="{BB962C8B-B14F-4D97-AF65-F5344CB8AC3E}">
        <p14:creationId xmlns:p14="http://schemas.microsoft.com/office/powerpoint/2010/main" val="2691820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6A130-30E5-4D08-5E51-FFE23834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Rules for Method Overloading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11829D-CBAB-56B1-F9BD-03D32DCD4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571467"/>
            <a:ext cx="7886700" cy="1717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191D0E-624A-8A77-25CE-A29166AD5EC8}"/>
              </a:ext>
            </a:extLst>
          </p:cNvPr>
          <p:cNvSpPr txBox="1"/>
          <p:nvPr/>
        </p:nvSpPr>
        <p:spPr>
          <a:xfrm>
            <a:off x="628650" y="1331119"/>
            <a:ext cx="5353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✅ </a:t>
            </a:r>
            <a:r>
              <a:rPr lang="en-IN" sz="1800" b="1" dirty="0"/>
              <a:t>Methods must have the same name</a:t>
            </a:r>
            <a:endParaRPr lang="en-IN" sz="1800" dirty="0"/>
          </a:p>
          <a:p>
            <a:r>
              <a:rPr lang="en-IN" sz="1800" dirty="0"/>
              <a:t>✅ </a:t>
            </a:r>
            <a:r>
              <a:rPr lang="en-IN" sz="1800" b="1" dirty="0"/>
              <a:t>Different parameter lists</a:t>
            </a:r>
            <a:r>
              <a:rPr lang="en-IN" sz="1800" dirty="0"/>
              <a:t> (number or type)</a:t>
            </a:r>
          </a:p>
          <a:p>
            <a:r>
              <a:rPr lang="en-IN" sz="1800" dirty="0"/>
              <a:t>✅ </a:t>
            </a:r>
            <a:r>
              <a:rPr lang="en-IN" sz="1800" b="1" dirty="0"/>
              <a:t>Return type does not play a role</a:t>
            </a:r>
            <a:endParaRPr lang="en-IN" sz="1800" dirty="0"/>
          </a:p>
          <a:p>
            <a:r>
              <a:rPr lang="en-IN" sz="1800" dirty="0"/>
              <a:t>❌ </a:t>
            </a:r>
            <a:r>
              <a:rPr lang="en-IN" sz="1800" b="1" dirty="0"/>
              <a:t>Cannot overload by just changing return type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1209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7130-364D-1A77-8EFB-0178238D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09" y="273844"/>
            <a:ext cx="2820692" cy="9941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Constructor Overloading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5AD45-9725-53FD-94F7-6D29EDBB0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943350" cy="68818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Multiple constructors with different parameter lists.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2C630-C167-FC29-A0E3-FBD2F925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3" y="273844"/>
            <a:ext cx="4105275" cy="4781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1ECD5F-B121-DC6E-A2DA-A7FD1249EC98}"/>
              </a:ext>
            </a:extLst>
          </p:cNvPr>
          <p:cNvSpPr txBox="1"/>
          <p:nvPr/>
        </p:nvSpPr>
        <p:spPr>
          <a:xfrm>
            <a:off x="781050" y="257175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Name: Aditya, Age: 36  </a:t>
            </a:r>
          </a:p>
          <a:p>
            <a:r>
              <a:rPr lang="en-US" sz="1050" dirty="0"/>
              <a:t>Name: Krishna, Age: 36  </a:t>
            </a:r>
          </a:p>
          <a:p>
            <a:r>
              <a:rPr lang="en-US" sz="1050" dirty="0"/>
              <a:t>Name: Radha, Age: 25 </a:t>
            </a:r>
          </a:p>
        </p:txBody>
      </p:sp>
    </p:spTree>
    <p:extLst>
      <p:ext uri="{BB962C8B-B14F-4D97-AF65-F5344CB8AC3E}">
        <p14:creationId xmlns:p14="http://schemas.microsoft.com/office/powerpoint/2010/main" val="2688249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8DD5-9965-B5FA-F1EC-F51418E8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48712"/>
            <a:ext cx="8520600" cy="669013"/>
          </a:xfrm>
        </p:spPr>
        <p:txBody>
          <a:bodyPr>
            <a:normAutofit/>
          </a:bodyPr>
          <a:lstStyle/>
          <a:p>
            <a:r>
              <a:rPr lang="en-IN" b="1" dirty="0"/>
              <a:t>Method Overloading vs Overriding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4D088-6818-EEA9-2309-9CB0400ED9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8" cy="179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229774864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386120826"/>
                    </a:ext>
                  </a:extLst>
                </a:gridCol>
                <a:gridCol w="3428998">
                  <a:extLst>
                    <a:ext uri="{9D8B030D-6E8A-4147-A177-3AD203B41FA5}">
                      <a16:colId xmlns:a16="http://schemas.microsoft.com/office/drawing/2014/main" val="122760105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Method Overloading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Method Overriding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7036272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100" dirty="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Multiple methods with the same name but different parameters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Subclass method redefines a method from the parent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491149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Parameters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Must be different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Must be the same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704175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Return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be the same or different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Must be the same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004824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Inheritance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Not required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Requires inheritance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4215579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Access Modifier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be changed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Cannot be weaker than the original method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8496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85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2D89-CC73-BF83-F930-940A06DC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628" y="445025"/>
            <a:ext cx="7781672" cy="8645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When to Use Method and Constructor Overloading?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AF87-D123-BA0A-54AE-714DBAA4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526381"/>
          </a:xfrm>
        </p:spPr>
        <p:txBody>
          <a:bodyPr/>
          <a:lstStyle/>
          <a:p>
            <a:r>
              <a:rPr lang="en-IN" dirty="0"/>
              <a:t>When methods need to perform </a:t>
            </a:r>
            <a:r>
              <a:rPr lang="en-IN" b="1" dirty="0"/>
              <a:t>similar operations on different types of data</a:t>
            </a:r>
            <a:endParaRPr lang="en-IN" dirty="0"/>
          </a:p>
          <a:p>
            <a:r>
              <a:rPr lang="en-IN" dirty="0"/>
              <a:t>When constructors need </a:t>
            </a:r>
            <a:r>
              <a:rPr lang="en-IN" b="1" dirty="0"/>
              <a:t>multiple ways to initialize an object</a:t>
            </a:r>
            <a:endParaRPr lang="en-IN" dirty="0"/>
          </a:p>
          <a:p>
            <a:r>
              <a:rPr lang="en-IN" dirty="0"/>
              <a:t>To improve </a:t>
            </a:r>
            <a:r>
              <a:rPr lang="en-IN" b="1" dirty="0"/>
              <a:t>code readability and reusability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3FB54-342E-9B55-E69B-0A98609E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28" y="2724151"/>
            <a:ext cx="7127642" cy="238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30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BD9C-A52B-CC2D-53D3-1DF8FF08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Overloading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DFA1A-F712-ACB8-630E-6032BEF82A23}"/>
              </a:ext>
            </a:extLst>
          </p:cNvPr>
          <p:cNvSpPr txBox="1"/>
          <p:nvPr/>
        </p:nvSpPr>
        <p:spPr>
          <a:xfrm>
            <a:off x="171450" y="1147584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Changing Only the Return Type (Not Allowed)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0B2DDC-A5AA-1F2E-F9D0-5393AAC1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827" y="1401500"/>
            <a:ext cx="6808931" cy="1690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9EEDC-D781-932C-A80A-9AE1B10AA17E}"/>
              </a:ext>
            </a:extLst>
          </p:cNvPr>
          <p:cNvSpPr txBox="1"/>
          <p:nvPr/>
        </p:nvSpPr>
        <p:spPr>
          <a:xfrm>
            <a:off x="311700" y="3015547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2EBD57-9A4A-EDC5-40A1-0B3484E62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334" y="3269464"/>
            <a:ext cx="7294385" cy="163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2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A41EB-C2CD-1077-6F94-1EB543B2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B944-5744-83C9-8C2B-0E2868EF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“static” keyword in JAVA</a:t>
            </a:r>
          </a:p>
        </p:txBody>
      </p:sp>
    </p:spTree>
    <p:extLst>
      <p:ext uri="{BB962C8B-B14F-4D97-AF65-F5344CB8AC3E}">
        <p14:creationId xmlns:p14="http://schemas.microsoft.com/office/powerpoint/2010/main" val="335788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D211-C719-B827-3535-175739F8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Does static Mean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50332-687F-FFE5-063A-BCA578FAC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The static keyword </a:t>
            </a:r>
            <a:r>
              <a:rPr lang="en-IN" b="1" dirty="0"/>
              <a:t>associates a variable or method with the class rather than with objects</a:t>
            </a:r>
            <a:r>
              <a:rPr lang="en-IN" dirty="0"/>
              <a:t>.</a:t>
            </a:r>
          </a:p>
          <a:p>
            <a:r>
              <a:rPr lang="en-IN" dirty="0"/>
              <a:t>• A static member </a:t>
            </a:r>
            <a:r>
              <a:rPr lang="en-IN" b="1" dirty="0"/>
              <a:t>belongs to the class</a:t>
            </a:r>
            <a:r>
              <a:rPr lang="en-IN" dirty="0"/>
              <a:t> and is shared among all instances.</a:t>
            </a:r>
          </a:p>
          <a:p>
            <a:r>
              <a:rPr lang="en-IN" dirty="0"/>
              <a:t>• Static members </a:t>
            </a:r>
            <a:r>
              <a:rPr lang="en-IN" b="1" dirty="0"/>
              <a:t>do not require object creation</a:t>
            </a:r>
            <a:r>
              <a:rPr lang="en-IN" dirty="0"/>
              <a:t> to be accessed.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32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A28E-B86D-B6B7-95EC-31173658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Variables (Class Variables)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7BA1-78EF-445B-66D6-F27CFD1C5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9613"/>
            <a:ext cx="7886700" cy="556858"/>
          </a:xfrm>
        </p:spPr>
        <p:txBody>
          <a:bodyPr/>
          <a:lstStyle/>
          <a:p>
            <a:r>
              <a:rPr lang="en-IN" b="1" dirty="0"/>
              <a:t>Static variables are shared among all objects of a class.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72C45-CBF7-8479-A463-08A4B44CA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56" y="1448068"/>
            <a:ext cx="5829300" cy="3695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14CA70-138B-69EF-58CA-193C12A592E9}"/>
              </a:ext>
            </a:extLst>
          </p:cNvPr>
          <p:cNvSpPr txBox="1"/>
          <p:nvPr/>
        </p:nvSpPr>
        <p:spPr>
          <a:xfrm>
            <a:off x="6275556" y="2606783"/>
            <a:ext cx="21788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Name: Aditya, Species: Human  </a:t>
            </a:r>
          </a:p>
          <a:p>
            <a:r>
              <a:rPr lang="en-US" sz="1050" dirty="0"/>
              <a:t>Name: Krishna, Species: Human </a:t>
            </a:r>
          </a:p>
        </p:txBody>
      </p:sp>
    </p:spTree>
    <p:extLst>
      <p:ext uri="{BB962C8B-B14F-4D97-AF65-F5344CB8AC3E}">
        <p14:creationId xmlns:p14="http://schemas.microsoft.com/office/powerpoint/2010/main" val="31889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E989-B854-3536-015B-09B959C8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Methods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625A7-DD3B-77EE-FE80-B474C53C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1736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Static methods belong to the class and cannot access instance variables directly.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A16456-B3A1-600D-0681-9BE183C63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6" y="1987768"/>
            <a:ext cx="7028678" cy="3155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20E316-11F5-8606-9BC7-8F798BD01190}"/>
              </a:ext>
            </a:extLst>
          </p:cNvPr>
          <p:cNvSpPr txBox="1"/>
          <p:nvPr/>
        </p:nvSpPr>
        <p:spPr>
          <a:xfrm>
            <a:off x="7148394" y="3268793"/>
            <a:ext cx="156164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This is a static method.</a:t>
            </a:r>
          </a:p>
        </p:txBody>
      </p:sp>
    </p:spTree>
    <p:extLst>
      <p:ext uri="{BB962C8B-B14F-4D97-AF65-F5344CB8AC3E}">
        <p14:creationId xmlns:p14="http://schemas.microsoft.com/office/powerpoint/2010/main" val="2023758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1913-6F32-39AA-020E-0ED55B8D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Differences Between Static and Instance Members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7B951E-0F74-C265-596A-91044D57C5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5888" y="1485951"/>
          <a:ext cx="6783827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141">
                  <a:extLst>
                    <a:ext uri="{9D8B030D-6E8A-4147-A177-3AD203B41FA5}">
                      <a16:colId xmlns:a16="http://schemas.microsoft.com/office/drawing/2014/main" val="3494641502"/>
                    </a:ext>
                  </a:extLst>
                </a:gridCol>
                <a:gridCol w="1823936">
                  <a:extLst>
                    <a:ext uri="{9D8B030D-6E8A-4147-A177-3AD203B41FA5}">
                      <a16:colId xmlns:a16="http://schemas.microsoft.com/office/drawing/2014/main" val="856175649"/>
                    </a:ext>
                  </a:extLst>
                </a:gridCol>
                <a:gridCol w="2830749">
                  <a:extLst>
                    <a:ext uri="{9D8B030D-6E8A-4147-A177-3AD203B41FA5}">
                      <a16:colId xmlns:a16="http://schemas.microsoft.com/office/drawing/2014/main" val="10843481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Static Members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Instance Members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251287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Belongs To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6424328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Accessed Using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Class Name or Object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Only through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8379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Requires Object Creation?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37819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Can Use “this”?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86949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Memory Allocation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Single copy shared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Separate copies for each object.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2401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42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7CFD-8B24-DBA6-ED91-B9DE6D0A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 Static Members?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14E93-04F4-0597-4BE5-5F15F3658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632065" cy="289149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When a value is common for all objects</a:t>
            </a:r>
            <a:r>
              <a:rPr lang="en-IN" dirty="0"/>
              <a:t> (e.g., PI in Math.PI).</a:t>
            </a:r>
          </a:p>
          <a:p>
            <a:r>
              <a:rPr lang="en-IN" b="1" dirty="0"/>
              <a:t>Utility methods that don’t require object data</a:t>
            </a:r>
            <a:r>
              <a:rPr lang="en-IN" dirty="0"/>
              <a:t> (e.g., Math.sqrt()).</a:t>
            </a:r>
          </a:p>
          <a:p>
            <a:r>
              <a:rPr lang="en-IN" b="1" dirty="0"/>
              <a:t>To keep memory usage low</a:t>
            </a:r>
            <a:r>
              <a:rPr lang="en-IN" dirty="0"/>
              <a:t> by avoiding duplication in objects.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39C8E-51DD-8407-F41F-8E2A1BAC94EA}"/>
              </a:ext>
            </a:extLst>
          </p:cNvPr>
          <p:cNvSpPr txBox="1"/>
          <p:nvPr/>
        </p:nvSpPr>
        <p:spPr>
          <a:xfrm>
            <a:off x="628650" y="4592657"/>
            <a:ext cx="4574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Example: Keeping a Static Counter of Objects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BB194-36B8-E2D2-0EB6-08AC54E87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715" y="1006972"/>
            <a:ext cx="4883285" cy="413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1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6936-3C75-396C-E73C-B50B6217A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Static Blocks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37F5D-E889-A1FF-CDEE-C389D1C09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975448" cy="1782543"/>
          </a:xfrm>
        </p:spPr>
        <p:txBody>
          <a:bodyPr/>
          <a:lstStyle/>
          <a:p>
            <a:r>
              <a:rPr lang="en-IN" b="1" dirty="0"/>
              <a:t>Static blocks execute when the class is loaded.</a:t>
            </a:r>
            <a:endParaRPr lang="en-IN" dirty="0"/>
          </a:p>
          <a:p>
            <a:r>
              <a:rPr lang="en-IN" b="1" dirty="0"/>
              <a:t>Used for static variable initialization.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7F121-2C43-CD4D-26F8-1253A3EE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228725"/>
            <a:ext cx="5362575" cy="3914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259D07-EE3A-AE20-5AAC-503BA41164F0}"/>
              </a:ext>
            </a:extLst>
          </p:cNvPr>
          <p:cNvSpPr txBox="1"/>
          <p:nvPr/>
        </p:nvSpPr>
        <p:spPr>
          <a:xfrm>
            <a:off x="817124" y="3356042"/>
            <a:ext cx="15696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Static block executed.  </a:t>
            </a:r>
          </a:p>
          <a:p>
            <a:r>
              <a:rPr lang="en-US" sz="1050" dirty="0"/>
              <a:t>Static num: 100 </a:t>
            </a:r>
          </a:p>
        </p:txBody>
      </p:sp>
    </p:spTree>
    <p:extLst>
      <p:ext uri="{BB962C8B-B14F-4D97-AF65-F5344CB8AC3E}">
        <p14:creationId xmlns:p14="http://schemas.microsoft.com/office/powerpoint/2010/main" val="3239081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D122-84E5-A2D6-9B41-25F0CA19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Static Members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8FF5D-8AE6-6BCF-1BC8-EF312F99770A}"/>
              </a:ext>
            </a:extLst>
          </p:cNvPr>
          <p:cNvSpPr txBox="1"/>
          <p:nvPr/>
        </p:nvSpPr>
        <p:spPr>
          <a:xfrm>
            <a:off x="628650" y="1025642"/>
            <a:ext cx="48869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Access Non-Static Variables in a Static Method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BC1AB-3FE9-8FB0-25E3-589F1A47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090" y="1268016"/>
            <a:ext cx="6493820" cy="1898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95F9FC-3F75-E31D-228D-2B9EE1141947}"/>
              </a:ext>
            </a:extLst>
          </p:cNvPr>
          <p:cNvSpPr txBox="1"/>
          <p:nvPr/>
        </p:nvSpPr>
        <p:spPr>
          <a:xfrm>
            <a:off x="628649" y="3166597"/>
            <a:ext cx="61126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an object to access instance variables inside a static method.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A6033F-A472-1BCF-B52D-3E36BA8AA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090" y="3408971"/>
            <a:ext cx="45243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64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060D-13B9-6D79-790A-535851E3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D224B-EA34-3DE9-1BEE-F75A2D26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99201" cy="9941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Common Mistakes with Static Members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0BFCE-BF40-CAB0-71B1-78D8BF00F335}"/>
              </a:ext>
            </a:extLst>
          </p:cNvPr>
          <p:cNvSpPr txBox="1"/>
          <p:nvPr/>
        </p:nvSpPr>
        <p:spPr>
          <a:xfrm>
            <a:off x="503381" y="1401502"/>
            <a:ext cx="4574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this Inside Static Methods</a:t>
            </a:r>
            <a:endParaRPr lang="en-IN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AE748-F0D2-B515-086E-8AC45F8E4E88}"/>
              </a:ext>
            </a:extLst>
          </p:cNvPr>
          <p:cNvSpPr txBox="1"/>
          <p:nvPr/>
        </p:nvSpPr>
        <p:spPr>
          <a:xfrm>
            <a:off x="503381" y="3533360"/>
            <a:ext cx="52857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instance variables only in non-static methods.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C6446-9F94-20AB-D1C7-648D49C4B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82" y="1699335"/>
            <a:ext cx="8449738" cy="16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2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552</Words>
  <Application>Microsoft Macintosh PowerPoint</Application>
  <PresentationFormat>On-screen Show (16:9)</PresentationFormat>
  <Paragraphs>106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PowerPoint Presentation</vt:lpstr>
      <vt:lpstr>PowerPoint Presentation</vt:lpstr>
      <vt:lpstr>Overloading</vt:lpstr>
      <vt:lpstr>What is Overloading?</vt:lpstr>
      <vt:lpstr>Method Overloading</vt:lpstr>
      <vt:lpstr>Rules for Method Overloading</vt:lpstr>
      <vt:lpstr>Constructor Overloading</vt:lpstr>
      <vt:lpstr>Method Overloading vs Overriding</vt:lpstr>
      <vt:lpstr>When to Use Method and Constructor Overloading?</vt:lpstr>
      <vt:lpstr>Common Mistakes with Overloading</vt:lpstr>
      <vt:lpstr>“static” keyword in JAVA</vt:lpstr>
      <vt:lpstr>What Does static Mean in Java?</vt:lpstr>
      <vt:lpstr>Static Variables (Class Variables)</vt:lpstr>
      <vt:lpstr>Static Methods in Java</vt:lpstr>
      <vt:lpstr>Differences Between Static and Instance Members</vt:lpstr>
      <vt:lpstr>When to Use Static Members?</vt:lpstr>
      <vt:lpstr>Static Blocks in Java</vt:lpstr>
      <vt:lpstr>Common Mistakes with Static Members</vt:lpstr>
      <vt:lpstr>Common Mistakes with Static Members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18</cp:revision>
  <dcterms:modified xsi:type="dcterms:W3CDTF">2026-01-05T06:17:36Z</dcterms:modified>
</cp:coreProperties>
</file>