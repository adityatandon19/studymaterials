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407" r:id="rId2"/>
    <p:sldId id="322" r:id="rId3"/>
    <p:sldId id="323" r:id="rId4"/>
    <p:sldId id="324" r:id="rId5"/>
    <p:sldId id="325" r:id="rId6"/>
    <p:sldId id="262" r:id="rId7"/>
    <p:sldId id="263" r:id="rId8"/>
    <p:sldId id="258" r:id="rId9"/>
    <p:sldId id="259" r:id="rId10"/>
    <p:sldId id="260" r:id="rId11"/>
    <p:sldId id="261" r:id="rId12"/>
    <p:sldId id="408" r:id="rId13"/>
    <p:sldId id="409" r:id="rId14"/>
    <p:sldId id="410" r:id="rId15"/>
    <p:sldId id="411" r:id="rId16"/>
    <p:sldId id="412" r:id="rId17"/>
    <p:sldId id="413" r:id="rId18"/>
    <p:sldId id="406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22"/>
            <p14:sldId id="323"/>
            <p14:sldId id="324"/>
            <p14:sldId id="325"/>
            <p14:sldId id="262"/>
            <p14:sldId id="263"/>
            <p14:sldId id="258"/>
            <p14:sldId id="259"/>
            <p14:sldId id="260"/>
            <p14:sldId id="261"/>
            <p14:sldId id="408"/>
            <p14:sldId id="409"/>
            <p14:sldId id="410"/>
            <p14:sldId id="411"/>
            <p14:sldId id="412"/>
            <p14:sldId id="413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E428DE-2852-AA41-84E0-C617CD479DB5}" v="5" dt="2025-07-22T15:43:02.012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/>
    <p:restoredTop sz="96301"/>
  </p:normalViewPr>
  <p:slideViewPr>
    <p:cSldViewPr snapToGrid="0">
      <p:cViewPr varScale="1">
        <p:scale>
          <a:sx n="157" d="100"/>
          <a:sy n="157" d="100"/>
        </p:scale>
        <p:origin x="84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552B-AD3D-3E49-A9E6-C07481EEC088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7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19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571750"/>
            <a:ext cx="8833104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/>
              <a:t>Annotations in JAVA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1F580-036F-0C1E-A031-A7367A2F2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23229"/>
          </a:xfrm>
        </p:spPr>
        <p:txBody>
          <a:bodyPr>
            <a:normAutofit/>
          </a:bodyPr>
          <a:lstStyle/>
          <a:p>
            <a:r>
              <a:rPr lang="en-IN" b="1" dirty="0"/>
              <a:t>What are Annotations in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8C793-8AB6-BF47-E73B-1AE750FEC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20"/>
            <a:ext cx="7886700" cy="1843674"/>
          </a:xfrm>
        </p:spPr>
        <p:txBody>
          <a:bodyPr/>
          <a:lstStyle/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Annotations are metadata</a:t>
            </a:r>
            <a:r>
              <a:rPr lang="en-IN" dirty="0"/>
              <a:t> (information) added to Java code.</a:t>
            </a:r>
          </a:p>
          <a:p>
            <a:pPr>
              <a:buNone/>
            </a:pPr>
            <a:r>
              <a:rPr lang="en-IN" dirty="0"/>
              <a:t>• They do </a:t>
            </a:r>
            <a:r>
              <a:rPr lang="en-IN" b="1" dirty="0"/>
              <a:t>not change the logic</a:t>
            </a:r>
            <a:r>
              <a:rPr lang="en-IN" dirty="0"/>
              <a:t> of the program but can:</a:t>
            </a:r>
          </a:p>
          <a:p>
            <a:pPr>
              <a:buNone/>
            </a:pPr>
            <a:r>
              <a:rPr lang="en-IN" dirty="0"/>
              <a:t>✅ Provide </a:t>
            </a:r>
            <a:r>
              <a:rPr lang="en-IN" b="1" dirty="0"/>
              <a:t>instructions to the compiler</a:t>
            </a:r>
            <a:endParaRPr lang="en-IN" dirty="0"/>
          </a:p>
          <a:p>
            <a:pPr>
              <a:buNone/>
            </a:pPr>
            <a:r>
              <a:rPr lang="en-IN" dirty="0"/>
              <a:t>✅ Support </a:t>
            </a:r>
            <a:r>
              <a:rPr lang="en-IN" b="1" dirty="0"/>
              <a:t>code analysis tools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✅ Influence </a:t>
            </a:r>
            <a:r>
              <a:rPr lang="en-IN" b="1" dirty="0"/>
              <a:t>runtime behavior</a:t>
            </a:r>
            <a:r>
              <a:rPr lang="en-IN" dirty="0"/>
              <a:t> (with frameworks)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17EA9D-0D74-D670-DE4A-360336AA4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261" y="3195195"/>
            <a:ext cx="4645478" cy="184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38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24805-8B3B-30CB-B9C4-0BEC55927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600" y="288274"/>
            <a:ext cx="7886700" cy="739413"/>
          </a:xfrm>
        </p:spPr>
        <p:txBody>
          <a:bodyPr>
            <a:normAutofit/>
          </a:bodyPr>
          <a:lstStyle/>
          <a:p>
            <a:r>
              <a:rPr lang="en-IN" b="1" dirty="0"/>
              <a:t>Overview of Common Built-in Annotations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22D414-569B-A07A-776B-5B2671B15A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6531714"/>
              </p:ext>
            </p:extLst>
          </p:nvPr>
        </p:nvGraphicFramePr>
        <p:xfrm>
          <a:off x="1328896" y="1555336"/>
          <a:ext cx="6486208" cy="1874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27885">
                  <a:extLst>
                    <a:ext uri="{9D8B030D-6E8A-4147-A177-3AD203B41FA5}">
                      <a16:colId xmlns:a16="http://schemas.microsoft.com/office/drawing/2014/main" val="1649486056"/>
                    </a:ext>
                  </a:extLst>
                </a:gridCol>
                <a:gridCol w="4358323">
                  <a:extLst>
                    <a:ext uri="{9D8B030D-6E8A-4147-A177-3AD203B41FA5}">
                      <a16:colId xmlns:a16="http://schemas.microsoft.com/office/drawing/2014/main" val="206992632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Annotation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Purpose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472434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@Override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Ensures method overrides a superclass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30900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@Deprecated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Marks method or class as outdated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653353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@SuppressWarnings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Tells the compiler to ignore specified warnings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798749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@FunctionalInterface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Marks an interface for lambda expressions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20969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@SafeVarargs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Suppresses warnings to varargs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57649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95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EC99-8376-8B3C-ED82-2608890AA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7045"/>
          </a:xfrm>
        </p:spPr>
        <p:txBody>
          <a:bodyPr>
            <a:normAutofit/>
          </a:bodyPr>
          <a:lstStyle/>
          <a:p>
            <a:r>
              <a:rPr lang="en-IN" b="1" dirty="0"/>
              <a:t>Using @Override Annotation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9F79E-3A73-6C79-B7C2-EC41FA954EE5}"/>
              </a:ext>
            </a:extLst>
          </p:cNvPr>
          <p:cNvSpPr txBox="1"/>
          <p:nvPr/>
        </p:nvSpPr>
        <p:spPr>
          <a:xfrm>
            <a:off x="311700" y="1238146"/>
            <a:ext cx="61922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• Ensures a method overrides a </a:t>
            </a:r>
            <a:r>
              <a:rPr lang="en-IN" sz="1600" b="1" dirty="0"/>
              <a:t>superclass or interface</a:t>
            </a:r>
            <a:r>
              <a:rPr lang="en-IN" sz="1600" dirty="0"/>
              <a:t> method.</a:t>
            </a:r>
          </a:p>
          <a:p>
            <a:r>
              <a:rPr lang="en-IN" sz="1600" dirty="0"/>
              <a:t>• Helps avoid errors due to incorrect method signatures.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73DA1-9728-9A4F-F177-F361B3B32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600" y="1702613"/>
            <a:ext cx="4121150" cy="33762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F84225-630D-38EE-16A2-F839D1D65469}"/>
              </a:ext>
            </a:extLst>
          </p:cNvPr>
          <p:cNvSpPr txBox="1"/>
          <p:nvPr/>
        </p:nvSpPr>
        <p:spPr>
          <a:xfrm>
            <a:off x="628651" y="2446315"/>
            <a:ext cx="4298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✅ Compiler will give an error if the method does not actually override.</a:t>
            </a:r>
          </a:p>
        </p:txBody>
      </p:sp>
    </p:spTree>
    <p:extLst>
      <p:ext uri="{BB962C8B-B14F-4D97-AF65-F5344CB8AC3E}">
        <p14:creationId xmlns:p14="http://schemas.microsoft.com/office/powerpoint/2010/main" val="25141381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F666-91E3-5392-C343-4E509D5F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39413"/>
          </a:xfrm>
        </p:spPr>
        <p:txBody>
          <a:bodyPr>
            <a:normAutofit/>
          </a:bodyPr>
          <a:lstStyle/>
          <a:p>
            <a:r>
              <a:rPr lang="en-IN" b="1" dirty="0"/>
              <a:t>Using @Deprecated Annotation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CBBBFC-1C30-1907-9CFB-2F6C688FF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1611" y="2054479"/>
            <a:ext cx="6539890" cy="2302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1F1C82-6503-F2CF-C91C-6A62E4F28667}"/>
              </a:ext>
            </a:extLst>
          </p:cNvPr>
          <p:cNvSpPr txBox="1"/>
          <p:nvPr/>
        </p:nvSpPr>
        <p:spPr>
          <a:xfrm>
            <a:off x="628649" y="1319223"/>
            <a:ext cx="47444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• Indicates a method or class should </a:t>
            </a:r>
            <a:r>
              <a:rPr lang="en-IN" b="1" dirty="0"/>
              <a:t>no longer be used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r>
              <a:rPr lang="en-IN" dirty="0"/>
              <a:t>• Useful for </a:t>
            </a:r>
            <a:r>
              <a:rPr lang="en-IN" b="1" dirty="0"/>
              <a:t>phasing out old APIs</a:t>
            </a:r>
            <a:r>
              <a:rPr lang="en-IN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B54635-2B20-9C4D-05D1-66FB72E684C2}"/>
              </a:ext>
            </a:extLst>
          </p:cNvPr>
          <p:cNvSpPr txBox="1"/>
          <p:nvPr/>
        </p:nvSpPr>
        <p:spPr>
          <a:xfrm>
            <a:off x="628649" y="4356613"/>
            <a:ext cx="6012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The compiler will show a warning if someone tries to use oldMethod().</a:t>
            </a:r>
          </a:p>
        </p:txBody>
      </p:sp>
    </p:spTree>
    <p:extLst>
      <p:ext uri="{BB962C8B-B14F-4D97-AF65-F5344CB8AC3E}">
        <p14:creationId xmlns:p14="http://schemas.microsoft.com/office/powerpoint/2010/main" val="1797052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89B9-3BA3-1244-0874-A800D5912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5137"/>
          </a:xfrm>
        </p:spPr>
        <p:txBody>
          <a:bodyPr>
            <a:normAutofit/>
          </a:bodyPr>
          <a:lstStyle/>
          <a:p>
            <a:r>
              <a:rPr lang="en-IN" b="1" dirty="0"/>
              <a:t>Using @SuppressWarnings Annotation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FE7459-1C18-5B5D-B93F-AAA55E636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453" y="1671005"/>
            <a:ext cx="7652111" cy="228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B1C10F-3BE6-FC29-D596-FFC62C81DE4A}"/>
              </a:ext>
            </a:extLst>
          </p:cNvPr>
          <p:cNvSpPr txBox="1"/>
          <p:nvPr/>
        </p:nvSpPr>
        <p:spPr>
          <a:xfrm>
            <a:off x="628650" y="1268016"/>
            <a:ext cx="57802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Suppresses specific compiler warnings (e.g., unchecked operations).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9A408-5A35-FD81-2343-720E2EB57232}"/>
              </a:ext>
            </a:extLst>
          </p:cNvPr>
          <p:cNvSpPr txBox="1"/>
          <p:nvPr/>
        </p:nvSpPr>
        <p:spPr>
          <a:xfrm>
            <a:off x="499177" y="4031270"/>
            <a:ext cx="57802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Use it carefully and only when you’re sure the warning is harmless.</a:t>
            </a:r>
          </a:p>
        </p:txBody>
      </p:sp>
    </p:spTree>
    <p:extLst>
      <p:ext uri="{BB962C8B-B14F-4D97-AF65-F5344CB8AC3E}">
        <p14:creationId xmlns:p14="http://schemas.microsoft.com/office/powerpoint/2010/main" val="652265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E1EC-44AD-650C-1294-D5E0C7B9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7045"/>
          </a:xfrm>
        </p:spPr>
        <p:txBody>
          <a:bodyPr>
            <a:normAutofit/>
          </a:bodyPr>
          <a:lstStyle/>
          <a:p>
            <a:r>
              <a:rPr lang="en-IN" b="1" dirty="0"/>
              <a:t>Other Useful Built-in Annotations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BC841E-735F-EB92-AB84-B7251E0CB9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1204" y="861465"/>
            <a:ext cx="3913497" cy="2362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106362-C3C6-26EF-2E53-C6148B2B1747}"/>
              </a:ext>
            </a:extLst>
          </p:cNvPr>
          <p:cNvSpPr txBox="1"/>
          <p:nvPr/>
        </p:nvSpPr>
        <p:spPr>
          <a:xfrm>
            <a:off x="203200" y="1297535"/>
            <a:ext cx="4055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@FunctionalInterface</a:t>
            </a:r>
            <a:r>
              <a:rPr lang="en-IN" dirty="0"/>
              <a:t> – Marks an interface for use with lambdas.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C40C6A-AD6D-9591-47B6-C42EAB446D0F}"/>
              </a:ext>
            </a:extLst>
          </p:cNvPr>
          <p:cNvSpPr txBox="1"/>
          <p:nvPr/>
        </p:nvSpPr>
        <p:spPr>
          <a:xfrm>
            <a:off x="203200" y="3223665"/>
            <a:ext cx="3259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@SafeVarargs</a:t>
            </a:r>
            <a:r>
              <a:rPr lang="en-IN" dirty="0"/>
              <a:t> – Used with varargs methods to avoid unchecked warnings.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2221E9-8328-745B-3CF8-7D5EEBB8F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466" y="3131992"/>
            <a:ext cx="5334000" cy="201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477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5A0A-2371-6BB3-75A8-0B68079C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Create Custom Annotations?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F0EEE-761D-352F-F7AA-22A66863C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Custom annotations allow you to:</a:t>
            </a:r>
          </a:p>
          <a:p>
            <a:pPr>
              <a:buNone/>
            </a:pPr>
            <a:r>
              <a:rPr lang="en-IN" sz="2400" dirty="0"/>
              <a:t>✅ </a:t>
            </a:r>
            <a:r>
              <a:rPr lang="en-IN" sz="2400" b="1" dirty="0"/>
              <a:t>Mark special behaviors</a:t>
            </a:r>
            <a:r>
              <a:rPr lang="en-IN" sz="2400" dirty="0"/>
              <a:t> in your code.</a:t>
            </a:r>
          </a:p>
          <a:p>
            <a:pPr>
              <a:buNone/>
            </a:pPr>
            <a:r>
              <a:rPr lang="en-IN" sz="2400" dirty="0"/>
              <a:t>✅ </a:t>
            </a:r>
            <a:r>
              <a:rPr lang="en-IN" sz="2400" b="1" dirty="0"/>
              <a:t>Pass metadata</a:t>
            </a:r>
            <a:r>
              <a:rPr lang="en-IN" sz="2400" dirty="0"/>
              <a:t> to tools, libraries, or frameworks.</a:t>
            </a:r>
          </a:p>
          <a:p>
            <a:pPr>
              <a:buNone/>
            </a:pPr>
            <a:r>
              <a:rPr lang="en-IN" sz="2400" dirty="0"/>
              <a:t>✅ Build your own </a:t>
            </a:r>
            <a:r>
              <a:rPr lang="en-IN" sz="2400" b="1" dirty="0"/>
              <a:t>validation or processing rules</a:t>
            </a:r>
            <a:r>
              <a:rPr lang="en-IN" sz="2400" dirty="0"/>
              <a:t>.</a:t>
            </a:r>
          </a:p>
          <a:p>
            <a:r>
              <a:rPr lang="en-IN" sz="2400" b="1" dirty="0"/>
              <a:t>Examples:</a:t>
            </a:r>
            <a:endParaRPr lang="en-IN" sz="2400" dirty="0"/>
          </a:p>
          <a:p>
            <a:pPr lvl="1"/>
            <a:r>
              <a:rPr lang="en-IN" sz="1800" dirty="0"/>
              <a:t>@NotNull, @TrackChange, @ToDo</a:t>
            </a:r>
          </a:p>
          <a:p>
            <a:pPr lvl="1"/>
            <a:r>
              <a:rPr lang="en-IN" sz="1800" dirty="0"/>
              <a:t>Used in </a:t>
            </a:r>
            <a:r>
              <a:rPr lang="en-IN" sz="1800" b="1" dirty="0"/>
              <a:t>frameworks like Spring, Hibernate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4315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A3CA-0C2C-0639-8674-4D5C7BBC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Syntax to Declare a Custom Annotation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54BC9B-DCE2-30C0-D304-D874395F2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154" y="1025905"/>
            <a:ext cx="4785692" cy="3148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EBAF18-19A4-3C5E-D0A5-2BF6E5A6384D}"/>
              </a:ext>
            </a:extLst>
          </p:cNvPr>
          <p:cNvSpPr txBox="1"/>
          <p:nvPr/>
        </p:nvSpPr>
        <p:spPr>
          <a:xfrm>
            <a:off x="913158" y="4174385"/>
            <a:ext cx="46137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✅ Use @interface to declare annotations.</a:t>
            </a:r>
          </a:p>
          <a:p>
            <a:r>
              <a:rPr lang="en-IN" dirty="0"/>
              <a:t>✅ value() is a required element (can be more).</a:t>
            </a:r>
          </a:p>
        </p:txBody>
      </p:sp>
    </p:spTree>
    <p:extLst>
      <p:ext uri="{BB962C8B-B14F-4D97-AF65-F5344CB8AC3E}">
        <p14:creationId xmlns:p14="http://schemas.microsoft.com/office/powerpoint/2010/main" val="815442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4864-BF2B-0A85-4267-E5A56799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Applying a Custom Annotation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320EAD-1FB0-47C8-9243-B43F4D789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256" y="1330816"/>
            <a:ext cx="6745489" cy="27025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76B9CC-B6FC-6812-E1CB-4FC2F090C7ED}"/>
              </a:ext>
            </a:extLst>
          </p:cNvPr>
          <p:cNvSpPr txBox="1"/>
          <p:nvPr/>
        </p:nvSpPr>
        <p:spPr>
          <a:xfrm>
            <a:off x="749162" y="4096134"/>
            <a:ext cx="55788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✅ Custom annotations look like regular annotations.</a:t>
            </a:r>
          </a:p>
          <a:p>
            <a:r>
              <a:rPr lang="en-IN" dirty="0"/>
              <a:t>✅ Use them on </a:t>
            </a:r>
            <a:r>
              <a:rPr lang="en-IN" b="1" dirty="0"/>
              <a:t>methods, classes, fields</a:t>
            </a:r>
            <a:r>
              <a:rPr lang="en-IN" dirty="0"/>
              <a:t>, etc., as per the @Target.</a:t>
            </a:r>
          </a:p>
        </p:txBody>
      </p:sp>
    </p:spTree>
    <p:extLst>
      <p:ext uri="{BB962C8B-B14F-4D97-AF65-F5344CB8AC3E}">
        <p14:creationId xmlns:p14="http://schemas.microsoft.com/office/powerpoint/2010/main" val="1401225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25C2-371F-B2DD-5FF4-34E5ACF4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Annotations and Meta-Annotations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E29100-8E30-F5BF-72B4-991C4F4D41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306173"/>
              </p:ext>
            </p:extLst>
          </p:nvPr>
        </p:nvGraphicFramePr>
        <p:xfrm>
          <a:off x="628650" y="1565783"/>
          <a:ext cx="7616508" cy="14097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72235">
                  <a:extLst>
                    <a:ext uri="{9D8B030D-6E8A-4147-A177-3AD203B41FA5}">
                      <a16:colId xmlns:a16="http://schemas.microsoft.com/office/drawing/2014/main" val="1527301905"/>
                    </a:ext>
                  </a:extLst>
                </a:gridCol>
                <a:gridCol w="6244273">
                  <a:extLst>
                    <a:ext uri="{9D8B030D-6E8A-4147-A177-3AD203B41FA5}">
                      <a16:colId xmlns:a16="http://schemas.microsoft.com/office/drawing/2014/main" val="18218823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Annotation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Purpose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1297067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@Retention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Specifies whether annotation is available at SOURCE, CLASS, or RUNTIME.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0012478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@Target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Defines where annotation can be applied.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5242156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@Documented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Includes annotation in generated JavaDocs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9182481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@Inherited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Allows subclasses to inherit annotations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421333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87BC13F-82D9-57E3-E6CC-39A7A2D56829}"/>
              </a:ext>
            </a:extLst>
          </p:cNvPr>
          <p:cNvSpPr txBox="1"/>
          <p:nvPr/>
        </p:nvSpPr>
        <p:spPr>
          <a:xfrm>
            <a:off x="628649" y="3254201"/>
            <a:ext cx="5594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✅ Most common retention policy: RUNTIME</a:t>
            </a:r>
          </a:p>
          <a:p>
            <a:r>
              <a:rPr lang="en-IN" dirty="0"/>
              <a:t>✅ Common targets: </a:t>
            </a:r>
            <a:r>
              <a:rPr lang="en-IN" dirty="0" err="1"/>
              <a:t>ElementType.METHOD</a:t>
            </a:r>
            <a:r>
              <a:rPr lang="en-IN" dirty="0"/>
              <a:t>, </a:t>
            </a:r>
            <a:r>
              <a:rPr lang="en-IN" dirty="0" err="1"/>
              <a:t>ElementType.TYPE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316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B7D5-A093-0E3D-AF55-D744873B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Reading Custom Annotations via Reflection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E069B3-966E-0A18-81F9-1A80F1422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786" y="1428589"/>
            <a:ext cx="5878429" cy="28770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89EC3C-0DF8-3652-6F6E-3567BEBF9CE6}"/>
              </a:ext>
            </a:extLst>
          </p:cNvPr>
          <p:cNvSpPr txBox="1"/>
          <p:nvPr/>
        </p:nvSpPr>
        <p:spPr>
          <a:xfrm>
            <a:off x="628650" y="1151589"/>
            <a:ext cx="4991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Use reflection to </a:t>
            </a:r>
            <a:r>
              <a:rPr lang="en-IN" b="1" dirty="0"/>
              <a:t>process custom annotations at runtime</a:t>
            </a:r>
            <a:r>
              <a:rPr lang="en-IN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D127F6-35EF-88B3-F957-4EB728ABDDD6}"/>
              </a:ext>
            </a:extLst>
          </p:cNvPr>
          <p:cNvSpPr txBox="1"/>
          <p:nvPr/>
        </p:nvSpPr>
        <p:spPr>
          <a:xfrm>
            <a:off x="628650" y="4466216"/>
            <a:ext cx="4833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Enables annotation-based </a:t>
            </a:r>
            <a:r>
              <a:rPr lang="en-IN" b="1" dirty="0"/>
              <a:t>runtime logic or validation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3642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A5C7-325D-D9A1-991D-8FF051AC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Multi-Value Custom Annotations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25D83-BB26-2CD0-4264-58E45AF3B61A}"/>
              </a:ext>
            </a:extLst>
          </p:cNvPr>
          <p:cNvSpPr txBox="1"/>
          <p:nvPr/>
        </p:nvSpPr>
        <p:spPr>
          <a:xfrm>
            <a:off x="628650" y="1268016"/>
            <a:ext cx="45695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Annotations can have multiple named elements: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7E34E-03BD-5CBE-2CCD-D9C8B6A98770}"/>
              </a:ext>
            </a:extLst>
          </p:cNvPr>
          <p:cNvSpPr txBox="1"/>
          <p:nvPr/>
        </p:nvSpPr>
        <p:spPr>
          <a:xfrm>
            <a:off x="628650" y="4441802"/>
            <a:ext cx="4890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Provides structured metadata for tools and frameworks.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87F4EF-2787-0B88-BC87-B3401E7FA8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7242" y="1575793"/>
            <a:ext cx="4569515" cy="293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81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0F4F-32D1-6EB0-EFEB-87F1434C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- Annotations in Spring Framework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4ED67C-CCC4-DDD1-E832-029805159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96" y="1928109"/>
            <a:ext cx="4097962" cy="29271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54DE18-780E-0EEC-7D08-D7DE151E0EB8}"/>
              </a:ext>
            </a:extLst>
          </p:cNvPr>
          <p:cNvSpPr txBox="1"/>
          <p:nvPr/>
        </p:nvSpPr>
        <p:spPr>
          <a:xfrm>
            <a:off x="628651" y="1451471"/>
            <a:ext cx="7196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Spring heavily relies on annotations for dependency injection and configuration.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69F6EB-7413-90BD-99BB-01FF3795243D}"/>
              </a:ext>
            </a:extLst>
          </p:cNvPr>
          <p:cNvSpPr txBox="1"/>
          <p:nvPr/>
        </p:nvSpPr>
        <p:spPr>
          <a:xfrm>
            <a:off x="4273458" y="2361138"/>
            <a:ext cx="48705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Explanation:</a:t>
            </a:r>
            <a:endParaRPr lang="en-IN" dirty="0"/>
          </a:p>
          <a:p>
            <a:pPr>
              <a:buNone/>
            </a:pPr>
            <a:r>
              <a:rPr lang="en-IN" dirty="0"/>
              <a:t>• @Component: Marks a class as a Spring-managed bean.</a:t>
            </a:r>
          </a:p>
          <a:p>
            <a:pPr>
              <a:buNone/>
            </a:pPr>
            <a:r>
              <a:rPr lang="en-IN" dirty="0"/>
              <a:t>• @Autowired: Automatically injects dependencies.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No need to write XML configuration!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1490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C5BA-D1A0-26A8-0C55-5AABBF41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- Annotations in JPA/Hibernate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4C015E-DC3A-AC74-E5C8-C53ECCDE3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56" y="1214464"/>
            <a:ext cx="3896080" cy="3655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E84345-52F1-8D4F-8468-65E39871CD0A}"/>
              </a:ext>
            </a:extLst>
          </p:cNvPr>
          <p:cNvSpPr txBox="1"/>
          <p:nvPr/>
        </p:nvSpPr>
        <p:spPr>
          <a:xfrm>
            <a:off x="3945835" y="3134029"/>
            <a:ext cx="45695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✅ JPA (JAVA Persistence API) annotations map Java classes to database tables.</a:t>
            </a:r>
          </a:p>
          <a:p>
            <a:r>
              <a:rPr lang="en-IN" sz="1200" dirty="0"/>
              <a:t>✅ Easy to configure </a:t>
            </a:r>
            <a:r>
              <a:rPr lang="en-IN" sz="1200" b="1" dirty="0"/>
              <a:t>ORM behavior using annotations</a:t>
            </a:r>
            <a:r>
              <a:rPr lang="en-IN" sz="12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AD940-B2AD-1417-AC84-4C29EEA0CC9C}"/>
              </a:ext>
            </a:extLst>
          </p:cNvPr>
          <p:cNvSpPr txBox="1"/>
          <p:nvPr/>
        </p:nvSpPr>
        <p:spPr>
          <a:xfrm>
            <a:off x="3945835" y="1606153"/>
            <a:ext cx="4569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• </a:t>
            </a:r>
            <a:r>
              <a:rPr lang="en-IN" sz="1200" b="1" dirty="0"/>
              <a:t>Used for object-relational mapping (ORM).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314727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DC9FF-EBB9-0A37-B87F-FE6F66C3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- Annotations in JUnit Testing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651B08-A317-562D-CD25-0BFBAFF42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1" y="1406515"/>
            <a:ext cx="4331192" cy="3263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6A3A5A-C706-0C48-DEBD-00407A2AA172}"/>
              </a:ext>
            </a:extLst>
          </p:cNvPr>
          <p:cNvSpPr txBox="1"/>
          <p:nvPr/>
        </p:nvSpPr>
        <p:spPr>
          <a:xfrm>
            <a:off x="628650" y="1129517"/>
            <a:ext cx="49386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JUnit uses annotations to define tests and setup logic.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5448C4-E77A-E5D3-A102-E51A1D22FF6F}"/>
              </a:ext>
            </a:extLst>
          </p:cNvPr>
          <p:cNvSpPr txBox="1"/>
          <p:nvPr/>
        </p:nvSpPr>
        <p:spPr>
          <a:xfrm>
            <a:off x="4959843" y="2329375"/>
            <a:ext cx="4082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✅ @Test marks a method as a test case.</a:t>
            </a:r>
          </a:p>
          <a:p>
            <a:r>
              <a:rPr lang="en-IN" sz="1200" dirty="0"/>
              <a:t>✅ @BeforeEach runs code before every test method.</a:t>
            </a:r>
          </a:p>
        </p:txBody>
      </p:sp>
    </p:spTree>
    <p:extLst>
      <p:ext uri="{BB962C8B-B14F-4D97-AF65-F5344CB8AC3E}">
        <p14:creationId xmlns:p14="http://schemas.microsoft.com/office/powerpoint/2010/main" val="4074109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7422-58DF-B439-3D4D-AC986017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- Bean Validation API (Jakarta)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431B6B-3998-1B2F-9EEC-E8172EE8D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57117"/>
            <a:ext cx="3743751" cy="3263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5E0142-A192-CF21-81E9-377B4BF5BE61}"/>
              </a:ext>
            </a:extLst>
          </p:cNvPr>
          <p:cNvSpPr txBox="1"/>
          <p:nvPr/>
        </p:nvSpPr>
        <p:spPr>
          <a:xfrm>
            <a:off x="4372401" y="1776466"/>
            <a:ext cx="41429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Used to </a:t>
            </a:r>
            <a:r>
              <a:rPr lang="en-IN" b="1" dirty="0"/>
              <a:t>validate input</a:t>
            </a:r>
            <a:r>
              <a:rPr lang="en-IN" dirty="0"/>
              <a:t> using annotations.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79D4E-4D78-1929-648A-1ECC85913C32}"/>
              </a:ext>
            </a:extLst>
          </p:cNvPr>
          <p:cNvSpPr txBox="1"/>
          <p:nvPr/>
        </p:nvSpPr>
        <p:spPr>
          <a:xfrm>
            <a:off x="4372401" y="3513258"/>
            <a:ext cx="45695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✅ Helps enforce rules like </a:t>
            </a:r>
            <a:r>
              <a:rPr lang="en-IN" b="1" dirty="0"/>
              <a:t>minimum age, non-null names</a:t>
            </a:r>
            <a:r>
              <a:rPr lang="en-IN" dirty="0"/>
              <a:t>, etc.</a:t>
            </a:r>
          </a:p>
          <a:p>
            <a:r>
              <a:rPr lang="en-IN" dirty="0"/>
              <a:t>✅ Automatically handled by validation engines like Hibernate Validator.</a:t>
            </a:r>
          </a:p>
        </p:txBody>
      </p:sp>
    </p:spTree>
    <p:extLst>
      <p:ext uri="{BB962C8B-B14F-4D97-AF65-F5344CB8AC3E}">
        <p14:creationId xmlns:p14="http://schemas.microsoft.com/office/powerpoint/2010/main" val="4153360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1991</TotalTime>
  <Words>621</Words>
  <Application>Microsoft Macintosh PowerPoint</Application>
  <PresentationFormat>On-screen Show (16:9)</PresentationFormat>
  <Paragraphs>90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Simple Light</vt:lpstr>
      <vt:lpstr>PowerPoint Presentation</vt:lpstr>
      <vt:lpstr>What are Annotations in Java?</vt:lpstr>
      <vt:lpstr>Overview of Common Built-in Annotations</vt:lpstr>
      <vt:lpstr>Using @Override Annotation</vt:lpstr>
      <vt:lpstr>Using @Deprecated Annotation</vt:lpstr>
      <vt:lpstr>Using @SuppressWarnings Annotation</vt:lpstr>
      <vt:lpstr>Other Useful Built-in Annotations</vt:lpstr>
      <vt:lpstr>Why Create Custom Annotations?</vt:lpstr>
      <vt:lpstr>Syntax to Declare a Custom Annotation</vt:lpstr>
      <vt:lpstr>Applying a Custom Annotation</vt:lpstr>
      <vt:lpstr>Annotations and Meta-Annotations</vt:lpstr>
      <vt:lpstr>Reading Custom Annotations via Reflection</vt:lpstr>
      <vt:lpstr>Multi-Value Custom Annotations</vt:lpstr>
      <vt:lpstr>Example - Annotations in Spring Framework</vt:lpstr>
      <vt:lpstr>Example - Annotations in JPA/Hibernate</vt:lpstr>
      <vt:lpstr>Example - Annotations in JUnit Testing</vt:lpstr>
      <vt:lpstr>Example - Bean Validation API (Jakarta)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28</cp:revision>
  <dcterms:modified xsi:type="dcterms:W3CDTF">2025-07-22T15:43:50Z</dcterms:modified>
</cp:coreProperties>
</file>