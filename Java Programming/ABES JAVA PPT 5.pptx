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353" r:id="rId3"/>
    <p:sldId id="358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59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258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53"/>
          </p14:sldIdLst>
        </p14:section>
        <p14:section name="Nested Class" id="{32C23655-FF84-7948-8042-84BCE883B685}">
          <p14:sldIdLst>
            <p14:sldId id="358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  <p14:section name="Command Line Arguments" id="{92380C68-5445-A841-9E2B-11D7575CFDC2}">
          <p14:sldIdLst>
            <p14:sldId id="359"/>
            <p14:sldId id="344"/>
            <p14:sldId id="345"/>
            <p14:sldId id="346"/>
            <p14:sldId id="347"/>
            <p14:sldId id="348"/>
            <p14:sldId id="349"/>
            <p14:sldId id="350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54CAB8-AF54-9F4B-892A-1F942F86A73B}" v="5" dt="2025-05-20T05:24:05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8554CAB8-AF54-9F4B-892A-1F942F86A73B}"/>
    <pc:docChg chg="custSel modSld">
      <pc:chgData name="Aditya Hare Krishna" userId="de62b921b3c41f8c" providerId="LiveId" clId="{8554CAB8-AF54-9F4B-892A-1F942F86A73B}" dt="2025-05-23T15:18:37.102" v="0" actId="478"/>
      <pc:docMkLst>
        <pc:docMk/>
      </pc:docMkLst>
      <pc:sldChg chg="delSp mod">
        <pc:chgData name="Aditya Hare Krishna" userId="de62b921b3c41f8c" providerId="LiveId" clId="{8554CAB8-AF54-9F4B-892A-1F942F86A73B}" dt="2025-05-23T15:18:37.102" v="0" actId="478"/>
        <pc:sldMkLst>
          <pc:docMk/>
          <pc:sldMk cId="2955522308" sldId="339"/>
        </pc:sldMkLst>
        <pc:inkChg chg="del">
          <ac:chgData name="Aditya Hare Krishna" userId="de62b921b3c41f8c" providerId="LiveId" clId="{8554CAB8-AF54-9F4B-892A-1F942F86A73B}" dt="2025-05-23T15:18:37.102" v="0" actId="478"/>
          <ac:inkMkLst>
            <pc:docMk/>
            <pc:sldMk cId="2955522308" sldId="339"/>
            <ac:inkMk id="6" creationId="{34625783-7E3E-E16E-499A-AAFEC2F1E034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FA74-DFAA-39AE-3FC8-7FB7B13E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FA4D-21FF-3478-105E-FD297364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2C10F-D47A-1998-FC99-4460BA23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663-262E-9143-81F7-034DECEA58A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EE9B-CF5A-0891-5AF1-2FB85B58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8ECF0-C5C5-0294-03AA-38250736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4F6E-3F2D-614E-AF98-619E386A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3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774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70D8BCFD-8AA5-8036-BAC9-C18082FCDA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05920" y="1329179"/>
            <a:ext cx="6532160" cy="1385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8FF23A-CE40-0F4E-C317-EBBFA883E214}"/>
              </a:ext>
            </a:extLst>
          </p:cNvPr>
          <p:cNvSpPr txBox="1">
            <a:spLocks/>
          </p:cNvSpPr>
          <p:nvPr/>
        </p:nvSpPr>
        <p:spPr>
          <a:xfrm>
            <a:off x="311700" y="2799761"/>
            <a:ext cx="8520600" cy="154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Nested Class and Command Line Arguments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6" name="Section Zoom 15">
                <a:extLst>
                  <a:ext uri="{FF2B5EF4-FFF2-40B4-BE49-F238E27FC236}">
                    <a16:creationId xmlns:a16="http://schemas.microsoft.com/office/drawing/2014/main" id="{C162850B-BA7A-8E36-989D-E1AA493283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7386682"/>
                  </p:ext>
                </p:extLst>
              </p:nvPr>
            </p:nvGraphicFramePr>
            <p:xfrm>
              <a:off x="123987" y="1206688"/>
              <a:ext cx="4114799" cy="2314575"/>
            </p:xfrm>
            <a:graphic>
              <a:graphicData uri="http://schemas.microsoft.com/office/powerpoint/2016/sectionzoom">
                <psez:sectionZm>
                  <psez:sectionZmObj sectionId="{32C23655-FF84-7948-8042-84BCE883B685}">
                    <psez:zmPr id="{700119E5-8276-B34D-9E3D-F9291E8D21A9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114799" cy="2314575"/>
                        </a:xfrm>
                        <a:prstGeom prst="snip2Diag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88900" cap="sq">
                          <a:solidFill>
                            <a:srgbClr val="FFFFFF"/>
                          </a:solidFill>
                          <a:miter lim="800000"/>
                        </a:ln>
                        <a:effectLst>
                          <a:outerShdw blurRad="88900" algn="tl" rotWithShape="0">
                            <a:srgbClr val="000000">
                              <a:alpha val="45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6" name="Section Zoom 1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162850B-BA7A-8E36-989D-E1AA493283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987" y="1206688"/>
                <a:ext cx="4114799" cy="2314575"/>
              </a:xfrm>
              <a:prstGeom prst="snip2Diag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88900" algn="tl" rotWithShape="0">
                  <a:srgbClr val="000000">
                    <a:alpha val="45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8" name="Section Zoom 17">
                <a:extLst>
                  <a:ext uri="{FF2B5EF4-FFF2-40B4-BE49-F238E27FC236}">
                    <a16:creationId xmlns:a16="http://schemas.microsoft.com/office/drawing/2014/main" id="{E7080F80-7052-6517-63B1-7F848BEE51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0620674"/>
                  </p:ext>
                </p:extLst>
              </p:nvPr>
            </p:nvGraphicFramePr>
            <p:xfrm>
              <a:off x="4819972" y="1206688"/>
              <a:ext cx="4114799" cy="2314575"/>
            </p:xfrm>
            <a:graphic>
              <a:graphicData uri="http://schemas.microsoft.com/office/powerpoint/2016/sectionzoom">
                <psez:sectionZm>
                  <psez:sectionZmObj sectionId="{92380C68-5445-A841-9E2B-11D7575CFDC2}">
                    <psez:zmPr id="{050AABA2-A16C-8B4A-A289-58BD49A4A541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114799" cy="2314575"/>
                        </a:xfrm>
                        <a:prstGeom prst="snip2Diag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88900" cap="sq">
                          <a:solidFill>
                            <a:srgbClr val="FFFFFF"/>
                          </a:solidFill>
                          <a:miter lim="800000"/>
                        </a:ln>
                        <a:effectLst>
                          <a:outerShdw blurRad="88900" algn="tl" rotWithShape="0">
                            <a:srgbClr val="000000">
                              <a:alpha val="45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8" name="Section Zoom 1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7080F80-7052-6517-63B1-7F848BEE51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19972" y="1206688"/>
                <a:ext cx="4114799" cy="2314575"/>
              </a:xfrm>
              <a:prstGeom prst="snip2Diag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88900" algn="tl" rotWithShape="0">
                  <a:srgbClr val="000000">
                    <a:alpha val="45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18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94BF-BE24-E663-8254-2D7713EC4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000C-8CAD-475F-61A1-147C1F98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Class in JAVA</a:t>
            </a:r>
          </a:p>
        </p:txBody>
      </p:sp>
    </p:spTree>
    <p:extLst>
      <p:ext uri="{BB962C8B-B14F-4D97-AF65-F5344CB8AC3E}">
        <p14:creationId xmlns:p14="http://schemas.microsoft.com/office/powerpoint/2010/main" val="266070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CA23-8BFC-6D17-859E-7EE4A7A6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Nested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2E1BB-CFD6-94B4-A773-317E98EE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A nested class is a class </a:t>
            </a:r>
            <a:r>
              <a:rPr lang="en-IN" b="1" dirty="0"/>
              <a:t>declared inside another class</a:t>
            </a:r>
            <a:r>
              <a:rPr lang="en-IN" dirty="0"/>
              <a:t>.</a:t>
            </a:r>
          </a:p>
          <a:p>
            <a:r>
              <a:rPr lang="en-IN" dirty="0"/>
              <a:t>• Used to group related functionality together.</a:t>
            </a:r>
          </a:p>
          <a:p>
            <a:r>
              <a:rPr lang="en-IN" dirty="0"/>
              <a:t>• Helps </a:t>
            </a:r>
            <a:r>
              <a:rPr lang="en-IN" b="1" dirty="0"/>
              <a:t>improve encapsulation</a:t>
            </a:r>
            <a:r>
              <a:rPr lang="en-IN" dirty="0"/>
              <a:t> and </a:t>
            </a:r>
            <a:r>
              <a:rPr lang="en-IN" b="1" dirty="0"/>
              <a:t>organize code better</a:t>
            </a:r>
            <a:r>
              <a:rPr lang="en-IN" dirty="0"/>
              <a:t>.</a:t>
            </a:r>
          </a:p>
          <a:p>
            <a:r>
              <a:rPr lang="en-IN" b="1" dirty="0"/>
              <a:t>Types of Nested Classes:</a:t>
            </a:r>
            <a:endParaRPr lang="en-IN" dirty="0"/>
          </a:p>
          <a:p>
            <a:pPr lvl="1"/>
            <a:r>
              <a:rPr lang="en-IN" b="1" dirty="0"/>
              <a:t>Static Nested Classes</a:t>
            </a:r>
            <a:endParaRPr lang="en-IN" dirty="0"/>
          </a:p>
          <a:p>
            <a:pPr lvl="1"/>
            <a:r>
              <a:rPr lang="en-IN" b="1" dirty="0"/>
              <a:t>Non-Static Inner Classes</a:t>
            </a:r>
            <a:endParaRPr lang="en-IN" dirty="0"/>
          </a:p>
          <a:p>
            <a:pPr lvl="1"/>
            <a:r>
              <a:rPr lang="en-IN" b="1" dirty="0"/>
              <a:t>Local Inner Classes</a:t>
            </a:r>
            <a:endParaRPr lang="en-IN" dirty="0"/>
          </a:p>
          <a:p>
            <a:pPr lvl="1"/>
            <a:r>
              <a:rPr lang="en-IN" b="1" dirty="0"/>
              <a:t>Anonymous Inner Classes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22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E737-3790-B2E2-EB40-C869C4DD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Nested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F8D95-3C74-2E4D-9ABE-52F438885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1650"/>
            <a:ext cx="7886700" cy="859631"/>
          </a:xfrm>
        </p:spPr>
        <p:txBody>
          <a:bodyPr/>
          <a:lstStyle/>
          <a:p>
            <a:r>
              <a:rPr lang="en-IN" b="1" dirty="0"/>
              <a:t>A nested class declared with static keyword.</a:t>
            </a:r>
            <a:endParaRPr lang="en-IN" dirty="0"/>
          </a:p>
          <a:p>
            <a:r>
              <a:rPr lang="en-IN" b="1" dirty="0"/>
              <a:t>It can access only static members of the outer class.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3D078-2D9D-834E-5C2E-B56B478B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54542"/>
            <a:ext cx="6386513" cy="3188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911007-2DD9-69F5-D49F-E99A340AC437}"/>
              </a:ext>
            </a:extLst>
          </p:cNvPr>
          <p:cNvSpPr txBox="1"/>
          <p:nvPr/>
        </p:nvSpPr>
        <p:spPr>
          <a:xfrm>
            <a:off x="7097270" y="3261142"/>
            <a:ext cx="121058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Hello from Outer </a:t>
            </a:r>
          </a:p>
        </p:txBody>
      </p:sp>
    </p:spTree>
    <p:extLst>
      <p:ext uri="{BB962C8B-B14F-4D97-AF65-F5344CB8AC3E}">
        <p14:creationId xmlns:p14="http://schemas.microsoft.com/office/powerpoint/2010/main" val="397953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08DF-D4DD-4B61-7683-090651B7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Non-Static Inner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374A6-76FA-BB62-B998-F3F5E49E8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2625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An inner class that needs an instance of the outer class to be created.</a:t>
            </a:r>
            <a:endParaRPr lang="en-IN" dirty="0"/>
          </a:p>
          <a:p>
            <a:r>
              <a:rPr lang="en-IN" b="1" dirty="0"/>
              <a:t>Can access both static and non-static members of the outer class.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4A2FD-D6D9-91A9-1C95-FFBE51DD7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1" y="1979142"/>
            <a:ext cx="6272213" cy="3164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2A9D2C-13EC-B176-3329-9C0EC5D92643}"/>
              </a:ext>
            </a:extLst>
          </p:cNvPr>
          <p:cNvSpPr txBox="1"/>
          <p:nvPr/>
        </p:nvSpPr>
        <p:spPr>
          <a:xfrm>
            <a:off x="7097270" y="3261142"/>
            <a:ext cx="121058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Hello from Outer </a:t>
            </a:r>
          </a:p>
        </p:txBody>
      </p:sp>
    </p:spTree>
    <p:extLst>
      <p:ext uri="{BB962C8B-B14F-4D97-AF65-F5344CB8AC3E}">
        <p14:creationId xmlns:p14="http://schemas.microsoft.com/office/powerpoint/2010/main" val="1919404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9DED-2C17-E67B-6DEB-E96FCFB9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Local Inner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BE1A-945B-2E24-2E31-C32BF1C8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28913" cy="1788319"/>
          </a:xfrm>
        </p:spPr>
        <p:txBody>
          <a:bodyPr/>
          <a:lstStyle/>
          <a:p>
            <a:r>
              <a:rPr lang="en-IN" b="1" dirty="0"/>
              <a:t>A class declared inside a method.</a:t>
            </a:r>
            <a:endParaRPr lang="en-IN" dirty="0"/>
          </a:p>
          <a:p>
            <a:r>
              <a:rPr lang="en-IN" b="1" dirty="0"/>
              <a:t>Cannot be accessed outside the method.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842737-371E-0C60-1B42-138BB3E19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1017725"/>
            <a:ext cx="6015038" cy="40007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D562AE-65F6-63D7-66B8-8F8162C7BD47}"/>
              </a:ext>
            </a:extLst>
          </p:cNvPr>
          <p:cNvSpPr txBox="1"/>
          <p:nvPr/>
        </p:nvSpPr>
        <p:spPr>
          <a:xfrm>
            <a:off x="628651" y="3486150"/>
            <a:ext cx="16626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Inside Local Inner Class </a:t>
            </a:r>
          </a:p>
        </p:txBody>
      </p:sp>
    </p:spTree>
    <p:extLst>
      <p:ext uri="{BB962C8B-B14F-4D97-AF65-F5344CB8AC3E}">
        <p14:creationId xmlns:p14="http://schemas.microsoft.com/office/powerpoint/2010/main" val="2955522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8226-BAF2-1022-D27D-8ECE0C9B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Anonymous Inner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F3EDF-2DE0-8686-98DF-878F43E2F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1675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A class without a name, used for one-time implementation.</a:t>
            </a:r>
            <a:endParaRPr lang="en-US" b="1" dirty="0"/>
          </a:p>
          <a:p>
            <a:r>
              <a:rPr lang="en-IN" b="1" dirty="0"/>
              <a:t>Useful for event handling and functional programming.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22B63-281F-ADA1-0FD2-D3E2CCF50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63171"/>
            <a:ext cx="7185719" cy="27374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77D5EE-67BF-EDEF-4611-67D3D4001C67}"/>
              </a:ext>
            </a:extLst>
          </p:cNvPr>
          <p:cNvSpPr txBox="1"/>
          <p:nvPr/>
        </p:nvSpPr>
        <p:spPr>
          <a:xfrm>
            <a:off x="7224167" y="3179574"/>
            <a:ext cx="1608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Hello, Aditya! </a:t>
            </a:r>
          </a:p>
        </p:txBody>
      </p:sp>
    </p:spTree>
    <p:extLst>
      <p:ext uri="{BB962C8B-B14F-4D97-AF65-F5344CB8AC3E}">
        <p14:creationId xmlns:p14="http://schemas.microsoft.com/office/powerpoint/2010/main" val="89675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023A-7D85-63FB-2C80-16A5B8A4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Differences Between Nested Classes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4D97D8-1A6C-68C4-1D23-770C72CF26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69996521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91461825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15676486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8649904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98953979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Static Nested Class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Inner Class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Local Inner Class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Anonymous Inner Class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0807659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Requires Outer Class Instance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67279449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Can Access Static Members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822479869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Can Access Non-Static Members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455284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Use Case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Grouping static logic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Encapsulating behavior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Temporary class inside a method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Single-use class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3664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771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7149-4B1A-80D0-3261-6773485D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When Using Nested Classes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6BF64-193A-AFE3-2B25-4BEFDCBF349A}"/>
              </a:ext>
            </a:extLst>
          </p:cNvPr>
          <p:cNvSpPr txBox="1"/>
          <p:nvPr/>
        </p:nvSpPr>
        <p:spPr>
          <a:xfrm>
            <a:off x="500063" y="1268016"/>
            <a:ext cx="5486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Access Non-Static Members in a Static Nested Class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8313C2-9DFC-4487-EB97-20C458E25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545015"/>
            <a:ext cx="6969287" cy="19268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A87554-1DA9-F24B-73CD-00DF67407B29}"/>
              </a:ext>
            </a:extLst>
          </p:cNvPr>
          <p:cNvSpPr txBox="1"/>
          <p:nvPr/>
        </p:nvSpPr>
        <p:spPr>
          <a:xfrm>
            <a:off x="500063" y="3471863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86B9D8-660A-8664-870D-21E7B90F6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3748862"/>
            <a:ext cx="4171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53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80FC-CC84-10A5-EA93-530237DA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586A-23A6-A780-CDC2-4597D91F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When Using Nested Classes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C1092-3CE9-BE91-4409-286EEB0814EA}"/>
              </a:ext>
            </a:extLst>
          </p:cNvPr>
          <p:cNvSpPr txBox="1"/>
          <p:nvPr/>
        </p:nvSpPr>
        <p:spPr>
          <a:xfrm>
            <a:off x="628650" y="317149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54A05-EFDE-7715-56E1-5DB9AFF8535E}"/>
              </a:ext>
            </a:extLst>
          </p:cNvPr>
          <p:cNvSpPr txBox="1"/>
          <p:nvPr/>
        </p:nvSpPr>
        <p:spPr>
          <a:xfrm>
            <a:off x="628650" y="1589843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Instantiate Inner Classes Correctly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A4BBB7-811D-D13B-D892-170F47C70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813738"/>
            <a:ext cx="6239465" cy="1272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8A9B0E-92F6-B5DF-CD9B-4D4BF866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448495"/>
            <a:ext cx="5845097" cy="14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56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2E2C2-33D8-7EA6-4349-7FA7A30BD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9A1D-FFD0-CC45-2F9E-7B5FF894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</a:p>
        </p:txBody>
      </p:sp>
    </p:spTree>
    <p:extLst>
      <p:ext uri="{BB962C8B-B14F-4D97-AF65-F5344CB8AC3E}">
        <p14:creationId xmlns:p14="http://schemas.microsoft.com/office/powerpoint/2010/main" val="963072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3D87-A6B0-4E49-7A66-6D7F10A1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Command Line Arguments?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0332-621E-6C6E-AFA9-44725D6B8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 passed to a java program during execution via the terminal or command prompt.</a:t>
            </a:r>
          </a:p>
          <a:p>
            <a:r>
              <a:rPr lang="en-US" dirty="0"/>
              <a:t>They allow users to provide input without modifying the program.</a:t>
            </a:r>
          </a:p>
          <a:p>
            <a:r>
              <a:rPr lang="en-US" dirty="0"/>
              <a:t>The use cases of command line arguments:</a:t>
            </a:r>
          </a:p>
          <a:p>
            <a:pPr lvl="1"/>
            <a:r>
              <a:rPr lang="en-US" dirty="0"/>
              <a:t>Providing configuration settings</a:t>
            </a:r>
          </a:p>
          <a:p>
            <a:pPr lvl="1"/>
            <a:r>
              <a:rPr lang="en-US" dirty="0"/>
              <a:t>Passing file names or data for processing</a:t>
            </a:r>
          </a:p>
          <a:p>
            <a:pPr lvl="1"/>
            <a:r>
              <a:rPr lang="en-US" dirty="0"/>
              <a:t>Automating execution with different inputs</a:t>
            </a:r>
          </a:p>
        </p:txBody>
      </p:sp>
    </p:spTree>
    <p:extLst>
      <p:ext uri="{BB962C8B-B14F-4D97-AF65-F5344CB8AC3E}">
        <p14:creationId xmlns:p14="http://schemas.microsoft.com/office/powerpoint/2010/main" val="301939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F2FB-D50A-3A74-E0AE-816424AE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Command Line Arguments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AD033-3356-B9F9-06A2-D6E70A0C0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332" y="1369219"/>
            <a:ext cx="8145018" cy="2539841"/>
          </a:xfrm>
        </p:spPr>
        <p:txBody>
          <a:bodyPr/>
          <a:lstStyle/>
          <a:p>
            <a:r>
              <a:rPr lang="en-US" dirty="0"/>
              <a:t>Command line arguments are stored in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String[] args</a:t>
            </a:r>
            <a:r>
              <a:rPr lang="en-US" dirty="0"/>
              <a:t> array.</a:t>
            </a:r>
          </a:p>
          <a:p>
            <a:r>
              <a:rPr lang="en-US" dirty="0"/>
              <a:t>Example execution: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“Hello” and “123” are passed as arguments</a:t>
            </a:r>
          </a:p>
          <a:p>
            <a:endParaRPr lang="en-US" sz="1050" dirty="0"/>
          </a:p>
          <a:p>
            <a:r>
              <a:rPr lang="en-US" dirty="0"/>
              <a:t>Java Code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7B17F-634C-B257-FB48-DC91E206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27" y="1702062"/>
            <a:ext cx="3277229" cy="11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0838BB-14B4-508F-72A1-33889ED69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226" y="3058668"/>
            <a:ext cx="5707423" cy="1966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A19446-AC36-D4FB-021E-CBC317772372}"/>
              </a:ext>
            </a:extLst>
          </p:cNvPr>
          <p:cNvSpPr txBox="1"/>
          <p:nvPr/>
        </p:nvSpPr>
        <p:spPr>
          <a:xfrm>
            <a:off x="459704" y="4120754"/>
            <a:ext cx="155042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First argument: Hello</a:t>
            </a:r>
          </a:p>
          <a:p>
            <a:r>
              <a:rPr lang="en-US" sz="1050" dirty="0"/>
              <a:t>Second argument: 123</a:t>
            </a:r>
          </a:p>
        </p:txBody>
      </p:sp>
    </p:spTree>
    <p:extLst>
      <p:ext uri="{BB962C8B-B14F-4D97-AF65-F5344CB8AC3E}">
        <p14:creationId xmlns:p14="http://schemas.microsoft.com/office/powerpoint/2010/main" val="3832405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D8DB-050C-6746-F838-E9603158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and using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7AFE3-9F43-2221-ABFC-1289460C4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677001"/>
          </a:xfrm>
        </p:spPr>
        <p:txBody>
          <a:bodyPr/>
          <a:lstStyle/>
          <a:p>
            <a:r>
              <a:rPr lang="en-US" dirty="0"/>
              <a:t>Arguments are stored in an array (args[]).</a:t>
            </a:r>
          </a:p>
          <a:p>
            <a:r>
              <a:rPr lang="en-US" dirty="0"/>
              <a:t>Each argument is accessed using its index: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86302-6C29-EEBE-B34A-D0CF6625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21" y="1962531"/>
            <a:ext cx="5695950" cy="2343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A6521-CFD8-EC90-FDFC-E28A11A2E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38" y="3971925"/>
            <a:ext cx="3162300" cy="1171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D55AD3-683A-084B-E614-C247CED8F25D}"/>
              </a:ext>
            </a:extLst>
          </p:cNvPr>
          <p:cNvSpPr txBox="1"/>
          <p:nvPr/>
        </p:nvSpPr>
        <p:spPr>
          <a:xfrm>
            <a:off x="3470148" y="4482216"/>
            <a:ext cx="6864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Sum: 15</a:t>
            </a:r>
          </a:p>
        </p:txBody>
      </p:sp>
    </p:spTree>
    <p:extLst>
      <p:ext uri="{BB962C8B-B14F-4D97-AF65-F5344CB8AC3E}">
        <p14:creationId xmlns:p14="http://schemas.microsoft.com/office/powerpoint/2010/main" val="1258999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F36B-2806-73A4-60CD-BB79CD2F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Multiple Arguments Dynamically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1DD91-CC2C-6898-E7DB-CD3DFE992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088481"/>
          </a:xfrm>
        </p:spPr>
        <p:txBody>
          <a:bodyPr/>
          <a:lstStyle/>
          <a:p>
            <a:r>
              <a:rPr lang="en-US" dirty="0"/>
              <a:t>Looping through all arguments: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DCA7A-7468-4765-5C13-B9387F5FD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09" y="1659170"/>
            <a:ext cx="6898492" cy="2159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45FDBC-FB8F-C788-C499-B72FE2A18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143" y="3818240"/>
            <a:ext cx="3905250" cy="1171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E885EF-B3DF-0F9D-57AE-3A295C659866}"/>
              </a:ext>
            </a:extLst>
          </p:cNvPr>
          <p:cNvSpPr txBox="1"/>
          <p:nvPr/>
        </p:nvSpPr>
        <p:spPr>
          <a:xfrm>
            <a:off x="6088196" y="4070894"/>
            <a:ext cx="6254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501195-CBE1-70D8-21EF-4889AB87F911}"/>
              </a:ext>
            </a:extLst>
          </p:cNvPr>
          <p:cNvSpPr txBox="1"/>
          <p:nvPr/>
        </p:nvSpPr>
        <p:spPr>
          <a:xfrm>
            <a:off x="6088196" y="4325226"/>
            <a:ext cx="192633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Argument 1: Java  </a:t>
            </a:r>
          </a:p>
          <a:p>
            <a:r>
              <a:rPr lang="en-US" sz="1050" dirty="0"/>
              <a:t>Argument 2: is  </a:t>
            </a:r>
          </a:p>
          <a:p>
            <a:r>
              <a:rPr lang="en-US" sz="1050" dirty="0"/>
              <a:t>Argument 3: awesome! </a:t>
            </a:r>
          </a:p>
        </p:txBody>
      </p:sp>
    </p:spTree>
    <p:extLst>
      <p:ext uri="{BB962C8B-B14F-4D97-AF65-F5344CB8AC3E}">
        <p14:creationId xmlns:p14="http://schemas.microsoft.com/office/powerpoint/2010/main" val="192526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542F-200F-4D92-3B0F-148B2BE7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Errors and their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CDE6B-B418-5CBB-3F7B-B876E87E9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3978"/>
            <a:ext cx="8039862" cy="2115602"/>
          </a:xfrm>
        </p:spPr>
        <p:txBody>
          <a:bodyPr/>
          <a:lstStyle/>
          <a:p>
            <a:r>
              <a:rPr lang="en-US" dirty="0"/>
              <a:t>Accessing Non-Existing Arguments (Index Out of Bounds Exception)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Solution: Always check the length before accessing: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993EF-BE75-DFE8-BA3D-4E352547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64" y="1588696"/>
            <a:ext cx="7915248" cy="1223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49D58-A304-0251-8D19-5273A450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049" y="3173819"/>
            <a:ext cx="6191903" cy="19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38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17E0-42A7-1AA8-19F2-A173677B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046" y="131736"/>
            <a:ext cx="6980253" cy="1020739"/>
          </a:xfrm>
        </p:spPr>
        <p:txBody>
          <a:bodyPr>
            <a:normAutofit fontScale="90000"/>
          </a:bodyPr>
          <a:lstStyle/>
          <a:p>
            <a:r>
              <a:rPr lang="en-IN" dirty="0"/>
              <a:t>Advantages of Using Command Line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B1C2-AD00-1B1D-3C07-D29B1FC42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dynamic input without modifying code.</a:t>
            </a:r>
          </a:p>
          <a:p>
            <a:r>
              <a:rPr lang="en-US" dirty="0"/>
              <a:t>Useful for automation and script execution.</a:t>
            </a:r>
          </a:p>
          <a:p>
            <a:r>
              <a:rPr lang="en-US" dirty="0"/>
              <a:t>Enables testing with multiple input values easily.</a:t>
            </a:r>
          </a:p>
          <a:p>
            <a:r>
              <a:rPr lang="en-US" dirty="0"/>
              <a:t>Saves time by avoiding hardcoded values.</a:t>
            </a:r>
          </a:p>
        </p:txBody>
      </p:sp>
    </p:spTree>
    <p:extLst>
      <p:ext uri="{BB962C8B-B14F-4D97-AF65-F5344CB8AC3E}">
        <p14:creationId xmlns:p14="http://schemas.microsoft.com/office/powerpoint/2010/main" val="406426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1617-C884-ECB5-554E-6D71861E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124" y="445025"/>
            <a:ext cx="7693175" cy="924194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Practical Applications of Command 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7B9F-AA16-85CB-0ACD-8D575711D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080507"/>
          </a:xfrm>
        </p:spPr>
        <p:txBody>
          <a:bodyPr/>
          <a:lstStyle/>
          <a:p>
            <a:r>
              <a:rPr lang="en-US" dirty="0"/>
              <a:t>Configurable applications (e.g., specifying file paths, settings)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Automating test cases with different inputs</a:t>
            </a:r>
          </a:p>
          <a:p>
            <a:r>
              <a:rPr lang="en-US" dirty="0"/>
              <a:t>Developing lightweight utilities that don’t require use interaction.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3004C-BC96-B6FF-E0AC-1C8EB3BD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15" y="1654693"/>
            <a:ext cx="7112789" cy="183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26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524</Words>
  <Application>Microsoft Macintosh PowerPoint</Application>
  <PresentationFormat>On-screen Show (16:9)</PresentationFormat>
  <Paragraphs>131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Simple Light</vt:lpstr>
      <vt:lpstr>PowerPoint Presentation</vt:lpstr>
      <vt:lpstr>PowerPoint Presentation</vt:lpstr>
      <vt:lpstr>Nested Class in JAVA</vt:lpstr>
      <vt:lpstr>What is a Nested Class?</vt:lpstr>
      <vt:lpstr>Static Nested Classes</vt:lpstr>
      <vt:lpstr>Non-Static Inner Classes</vt:lpstr>
      <vt:lpstr>Local Inner Classes</vt:lpstr>
      <vt:lpstr>Anonymous Inner Classes</vt:lpstr>
      <vt:lpstr>Differences Between Nested Classes</vt:lpstr>
      <vt:lpstr>Common Mistakes When Using Nested Classes</vt:lpstr>
      <vt:lpstr>Common Mistakes When Using Nested Classes (Contd.)</vt:lpstr>
      <vt:lpstr>Command Line Arguments</vt:lpstr>
      <vt:lpstr>What are Command Line Arguments?</vt:lpstr>
      <vt:lpstr>How Command Line Arguments Work?</vt:lpstr>
      <vt:lpstr>Accessing and using Arguments</vt:lpstr>
      <vt:lpstr>Handling Multiple Arguments Dynamically</vt:lpstr>
      <vt:lpstr>Common Errors and their Solutions</vt:lpstr>
      <vt:lpstr>Advantages of Using Command Line Arguments</vt:lpstr>
      <vt:lpstr>Practical Applications of Command Line Arguments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22</cp:revision>
  <dcterms:modified xsi:type="dcterms:W3CDTF">2026-01-05T06:18:22Z</dcterms:modified>
</cp:coreProperties>
</file>