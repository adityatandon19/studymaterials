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40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265" r:id="rId16"/>
    <p:sldId id="301" r:id="rId17"/>
    <p:sldId id="406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265"/>
            <p14:sldId id="301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6DE2D6-7B93-9D45-A65E-630DA0B2768F}" v="1" dt="2025-07-14T19:53:18.723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9"/>
    <p:restoredTop sz="96301"/>
  </p:normalViewPr>
  <p:slideViewPr>
    <p:cSldViewPr snapToGrid="0">
      <p:cViewPr varScale="1">
        <p:scale>
          <a:sx n="139" d="100"/>
          <a:sy n="139" d="100"/>
        </p:scale>
        <p:origin x="1360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AF6DE2D6-7B93-9D45-A65E-630DA0B2768F}"/>
    <pc:docChg chg="modSld modMainMaster">
      <pc:chgData name="Aditya Hare Krishna" userId="de62b921b3c41f8c" providerId="LiveId" clId="{AF6DE2D6-7B93-9D45-A65E-630DA0B2768F}" dt="2025-07-14T19:54:45.945" v="35" actId="1076"/>
      <pc:docMkLst>
        <pc:docMk/>
      </pc:docMkLst>
      <pc:sldChg chg="modSp mod">
        <pc:chgData name="Aditya Hare Krishna" userId="de62b921b3c41f8c" providerId="LiveId" clId="{AF6DE2D6-7B93-9D45-A65E-630DA0B2768F}" dt="2025-07-14T19:52:15.192" v="2" actId="403"/>
        <pc:sldMkLst>
          <pc:docMk/>
          <pc:sldMk cId="3402426174" sldId="290"/>
        </pc:sldMkLst>
        <pc:spChg chg="mod">
          <ac:chgData name="Aditya Hare Krishna" userId="de62b921b3c41f8c" providerId="LiveId" clId="{AF6DE2D6-7B93-9D45-A65E-630DA0B2768F}" dt="2025-07-14T19:52:15.192" v="2" actId="403"/>
          <ac:spMkLst>
            <pc:docMk/>
            <pc:sldMk cId="3402426174" sldId="290"/>
            <ac:spMk id="5" creationId="{73D8B14C-ECCD-F9A1-C318-3766D93E9CA7}"/>
          </ac:spMkLst>
        </pc:spChg>
      </pc:sldChg>
      <pc:sldChg chg="modSp mod">
        <pc:chgData name="Aditya Hare Krishna" userId="de62b921b3c41f8c" providerId="LiveId" clId="{AF6DE2D6-7B93-9D45-A65E-630DA0B2768F}" dt="2025-07-14T19:53:18.722" v="13"/>
        <pc:sldMkLst>
          <pc:docMk/>
          <pc:sldMk cId="1709083723" sldId="291"/>
        </pc:sldMkLst>
        <pc:graphicFrameChg chg="mod modGraphic">
          <ac:chgData name="Aditya Hare Krishna" userId="de62b921b3c41f8c" providerId="LiveId" clId="{AF6DE2D6-7B93-9D45-A65E-630DA0B2768F}" dt="2025-07-14T19:53:18.722" v="13"/>
          <ac:graphicFrameMkLst>
            <pc:docMk/>
            <pc:sldMk cId="1709083723" sldId="291"/>
            <ac:graphicFrameMk id="6" creationId="{7D5C94E3-16CC-E99A-F60E-6A8CF5E275A1}"/>
          </ac:graphicFrameMkLst>
        </pc:graphicFrameChg>
      </pc:sldChg>
      <pc:sldChg chg="modSp mod">
        <pc:chgData name="Aditya Hare Krishna" userId="de62b921b3c41f8c" providerId="LiveId" clId="{AF6DE2D6-7B93-9D45-A65E-630DA0B2768F}" dt="2025-07-14T19:53:40.241" v="19" actId="14100"/>
        <pc:sldMkLst>
          <pc:docMk/>
          <pc:sldMk cId="1734482792" sldId="293"/>
        </pc:sldMkLst>
        <pc:spChg chg="mod">
          <ac:chgData name="Aditya Hare Krishna" userId="de62b921b3c41f8c" providerId="LiveId" clId="{AF6DE2D6-7B93-9D45-A65E-630DA0B2768F}" dt="2025-07-14T19:53:40.241" v="19" actId="14100"/>
          <ac:spMkLst>
            <pc:docMk/>
            <pc:sldMk cId="1734482792" sldId="293"/>
            <ac:spMk id="5" creationId="{48D4A0A0-12C0-95BB-42EF-94B54CF36CEC}"/>
          </ac:spMkLst>
        </pc:spChg>
      </pc:sldChg>
      <pc:sldChg chg="modSp mod">
        <pc:chgData name="Aditya Hare Krishna" userId="de62b921b3c41f8c" providerId="LiveId" clId="{AF6DE2D6-7B93-9D45-A65E-630DA0B2768F}" dt="2025-07-14T19:54:07.798" v="31" actId="1076"/>
        <pc:sldMkLst>
          <pc:docMk/>
          <pc:sldMk cId="1056212353" sldId="294"/>
        </pc:sldMkLst>
        <pc:spChg chg="mod">
          <ac:chgData name="Aditya Hare Krishna" userId="de62b921b3c41f8c" providerId="LiveId" clId="{AF6DE2D6-7B93-9D45-A65E-630DA0B2768F}" dt="2025-07-14T19:54:07.798" v="31" actId="1076"/>
          <ac:spMkLst>
            <pc:docMk/>
            <pc:sldMk cId="1056212353" sldId="294"/>
            <ac:spMk id="5" creationId="{41F7F412-ED6E-68AE-7DB0-4E1BD61E162C}"/>
          </ac:spMkLst>
        </pc:spChg>
        <pc:spChg chg="mod">
          <ac:chgData name="Aditya Hare Krishna" userId="de62b921b3c41f8c" providerId="LiveId" clId="{AF6DE2D6-7B93-9D45-A65E-630DA0B2768F}" dt="2025-07-14T19:54:04.939" v="30" actId="1076"/>
          <ac:spMkLst>
            <pc:docMk/>
            <pc:sldMk cId="1056212353" sldId="294"/>
            <ac:spMk id="7" creationId="{BAAD203F-F149-DC00-0F04-C6DA29246E52}"/>
          </ac:spMkLst>
        </pc:spChg>
      </pc:sldChg>
      <pc:sldChg chg="modSp mod">
        <pc:chgData name="Aditya Hare Krishna" userId="de62b921b3c41f8c" providerId="LiveId" clId="{AF6DE2D6-7B93-9D45-A65E-630DA0B2768F}" dt="2025-07-14T19:54:45.945" v="35" actId="1076"/>
        <pc:sldMkLst>
          <pc:docMk/>
          <pc:sldMk cId="1712721436" sldId="298"/>
        </pc:sldMkLst>
        <pc:spChg chg="mod">
          <ac:chgData name="Aditya Hare Krishna" userId="de62b921b3c41f8c" providerId="LiveId" clId="{AF6DE2D6-7B93-9D45-A65E-630DA0B2768F}" dt="2025-07-14T19:54:45.945" v="35" actId="1076"/>
          <ac:spMkLst>
            <pc:docMk/>
            <pc:sldMk cId="1712721436" sldId="298"/>
            <ac:spMk id="5" creationId="{A71E676B-840A-B468-7986-5BEE7E3944DF}"/>
          </ac:spMkLst>
        </pc:spChg>
      </pc:sldChg>
      <pc:sldMasterChg chg="modSp mod">
        <pc:chgData name="Aditya Hare Krishna" userId="de62b921b3c41f8c" providerId="LiveId" clId="{AF6DE2D6-7B93-9D45-A65E-630DA0B2768F}" dt="2025-07-14T19:54:19.423" v="32" actId="1076"/>
        <pc:sldMasterMkLst>
          <pc:docMk/>
          <pc:sldMasterMk cId="0" sldId="2147483659"/>
        </pc:sldMasterMkLst>
        <pc:spChg chg="mod">
          <ac:chgData name="Aditya Hare Krishna" userId="de62b921b3c41f8c" providerId="LiveId" clId="{AF6DE2D6-7B93-9D45-A65E-630DA0B2768F}" dt="2025-07-14T19:54:19.423" v="32" actId="1076"/>
          <ac:spMkLst>
            <pc:docMk/>
            <pc:sldMasterMk cId="0" sldId="2147483659"/>
            <ac:spMk id="6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ED8A-8F37-6896-037A-C0C4B7A9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93218-0077-D1C3-29F4-FF6441188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D693-AF17-BAE8-F289-81ABB388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00F1C-35AA-00C3-5F8E-B9918FCC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6F4E-37D4-DD4C-3955-5816A8A1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EA83-A5F4-E24B-A28B-E7B4BF564E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029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13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2707321" y="2286848"/>
            <a:ext cx="3729358" cy="126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Packages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AE55F-81CC-87A5-044A-D1C96509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Java Package?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DAD81-EC64-FBDA-AE69-6B3896AFB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369219"/>
            <a:ext cx="7512050" cy="1202531"/>
          </a:xfrm>
        </p:spPr>
        <p:txBody>
          <a:bodyPr>
            <a:normAutofit/>
          </a:bodyPr>
          <a:lstStyle/>
          <a:p>
            <a:r>
              <a:rPr lang="en-IN" dirty="0"/>
              <a:t>A </a:t>
            </a:r>
            <a:r>
              <a:rPr lang="en-IN" b="1" dirty="0"/>
              <a:t>collection of related classes and interfaces</a:t>
            </a:r>
            <a:r>
              <a:rPr lang="en-IN" dirty="0"/>
              <a:t> in Java.</a:t>
            </a:r>
          </a:p>
          <a:p>
            <a:r>
              <a:rPr lang="en-IN" dirty="0"/>
              <a:t>Helps in </a:t>
            </a:r>
            <a:r>
              <a:rPr lang="en-IN" b="1" dirty="0"/>
              <a:t>grouping classes logically</a:t>
            </a:r>
            <a:r>
              <a:rPr lang="en-IN" dirty="0"/>
              <a:t> and avoiding </a:t>
            </a:r>
            <a:r>
              <a:rPr lang="en-IN" b="1" dirty="0"/>
              <a:t>naming conflicts</a:t>
            </a:r>
            <a:r>
              <a:rPr lang="en-IN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03959-B321-0133-3163-1DE1526310A5}"/>
              </a:ext>
            </a:extLst>
          </p:cNvPr>
          <p:cNvSpPr txBox="1"/>
          <p:nvPr/>
        </p:nvSpPr>
        <p:spPr>
          <a:xfrm>
            <a:off x="628651" y="2571750"/>
            <a:ext cx="7512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Types of Packages:</a:t>
            </a:r>
            <a:endParaRPr lang="en-IN" sz="1800" dirty="0"/>
          </a:p>
          <a:p>
            <a:r>
              <a:rPr lang="en-IN" sz="1800" dirty="0"/>
              <a:t>✅ </a:t>
            </a:r>
            <a:r>
              <a:rPr lang="en-IN" sz="1800" b="1" dirty="0"/>
              <a:t>Built-in Packages</a:t>
            </a:r>
            <a:r>
              <a:rPr lang="en-IN" sz="1800" dirty="0"/>
              <a:t> → Provided by Java (e.g., java.util, java.io)</a:t>
            </a:r>
          </a:p>
          <a:p>
            <a:r>
              <a:rPr lang="en-IN" sz="1800" dirty="0"/>
              <a:t>✅ </a:t>
            </a:r>
            <a:r>
              <a:rPr lang="en-IN" sz="1800" b="1" dirty="0"/>
              <a:t>User-defined Packages</a:t>
            </a:r>
            <a:r>
              <a:rPr lang="en-IN" sz="1800" dirty="0"/>
              <a:t> → Created by developers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60A611-AB5B-A308-C0E8-CC7C0560B4E3}"/>
              </a:ext>
            </a:extLst>
          </p:cNvPr>
          <p:cNvSpPr txBox="1"/>
          <p:nvPr/>
        </p:nvSpPr>
        <p:spPr>
          <a:xfrm>
            <a:off x="628651" y="3668365"/>
            <a:ext cx="69044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Example:</a:t>
            </a:r>
          </a:p>
          <a:p>
            <a:endParaRPr lang="en-US" sz="1800" dirty="0"/>
          </a:p>
          <a:p>
            <a:r>
              <a:rPr lang="en-US" sz="1800" dirty="0"/>
              <a:t>java.util → Contains utility classes like ArrayList, HashMap  </a:t>
            </a:r>
          </a:p>
          <a:p>
            <a:r>
              <a:rPr lang="en-US" sz="1800" dirty="0"/>
              <a:t>java.io → Contains input-output classes like File, BufferedReader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8888B-8F09-6FFE-BCC3-A87082D2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522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A694-1304-EE83-1293-A4070C31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Creating a User-Defined Package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06097-042F-7D25-7DF6-E7675D05D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50" y="1268016"/>
            <a:ext cx="7080250" cy="147558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/>
              <a:t>Steps to Create a Package:</a:t>
            </a:r>
            <a:endParaRPr lang="en-IN" dirty="0"/>
          </a:p>
          <a:p>
            <a:r>
              <a:rPr lang="en-IN" dirty="0"/>
              <a:t>1. </a:t>
            </a:r>
            <a:r>
              <a:rPr lang="en-IN" b="1" dirty="0"/>
              <a:t>Declare the package at the top of the Java file</a:t>
            </a:r>
            <a:endParaRPr lang="en-IN" dirty="0"/>
          </a:p>
          <a:p>
            <a:r>
              <a:rPr lang="en-IN" dirty="0"/>
              <a:t>2. </a:t>
            </a:r>
            <a:r>
              <a:rPr lang="en-IN" b="1" dirty="0"/>
              <a:t>Compile the file with -d option</a:t>
            </a:r>
            <a:r>
              <a:rPr lang="en-IN" dirty="0"/>
              <a:t> to specify the package location</a:t>
            </a:r>
          </a:p>
          <a:p>
            <a:r>
              <a:rPr lang="en-IN" dirty="0"/>
              <a:t>3. </a:t>
            </a:r>
            <a:r>
              <a:rPr lang="en-IN" b="1" dirty="0"/>
              <a:t>Use the package in another class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BC7D7-391C-8EFE-60EB-145F4DA2542E}"/>
              </a:ext>
            </a:extLst>
          </p:cNvPr>
          <p:cNvSpPr txBox="1"/>
          <p:nvPr/>
        </p:nvSpPr>
        <p:spPr>
          <a:xfrm>
            <a:off x="165100" y="2782095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• </a:t>
            </a:r>
            <a:r>
              <a:rPr lang="en-IN" sz="1200" b="1" dirty="0"/>
              <a:t>Example (Creating a Package mypackage):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556E2-E419-AAEF-9027-F9AA2C8BD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901" y="2584450"/>
            <a:ext cx="5670551" cy="25202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911494-4C99-828A-8651-0C6ACE884634}"/>
              </a:ext>
            </a:extLst>
          </p:cNvPr>
          <p:cNvSpPr txBox="1"/>
          <p:nvPr/>
        </p:nvSpPr>
        <p:spPr>
          <a:xfrm>
            <a:off x="139700" y="3136089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Compiling: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03DCD5-8AF6-B414-70B2-5A3ECB24AFD8}"/>
              </a:ext>
            </a:extLst>
          </p:cNvPr>
          <p:cNvSpPr txBox="1"/>
          <p:nvPr/>
        </p:nvSpPr>
        <p:spPr>
          <a:xfrm>
            <a:off x="311700" y="3490083"/>
            <a:ext cx="197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javac -d Greeting.java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5D226-FEDB-4B33-453A-00A383ED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23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93A2-A69F-2338-7352-F53345C16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a User-Defined Package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D8B14C-ECCD-F9A1-C318-3766D93E9CA7}"/>
              </a:ext>
            </a:extLst>
          </p:cNvPr>
          <p:cNvSpPr txBox="1"/>
          <p:nvPr/>
        </p:nvSpPr>
        <p:spPr>
          <a:xfrm>
            <a:off x="304801" y="1166416"/>
            <a:ext cx="61595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 use a class from another package, import it using import keyword.</a:t>
            </a:r>
          </a:p>
          <a:p>
            <a:endParaRPr lang="en-IN" dirty="0"/>
          </a:p>
          <a:p>
            <a:r>
              <a:rPr lang="en-IN" dirty="0"/>
              <a:t>Example (Using Greeting class from mypackage):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F516FF-A6EF-52A3-3F3D-CEF1B7BBC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01" y="1803577"/>
            <a:ext cx="6870700" cy="333992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F582B0-067A-3748-FF7F-363014A0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26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664FC-BFDE-132B-F276-18FA064B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Default Access and Package Visibility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A96A2-750A-78EC-852C-C0D239747881}"/>
              </a:ext>
            </a:extLst>
          </p:cNvPr>
          <p:cNvSpPr txBox="1"/>
          <p:nvPr/>
        </p:nvSpPr>
        <p:spPr>
          <a:xfrm>
            <a:off x="406400" y="1129517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Java access modifiers control package visibility.</a:t>
            </a:r>
            <a:endParaRPr lang="en-IN" sz="105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5C94E3-16CC-E99A-F60E-6A8CF5E27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62923"/>
              </p:ext>
            </p:extLst>
          </p:nvPr>
        </p:nvGraphicFramePr>
        <p:xfrm>
          <a:off x="73152" y="1558957"/>
          <a:ext cx="4255272" cy="20255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3307790617"/>
                    </a:ext>
                  </a:extLst>
                </a:gridCol>
                <a:gridCol w="594982">
                  <a:extLst>
                    <a:ext uri="{9D8B030D-6E8A-4147-A177-3AD203B41FA5}">
                      <a16:colId xmlns:a16="http://schemas.microsoft.com/office/drawing/2014/main" val="1900091685"/>
                    </a:ext>
                  </a:extLst>
                </a:gridCol>
                <a:gridCol w="831482">
                  <a:extLst>
                    <a:ext uri="{9D8B030D-6E8A-4147-A177-3AD203B41FA5}">
                      <a16:colId xmlns:a16="http://schemas.microsoft.com/office/drawing/2014/main" val="150618225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620321132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11967027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1100" b="1" dirty="0"/>
                        <a:t>Modifier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Same Class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Same Package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Subclass </a:t>
                      </a:r>
                    </a:p>
                    <a:p>
                      <a:pPr algn="ctr"/>
                      <a:r>
                        <a:rPr lang="en-US" sz="1100" b="1" dirty="0"/>
                        <a:t>(Different Package)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Other Packages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19434211"/>
                  </a:ext>
                </a:extLst>
              </a:tr>
              <a:tr h="350075">
                <a:tc>
                  <a:txBody>
                    <a:bodyPr/>
                    <a:lstStyle/>
                    <a:p>
                      <a:r>
                        <a:rPr lang="en-US" sz="1100" dirty="0"/>
                        <a:t>public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✅ Yes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10354646"/>
                  </a:ext>
                </a:extLst>
              </a:tr>
              <a:tr h="350075">
                <a:tc>
                  <a:txBody>
                    <a:bodyPr/>
                    <a:lstStyle/>
                    <a:p>
                      <a:r>
                        <a:rPr lang="en-US" sz="1100" dirty="0"/>
                        <a:t>protected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❌ No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1992167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100" dirty="0"/>
                        <a:t>default </a:t>
                      </a:r>
                    </a:p>
                    <a:p>
                      <a:r>
                        <a:rPr lang="en-US" sz="1100" dirty="0"/>
                        <a:t>(no modifier)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❌ No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❌ No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841999775"/>
                  </a:ext>
                </a:extLst>
              </a:tr>
              <a:tr h="350075">
                <a:tc>
                  <a:txBody>
                    <a:bodyPr/>
                    <a:lstStyle/>
                    <a:p>
                      <a:r>
                        <a:rPr lang="en-US" sz="1100" dirty="0"/>
                        <a:t>private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✅ Yes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❌ No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❌ No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❌ No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57426075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75E4B4F-53EA-4A59-B409-C0F1FCA2C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018" y="1268017"/>
            <a:ext cx="4721982" cy="35086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CA8E29-CB17-E618-1D3A-70FAEC55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83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6F805-41CA-DA79-FD6A-748177D0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Importing Packages in Java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ADAFF-00BF-44B4-9BF9-8FA7337BD372}"/>
              </a:ext>
            </a:extLst>
          </p:cNvPr>
          <p:cNvSpPr txBox="1"/>
          <p:nvPr/>
        </p:nvSpPr>
        <p:spPr>
          <a:xfrm>
            <a:off x="469900" y="1129517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Importing a Single Class: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C13BC3-67C6-9F7C-1DA4-4D99DA527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900" y="860019"/>
            <a:ext cx="5829300" cy="1092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161656-7F2D-037D-A6CC-441E38F01A60}"/>
              </a:ext>
            </a:extLst>
          </p:cNvPr>
          <p:cNvSpPr txBox="1"/>
          <p:nvPr/>
        </p:nvSpPr>
        <p:spPr>
          <a:xfrm>
            <a:off x="469900" y="1945511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Importing an Entire Package: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27F205-88C3-24AC-CD3B-1E22A5AA7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0" y="1868876"/>
            <a:ext cx="5829300" cy="10929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CA722E-BEBF-36C4-3B70-0040E99407BA}"/>
              </a:ext>
            </a:extLst>
          </p:cNvPr>
          <p:cNvSpPr txBox="1"/>
          <p:nvPr/>
        </p:nvSpPr>
        <p:spPr>
          <a:xfrm>
            <a:off x="469900" y="2826991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Using Fully Qualified Name (Without import):</a:t>
            </a:r>
            <a:endParaRPr lang="en-IN" sz="10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365683-F06A-598C-BF3A-29AF5397B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978648"/>
            <a:ext cx="5245100" cy="220294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AAE9BC-8B99-A5E3-D907-D01089EF5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23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711A-B40F-5F83-37D5-AE2E4F1C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Benefits of Using Java Packages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4A0A0-12C0-95BB-42EF-94B54CF36CEC}"/>
              </a:ext>
            </a:extLst>
          </p:cNvPr>
          <p:cNvSpPr txBox="1"/>
          <p:nvPr/>
        </p:nvSpPr>
        <p:spPr>
          <a:xfrm>
            <a:off x="444499" y="1441703"/>
            <a:ext cx="80708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Code Organization</a:t>
            </a:r>
            <a:r>
              <a:rPr lang="en-IN" dirty="0"/>
              <a:t> → Keeps related classes together.</a:t>
            </a:r>
          </a:p>
          <a:p>
            <a:r>
              <a:rPr lang="en-IN" dirty="0"/>
              <a:t>✅ </a:t>
            </a:r>
            <a:r>
              <a:rPr lang="en-IN" b="1" dirty="0"/>
              <a:t>Avoids Naming Conflicts</a:t>
            </a:r>
            <a:r>
              <a:rPr lang="en-IN" dirty="0"/>
              <a:t> → Two classes with the same name can exist in different packages.</a:t>
            </a:r>
          </a:p>
          <a:p>
            <a:r>
              <a:rPr lang="en-IN" dirty="0"/>
              <a:t>✅ </a:t>
            </a:r>
            <a:r>
              <a:rPr lang="en-IN" b="1" dirty="0"/>
              <a:t>Access Protection</a:t>
            </a:r>
            <a:r>
              <a:rPr lang="en-IN" dirty="0"/>
              <a:t> → Controls class visibility using public, protected, etc.</a:t>
            </a:r>
          </a:p>
          <a:p>
            <a:r>
              <a:rPr lang="en-IN" dirty="0"/>
              <a:t>✅ </a:t>
            </a:r>
            <a:r>
              <a:rPr lang="en-IN" b="1" dirty="0"/>
              <a:t>Easier Maintenance</a:t>
            </a:r>
            <a:r>
              <a:rPr lang="en-IN" dirty="0"/>
              <a:t> → Large projects are easier to manage.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9D4FF-7C50-743F-9E37-83B94B71417C}"/>
              </a:ext>
            </a:extLst>
          </p:cNvPr>
          <p:cNvSpPr txBox="1"/>
          <p:nvPr/>
        </p:nvSpPr>
        <p:spPr>
          <a:xfrm>
            <a:off x="444499" y="2571750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(Avoiding Naming Conflicts):</a:t>
            </a:r>
            <a:endParaRPr lang="en-IN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B43D67-57F0-98D4-AA65-646CBD4ED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1" y="2756700"/>
            <a:ext cx="5822950" cy="212328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4C7E29-A394-1A8A-A9C0-82FEE868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82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19B69-99DF-ADBB-E456-D3B3A44D2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Importing in Java?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7F412-ED6E-68AE-7DB0-4E1BD61E162C}"/>
              </a:ext>
            </a:extLst>
          </p:cNvPr>
          <p:cNvSpPr txBox="1"/>
          <p:nvPr/>
        </p:nvSpPr>
        <p:spPr>
          <a:xfrm>
            <a:off x="452380" y="1121475"/>
            <a:ext cx="86184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Importing allows a Java class to </a:t>
            </a:r>
            <a:r>
              <a:rPr lang="en-IN" b="1" dirty="0"/>
              <a:t>access another class or package without using fully qualified names</a:t>
            </a:r>
            <a:r>
              <a:rPr lang="en-IN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D203F-F149-DC00-0F04-C6DA29246E52}"/>
              </a:ext>
            </a:extLst>
          </p:cNvPr>
          <p:cNvSpPr txBox="1"/>
          <p:nvPr/>
        </p:nvSpPr>
        <p:spPr>
          <a:xfrm>
            <a:off x="452380" y="1533003"/>
            <a:ext cx="67073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Types of Imports in Java:</a:t>
            </a: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Regular Import</a:t>
            </a:r>
            <a:r>
              <a:rPr lang="en-IN" dirty="0"/>
              <a:t> → Imports specific classes or entire packages.</a:t>
            </a:r>
          </a:p>
          <a:p>
            <a:r>
              <a:rPr lang="en-IN" dirty="0"/>
              <a:t>✅ </a:t>
            </a:r>
            <a:r>
              <a:rPr lang="en-IN" b="1" dirty="0"/>
              <a:t>Static Import</a:t>
            </a:r>
            <a:r>
              <a:rPr lang="en-IN" dirty="0"/>
              <a:t> → Imports static members (methods/variables) of a class.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10C46A-3AE0-725D-9091-A4F8B57DF973}"/>
              </a:ext>
            </a:extLst>
          </p:cNvPr>
          <p:cNvSpPr txBox="1"/>
          <p:nvPr/>
        </p:nvSpPr>
        <p:spPr>
          <a:xfrm>
            <a:off x="452380" y="2294751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of a Regular Import:</a:t>
            </a:r>
            <a:endParaRPr lang="en-IN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A18D43-1581-52E6-3C3B-48691DBE8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571751"/>
            <a:ext cx="7117531" cy="158862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3BCE83-5C6D-ADAB-0D40-8CFCDCF3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12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F67B-DF1B-FA2D-2A00-E9148A6E0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Importing Built-in Java Packages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D4D20-3DFF-0D42-68AE-128E76881102}"/>
              </a:ext>
            </a:extLst>
          </p:cNvPr>
          <p:cNvSpPr txBox="1"/>
          <p:nvPr/>
        </p:nvSpPr>
        <p:spPr>
          <a:xfrm>
            <a:off x="138794" y="1123511"/>
            <a:ext cx="53721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Java provides built-in packages for commonly used classes.</a:t>
            </a:r>
            <a:endParaRPr lang="en-IN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E7C70-4031-8DD0-3944-EC5F4A147ED4}"/>
              </a:ext>
            </a:extLst>
          </p:cNvPr>
          <p:cNvSpPr txBox="1"/>
          <p:nvPr/>
        </p:nvSpPr>
        <p:spPr>
          <a:xfrm>
            <a:off x="4706335" y="3419558"/>
            <a:ext cx="12328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Examples:</a:t>
            </a:r>
            <a:endParaRPr lang="en-IN" sz="105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D855148-285F-ED36-2D2E-94F4C9889F36}"/>
              </a:ext>
            </a:extLst>
          </p:cNvPr>
          <p:cNvGraphicFramePr>
            <a:graphicFrameLocks noGrp="1"/>
          </p:cNvGraphicFramePr>
          <p:nvPr/>
        </p:nvGraphicFramePr>
        <p:xfrm>
          <a:off x="4706335" y="3694340"/>
          <a:ext cx="4312785" cy="1257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6683">
                  <a:extLst>
                    <a:ext uri="{9D8B030D-6E8A-4147-A177-3AD203B41FA5}">
                      <a16:colId xmlns:a16="http://schemas.microsoft.com/office/drawing/2014/main" val="3721520367"/>
                    </a:ext>
                  </a:extLst>
                </a:gridCol>
                <a:gridCol w="3236102">
                  <a:extLst>
                    <a:ext uri="{9D8B030D-6E8A-4147-A177-3AD203B41FA5}">
                      <a16:colId xmlns:a16="http://schemas.microsoft.com/office/drawing/2014/main" val="4216638098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sz="1200" b="1" dirty="0"/>
                        <a:t>Package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Purpose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3863009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java.util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structures (ArrayList, HashMap)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716416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java.io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File handling (File, BufferedReader)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1423803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java.sql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Database operations (Connection, ResultSet)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4111875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java.time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Date &amp; time (LocalDate, Instant)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263489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D658166-64A8-D0F6-06FD-81CFDBCA2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2" y="1377427"/>
            <a:ext cx="4620893" cy="286018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94007F-9915-7F25-AD2B-185CCB58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24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EC10-3914-C6A9-418A-9FB018C6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Importing an Entire Package (*)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4F40E-5139-FC2D-7A0E-C48A147618A8}"/>
              </a:ext>
            </a:extLst>
          </p:cNvPr>
          <p:cNvSpPr txBox="1"/>
          <p:nvPr/>
        </p:nvSpPr>
        <p:spPr>
          <a:xfrm>
            <a:off x="628651" y="1129517"/>
            <a:ext cx="595992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Instead of importing individual classes, you can import an entire package.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AE05A1-6767-F853-FCF8-D3A61E2B4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06516"/>
            <a:ext cx="5829300" cy="31013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260600-F551-D765-C3B3-E3EEA793BB90}"/>
              </a:ext>
            </a:extLst>
          </p:cNvPr>
          <p:cNvSpPr txBox="1"/>
          <p:nvPr/>
        </p:nvSpPr>
        <p:spPr>
          <a:xfrm>
            <a:off x="628650" y="4444784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Pros:</a:t>
            </a:r>
            <a:r>
              <a:rPr lang="en-IN" sz="1050" dirty="0"/>
              <a:t> No need to list every class separately.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5F556-77EF-57E5-0780-638DE6BA3711}"/>
              </a:ext>
            </a:extLst>
          </p:cNvPr>
          <p:cNvSpPr txBox="1"/>
          <p:nvPr/>
        </p:nvSpPr>
        <p:spPr>
          <a:xfrm>
            <a:off x="628650" y="4721783"/>
            <a:ext cx="55435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Cons:</a:t>
            </a:r>
            <a:r>
              <a:rPr lang="en-IN" sz="1050" dirty="0"/>
              <a:t> Might </a:t>
            </a:r>
            <a:r>
              <a:rPr lang="en-IN" sz="1050" b="1" dirty="0"/>
              <a:t>slow down compilation</a:t>
            </a:r>
            <a:r>
              <a:rPr lang="en-IN" sz="1050" dirty="0"/>
              <a:t> if unused classes are imported.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D9AB9C-0E0C-376B-8C0E-7E7360B5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82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13FDD-653C-569E-5156-7CD9D469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Importing User-Defined Packages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C315C-D180-444F-F53B-C88B15351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8111" y="1058390"/>
            <a:ext cx="4581613" cy="151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/>
              <a:t>Steps:</a:t>
            </a:r>
            <a:endParaRPr lang="en-IN" sz="1400" dirty="0"/>
          </a:p>
          <a:p>
            <a:pPr>
              <a:buSzPct val="100000"/>
              <a:buAutoNum type="arabicPeriod"/>
            </a:pPr>
            <a:r>
              <a:rPr lang="en-IN" sz="1400" b="1" dirty="0"/>
              <a:t>Create a package</a:t>
            </a:r>
          </a:p>
          <a:p>
            <a:pPr>
              <a:buSzPct val="100000"/>
              <a:buAutoNum type="arabicPeriod"/>
            </a:pPr>
            <a:r>
              <a:rPr lang="en-IN" sz="1400" b="1" dirty="0"/>
              <a:t>Define a class inside the package</a:t>
            </a:r>
            <a:endParaRPr lang="en-IN" sz="1400" dirty="0"/>
          </a:p>
          <a:p>
            <a:pPr>
              <a:buSzPct val="100000"/>
              <a:buAutoNum type="arabicPeriod"/>
            </a:pPr>
            <a:r>
              <a:rPr lang="en-IN" sz="1400" b="1" dirty="0"/>
              <a:t>Import and use the class in another program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48B3B-7A1E-5D33-D455-D60935E244D8}"/>
              </a:ext>
            </a:extLst>
          </p:cNvPr>
          <p:cNvSpPr txBox="1"/>
          <p:nvPr/>
        </p:nvSpPr>
        <p:spPr>
          <a:xfrm>
            <a:off x="167368" y="1259001"/>
            <a:ext cx="334939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(Creating Package mypackage):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D42EFA-29C3-A28B-72BF-36EC7108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6000"/>
            <a:ext cx="4825099" cy="2348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E26912-1E76-6FA7-D2CD-6B7300F50E4D}"/>
              </a:ext>
            </a:extLst>
          </p:cNvPr>
          <p:cNvSpPr txBox="1"/>
          <p:nvPr/>
        </p:nvSpPr>
        <p:spPr>
          <a:xfrm>
            <a:off x="4825099" y="2450166"/>
            <a:ext cx="30616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Using the Package in Another Class:</a:t>
            </a:r>
            <a:endParaRPr lang="en-IN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7B195E-1A64-97C7-85CF-E88333B80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099" y="2727165"/>
            <a:ext cx="4067636" cy="24373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C2D3C7-971C-B3E9-A3D6-9B298E8CFACD}"/>
              </a:ext>
            </a:extLst>
          </p:cNvPr>
          <p:cNvSpPr txBox="1"/>
          <p:nvPr/>
        </p:nvSpPr>
        <p:spPr>
          <a:xfrm>
            <a:off x="2962955" y="4451003"/>
            <a:ext cx="1564852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Hello from mypackage!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3491E-1818-2A1F-30B4-12235E9E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90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1589-6179-D692-39A7-5E57695E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Static Import in Java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E676B-840A-B468-7986-5BEE7E3944DF}"/>
              </a:ext>
            </a:extLst>
          </p:cNvPr>
          <p:cNvSpPr txBox="1"/>
          <p:nvPr/>
        </p:nvSpPr>
        <p:spPr>
          <a:xfrm>
            <a:off x="710292" y="1091164"/>
            <a:ext cx="77234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static import allows you to access static members (methods/variables) without class names.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F5598-E3F1-5ED8-2BF7-55098F5A2E69}"/>
              </a:ext>
            </a:extLst>
          </p:cNvPr>
          <p:cNvSpPr txBox="1"/>
          <p:nvPr/>
        </p:nvSpPr>
        <p:spPr>
          <a:xfrm>
            <a:off x="168388" y="1429043"/>
            <a:ext cx="291771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(Without Static Import):</a:t>
            </a:r>
            <a:endParaRPr lang="en-IN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8F53CA-88A2-DABA-E850-DF0CBA6F6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4" y="1587063"/>
            <a:ext cx="4463156" cy="18503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1BAFCD-EF6D-41C0-002A-39003AFBCCE5}"/>
              </a:ext>
            </a:extLst>
          </p:cNvPr>
          <p:cNvSpPr txBox="1"/>
          <p:nvPr/>
        </p:nvSpPr>
        <p:spPr>
          <a:xfrm>
            <a:off x="4631544" y="1429043"/>
            <a:ext cx="26060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(With Static Import):</a:t>
            </a:r>
            <a:endParaRPr lang="en-IN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2A9ED3-D6FD-A025-9A23-57D9ED3A3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019" y="1589845"/>
            <a:ext cx="4253593" cy="22510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604476-ACEE-9B40-3BDD-B1088B0751D0}"/>
              </a:ext>
            </a:extLst>
          </p:cNvPr>
          <p:cNvSpPr txBox="1"/>
          <p:nvPr/>
        </p:nvSpPr>
        <p:spPr>
          <a:xfrm>
            <a:off x="5363936" y="3771610"/>
            <a:ext cx="625492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5.0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037DB6-FD67-DA2C-693A-4601FCA7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21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87FD-277B-DF35-5CD2-7A47C7A18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705871"/>
          </a:xfrm>
        </p:spPr>
        <p:txBody>
          <a:bodyPr/>
          <a:lstStyle/>
          <a:p>
            <a:r>
              <a:rPr lang="en-IN" b="1" dirty="0"/>
              <a:t>Using Static Import for Constants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6D208-F46B-2AC1-D22F-942E9D456A57}"/>
              </a:ext>
            </a:extLst>
          </p:cNvPr>
          <p:cNvSpPr txBox="1"/>
          <p:nvPr/>
        </p:nvSpPr>
        <p:spPr>
          <a:xfrm>
            <a:off x="119402" y="1134467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(Without Static Import):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A52558-AF31-CE11-F832-B396CA35D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2" y="1261425"/>
            <a:ext cx="5060837" cy="20082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F34957-9AEC-83C1-DC85-B18ED17D49DE}"/>
              </a:ext>
            </a:extLst>
          </p:cNvPr>
          <p:cNvSpPr txBox="1"/>
          <p:nvPr/>
        </p:nvSpPr>
        <p:spPr>
          <a:xfrm>
            <a:off x="5180239" y="2853857"/>
            <a:ext cx="266053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(With Static Import):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38803E-CAD6-4A2C-8033-8E2C0B98A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14" y="3050848"/>
            <a:ext cx="4352586" cy="21336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8E83B0-731D-9520-8B5C-C64982655E35}"/>
              </a:ext>
            </a:extLst>
          </p:cNvPr>
          <p:cNvSpPr txBox="1"/>
          <p:nvPr/>
        </p:nvSpPr>
        <p:spPr>
          <a:xfrm>
            <a:off x="3122447" y="4366619"/>
            <a:ext cx="142699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3.141592653589793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276E41-316C-10A3-5B0F-6F0727DF5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50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D02D-45EF-DAF2-3B8E-FBBAAFEA9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Importing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2860DD-8A8B-8CDC-9496-C58E3D938AF6}"/>
              </a:ext>
            </a:extLst>
          </p:cNvPr>
          <p:cNvSpPr txBox="1"/>
          <p:nvPr/>
        </p:nvSpPr>
        <p:spPr>
          <a:xfrm>
            <a:off x="180635" y="1129517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Importing Unnecessary Packages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185A4-6282-338E-5A01-FEC57AD25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35" y="1406515"/>
            <a:ext cx="7936262" cy="18184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B2FA48-9329-223D-FCEC-0950CC976514}"/>
              </a:ext>
            </a:extLst>
          </p:cNvPr>
          <p:cNvSpPr txBox="1"/>
          <p:nvPr/>
        </p:nvSpPr>
        <p:spPr>
          <a:xfrm>
            <a:off x="180635" y="3363491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Import only what is needed.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299304-1231-C314-3227-76012C8C3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35" y="3501990"/>
            <a:ext cx="5829300" cy="164151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1581FB-5A87-B1DE-40D5-C8D55E4A0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84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C1F9D-948A-0E7A-D7BC-081A7EB46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Importing (Contd.)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D2B90-C62B-56AB-5A86-A970D8BB75C0}"/>
              </a:ext>
            </a:extLst>
          </p:cNvPr>
          <p:cNvSpPr txBox="1"/>
          <p:nvPr/>
        </p:nvSpPr>
        <p:spPr>
          <a:xfrm>
            <a:off x="143896" y="1129517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Forgetting to Import Required Classes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DAAB3C-5D95-0D90-0858-3E0CEA0FA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94" y="1406516"/>
            <a:ext cx="7505665" cy="21242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5487BB-FFB3-6808-3222-5D9574D9B457}"/>
              </a:ext>
            </a:extLst>
          </p:cNvPr>
          <p:cNvSpPr txBox="1"/>
          <p:nvPr/>
        </p:nvSpPr>
        <p:spPr>
          <a:xfrm>
            <a:off x="143895" y="3530760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Import the required class.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44789A-D2A9-8A54-E265-C9000E3D6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607308"/>
            <a:ext cx="4148930" cy="15361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5B5E7E-3440-1DE6-B9B7-75B829AB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8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D0CC1-0821-7967-851E-2AE86233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B1C1C-E38C-9233-E2E4-893285EA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Importing (Contd.)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054E0-EBFB-2DB4-EE1B-F605BC2C26CC}"/>
              </a:ext>
            </a:extLst>
          </p:cNvPr>
          <p:cNvSpPr txBox="1"/>
          <p:nvPr/>
        </p:nvSpPr>
        <p:spPr>
          <a:xfrm>
            <a:off x="143896" y="1129517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Overusing Static Imports (Causing Naming Conflicts)</a:t>
            </a:r>
            <a:endParaRPr lang="en-IN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ECD90-FFC7-C721-9E76-6C52AEE520F5}"/>
              </a:ext>
            </a:extLst>
          </p:cNvPr>
          <p:cNvSpPr txBox="1"/>
          <p:nvPr/>
        </p:nvSpPr>
        <p:spPr>
          <a:xfrm>
            <a:off x="143895" y="3077641"/>
            <a:ext cx="59058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Avoid excessive static imports when conflicts may arise.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2C7EFA-B7F7-60EE-B19D-F147413F9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95" y="1406515"/>
            <a:ext cx="8881119" cy="15326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F59A0-7C15-65F8-0B0E-460B062D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34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1958</TotalTime>
  <Words>663</Words>
  <Application>Microsoft Macintosh PowerPoint</Application>
  <PresentationFormat>On-screen Show (16:9)</PresentationFormat>
  <Paragraphs>135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Simple Light</vt:lpstr>
      <vt:lpstr>PowerPoint Presentation</vt:lpstr>
      <vt:lpstr>What is a Java Package?</vt:lpstr>
      <vt:lpstr>Creating a User-Defined Package</vt:lpstr>
      <vt:lpstr>Using a User-Defined Package</vt:lpstr>
      <vt:lpstr>Default Access and Package Visibility</vt:lpstr>
      <vt:lpstr>Importing Packages in Java</vt:lpstr>
      <vt:lpstr>Benefits of Using Java Packages</vt:lpstr>
      <vt:lpstr>What is Importing in Java?</vt:lpstr>
      <vt:lpstr>Importing Built-in Java Packages</vt:lpstr>
      <vt:lpstr>Importing an Entire Package (*)</vt:lpstr>
      <vt:lpstr>Importing User-Defined Packages</vt:lpstr>
      <vt:lpstr>Static Import in Java</vt:lpstr>
      <vt:lpstr>Using Static Import for Constants</vt:lpstr>
      <vt:lpstr>Common Mistakes with Importing</vt:lpstr>
      <vt:lpstr>Common Mistakes with Importing (Contd.)</vt:lpstr>
      <vt:lpstr>Common Mistakes with Importing (Contd.)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27</cp:revision>
  <dcterms:modified xsi:type="dcterms:W3CDTF">2025-07-14T19:54:51Z</dcterms:modified>
</cp:coreProperties>
</file>