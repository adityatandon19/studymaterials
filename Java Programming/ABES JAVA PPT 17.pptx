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407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259" r:id="rId10"/>
    <p:sldId id="260" r:id="rId11"/>
    <p:sldId id="261" r:id="rId12"/>
    <p:sldId id="406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12"/>
            <p14:sldId id="313"/>
            <p14:sldId id="314"/>
            <p14:sldId id="315"/>
            <p14:sldId id="316"/>
            <p14:sldId id="317"/>
            <p14:sldId id="318"/>
            <p14:sldId id="259"/>
            <p14:sldId id="260"/>
            <p14:sldId id="26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2B797-9D87-944C-9EA0-94BB73817811}" v="2" dt="2025-07-21T16:52:04.29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6301"/>
  </p:normalViewPr>
  <p:slideViewPr>
    <p:cSldViewPr snapToGrid="0">
      <p:cViewPr varScale="1">
        <p:scale>
          <a:sx n="139" d="100"/>
          <a:sy n="139" d="100"/>
        </p:scale>
        <p:origin x="136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9802B797-9D87-944C-9EA0-94BB73817811}"/>
    <pc:docChg chg="undo custSel addSld delSld modSld modSection">
      <pc:chgData name="Aditya Hare Krishna" userId="de62b921b3c41f8c" providerId="LiveId" clId="{9802B797-9D87-944C-9EA0-94BB73817811}" dt="2025-07-22T15:44:42.128" v="56" actId="1076"/>
      <pc:docMkLst>
        <pc:docMk/>
      </pc:docMkLst>
      <pc:sldChg chg="add del">
        <pc:chgData name="Aditya Hare Krishna" userId="de62b921b3c41f8c" providerId="LiveId" clId="{9802B797-9D87-944C-9EA0-94BB73817811}" dt="2025-07-22T15:44:31.895" v="52" actId="2696"/>
        <pc:sldMkLst>
          <pc:docMk/>
          <pc:sldMk cId="4247483160" sldId="261"/>
        </pc:sldMkLst>
      </pc:sldChg>
      <pc:sldChg chg="del">
        <pc:chgData name="Aditya Hare Krishna" userId="de62b921b3c41f8c" providerId="LiveId" clId="{9802B797-9D87-944C-9EA0-94BB73817811}" dt="2025-07-22T15:44:29.442" v="48" actId="2696"/>
        <pc:sldMkLst>
          <pc:docMk/>
          <pc:sldMk cId="652265628" sldId="262"/>
        </pc:sldMkLst>
      </pc:sldChg>
      <pc:sldChg chg="del">
        <pc:chgData name="Aditya Hare Krishna" userId="de62b921b3c41f8c" providerId="LiveId" clId="{9802B797-9D87-944C-9EA0-94BB73817811}" dt="2025-07-22T15:44:29.742" v="49" actId="2696"/>
        <pc:sldMkLst>
          <pc:docMk/>
          <pc:sldMk cId="945147726" sldId="263"/>
        </pc:sldMkLst>
      </pc:sldChg>
      <pc:sldChg chg="del">
        <pc:chgData name="Aditya Hare Krishna" userId="de62b921b3c41f8c" providerId="LiveId" clId="{9802B797-9D87-944C-9EA0-94BB73817811}" dt="2025-07-22T15:44:28.282" v="43" actId="2696"/>
        <pc:sldMkLst>
          <pc:docMk/>
          <pc:sldMk cId="2119622800" sldId="266"/>
        </pc:sldMkLst>
      </pc:sldChg>
      <pc:sldChg chg="del">
        <pc:chgData name="Aditya Hare Krishna" userId="de62b921b3c41f8c" providerId="LiveId" clId="{9802B797-9D87-944C-9EA0-94BB73817811}" dt="2025-07-22T15:44:27.513" v="40" actId="2696"/>
        <pc:sldMkLst>
          <pc:docMk/>
          <pc:sldMk cId="2737251357" sldId="319"/>
        </pc:sldMkLst>
      </pc:sldChg>
      <pc:sldChg chg="del">
        <pc:chgData name="Aditya Hare Krishna" userId="de62b921b3c41f8c" providerId="LiveId" clId="{9802B797-9D87-944C-9EA0-94BB73817811}" dt="2025-07-22T15:44:27.835" v="41" actId="2696"/>
        <pc:sldMkLst>
          <pc:docMk/>
          <pc:sldMk cId="394567736" sldId="320"/>
        </pc:sldMkLst>
      </pc:sldChg>
      <pc:sldChg chg="del">
        <pc:chgData name="Aditya Hare Krishna" userId="de62b921b3c41f8c" providerId="LiveId" clId="{9802B797-9D87-944C-9EA0-94BB73817811}" dt="2025-07-22T15:44:28.120" v="42" actId="2696"/>
        <pc:sldMkLst>
          <pc:docMk/>
          <pc:sldMk cId="2759747331" sldId="321"/>
        </pc:sldMkLst>
      </pc:sldChg>
      <pc:sldChg chg="del">
        <pc:chgData name="Aditya Hare Krishna" userId="de62b921b3c41f8c" providerId="LiveId" clId="{9802B797-9D87-944C-9EA0-94BB73817811}" dt="2025-07-22T15:44:28.455" v="44" actId="2696"/>
        <pc:sldMkLst>
          <pc:docMk/>
          <pc:sldMk cId="1023238271" sldId="322"/>
        </pc:sldMkLst>
      </pc:sldChg>
      <pc:sldChg chg="del">
        <pc:chgData name="Aditya Hare Krishna" userId="de62b921b3c41f8c" providerId="LiveId" clId="{9802B797-9D87-944C-9EA0-94BB73817811}" dt="2025-07-22T15:44:28.625" v="45" actId="2696"/>
        <pc:sldMkLst>
          <pc:docMk/>
          <pc:sldMk cId="342295099" sldId="323"/>
        </pc:sldMkLst>
      </pc:sldChg>
      <pc:sldChg chg="del">
        <pc:chgData name="Aditya Hare Krishna" userId="de62b921b3c41f8c" providerId="LiveId" clId="{9802B797-9D87-944C-9EA0-94BB73817811}" dt="2025-07-22T15:44:28.841" v="46" actId="2696"/>
        <pc:sldMkLst>
          <pc:docMk/>
          <pc:sldMk cId="2514138130" sldId="324"/>
        </pc:sldMkLst>
      </pc:sldChg>
      <pc:sldChg chg="del">
        <pc:chgData name="Aditya Hare Krishna" userId="de62b921b3c41f8c" providerId="LiveId" clId="{9802B797-9D87-944C-9EA0-94BB73817811}" dt="2025-07-22T15:44:29.132" v="47" actId="2696"/>
        <pc:sldMkLst>
          <pc:docMk/>
          <pc:sldMk cId="1797052043" sldId="325"/>
        </pc:sldMkLst>
      </pc:sldChg>
      <pc:sldChg chg="add del">
        <pc:chgData name="Aditya Hare Krishna" userId="de62b921b3c41f8c" providerId="LiveId" clId="{9802B797-9D87-944C-9EA0-94BB73817811}" dt="2025-07-22T15:44:33.061" v="53" actId="2696"/>
        <pc:sldMkLst>
          <pc:docMk/>
          <pc:sldMk cId="0" sldId="406"/>
        </pc:sldMkLst>
      </pc:sldChg>
      <pc:sldChg chg="modSp mod">
        <pc:chgData name="Aditya Hare Krishna" userId="de62b921b3c41f8c" providerId="LiveId" clId="{9802B797-9D87-944C-9EA0-94BB73817811}" dt="2025-07-22T15:44:42.128" v="56" actId="1076"/>
        <pc:sldMkLst>
          <pc:docMk/>
          <pc:sldMk cId="1652500050" sldId="407"/>
        </pc:sldMkLst>
        <pc:spChg chg="mod">
          <ac:chgData name="Aditya Hare Krishna" userId="de62b921b3c41f8c" providerId="LiveId" clId="{9802B797-9D87-944C-9EA0-94BB73817811}" dt="2025-07-22T15:44:42.128" v="56" actId="1076"/>
          <ac:spMkLst>
            <pc:docMk/>
            <pc:sldMk cId="1652500050" sldId="407"/>
            <ac:spMk id="3" creationId="{EEC3C8E5-BA61-0B0B-553C-BFCB9F5C5A66}"/>
          </ac:spMkLst>
        </pc:spChg>
      </pc:sldChg>
      <pc:sldMasterChg chg="addSldLayout delSldLayout">
        <pc:chgData name="Aditya Hare Krishna" userId="de62b921b3c41f8c" providerId="LiveId" clId="{9802B797-9D87-944C-9EA0-94BB73817811}" dt="2025-07-22T15:44:33.061" v="53" actId="2696"/>
        <pc:sldMasterMkLst>
          <pc:docMk/>
          <pc:sldMasterMk cId="0" sldId="2147483659"/>
        </pc:sldMasterMkLst>
        <pc:sldLayoutChg chg="add del">
          <pc:chgData name="Aditya Hare Krishna" userId="de62b921b3c41f8c" providerId="LiveId" clId="{9802B797-9D87-944C-9EA0-94BB73817811}" dt="2025-07-22T15:44:33.061" v="53" actId="2696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90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800" dirty="0"/>
              <a:t>Enumerations 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DBE2-8941-E0AB-BA5D-79F0EBFF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780" y="288274"/>
            <a:ext cx="7796519" cy="673439"/>
          </a:xfrm>
        </p:spPr>
        <p:txBody>
          <a:bodyPr>
            <a:normAutofit/>
          </a:bodyPr>
          <a:lstStyle/>
          <a:p>
            <a:r>
              <a:rPr lang="en-IN" b="1" dirty="0"/>
              <a:t>What is an Enumeration (enum) in Java?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7199C7-761C-FFF0-E4F7-E04EDFC2D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802" y="2467583"/>
            <a:ext cx="4645224" cy="2549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937800-4ACC-C431-6247-4F8E11BB9070}"/>
              </a:ext>
            </a:extLst>
          </p:cNvPr>
          <p:cNvSpPr txBox="1"/>
          <p:nvPr/>
        </p:nvSpPr>
        <p:spPr>
          <a:xfrm>
            <a:off x="628650" y="1025642"/>
            <a:ext cx="59468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An enumeration is a special class that represents a group of constants.</a:t>
            </a:r>
            <a:endParaRPr lang="en-IN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06954-E5F6-0877-B044-3FC69E1F0562}"/>
              </a:ext>
            </a:extLst>
          </p:cNvPr>
          <p:cNvSpPr txBox="1"/>
          <p:nvPr/>
        </p:nvSpPr>
        <p:spPr>
          <a:xfrm>
            <a:off x="628649" y="1302641"/>
            <a:ext cx="45733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50" b="1" dirty="0"/>
              <a:t>Why use enums?</a:t>
            </a:r>
            <a:endParaRPr lang="en-IN" sz="1050" dirty="0"/>
          </a:p>
          <a:p>
            <a:pPr>
              <a:buNone/>
            </a:pPr>
            <a:r>
              <a:rPr lang="en-IN" sz="1050" dirty="0"/>
              <a:t>✅ Improves </a:t>
            </a:r>
            <a:r>
              <a:rPr lang="en-IN" sz="1050" b="1" dirty="0"/>
              <a:t>code readability and type safety</a:t>
            </a:r>
            <a:r>
              <a:rPr lang="en-IN" sz="1050" dirty="0"/>
              <a:t>.</a:t>
            </a:r>
          </a:p>
          <a:p>
            <a:pPr>
              <a:buNone/>
            </a:pPr>
            <a:r>
              <a:rPr lang="en-IN" sz="1050" dirty="0"/>
              <a:t>✅ Replaces </a:t>
            </a:r>
            <a:r>
              <a:rPr lang="en-IN" sz="1050" b="1" dirty="0"/>
              <a:t>integer constants (final static)</a:t>
            </a:r>
            <a:r>
              <a:rPr lang="en-IN" sz="1050" dirty="0"/>
              <a:t>.</a:t>
            </a:r>
          </a:p>
          <a:p>
            <a:r>
              <a:rPr lang="en-IN" sz="1050" dirty="0"/>
              <a:t>✅ Ensures </a:t>
            </a:r>
            <a:r>
              <a:rPr lang="en-IN" sz="1050" b="1" dirty="0"/>
              <a:t>only predefined values</a:t>
            </a:r>
            <a:r>
              <a:rPr lang="en-IN" sz="1050" dirty="0"/>
              <a:t> can be used.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8DFCE-0F33-8B79-566C-B45E1C8CB49B}"/>
              </a:ext>
            </a:extLst>
          </p:cNvPr>
          <p:cNvSpPr txBox="1"/>
          <p:nvPr/>
        </p:nvSpPr>
        <p:spPr>
          <a:xfrm>
            <a:off x="628649" y="2282960"/>
            <a:ext cx="45733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of Constants Without Enums (Less Readable):</a:t>
            </a:r>
            <a:endParaRPr lang="en-IN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EB3C3-2FE7-A10E-72AA-A56F0B1C0F0D}"/>
              </a:ext>
            </a:extLst>
          </p:cNvPr>
          <p:cNvSpPr txBox="1"/>
          <p:nvPr/>
        </p:nvSpPr>
        <p:spPr>
          <a:xfrm>
            <a:off x="5434759" y="2318177"/>
            <a:ext cx="29871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an Enum (Better Approach):</a:t>
            </a:r>
            <a:endParaRPr lang="en-IN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0FEDED-5EF7-7104-7DA7-98773F1FC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026" y="2600805"/>
            <a:ext cx="3862100" cy="130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58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79A3-3FB9-51E5-BF38-3A08F42F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70716"/>
          </a:xfrm>
        </p:spPr>
        <p:txBody>
          <a:bodyPr>
            <a:normAutofit/>
          </a:bodyPr>
          <a:lstStyle/>
          <a:p>
            <a:r>
              <a:rPr lang="en-IN" b="1" dirty="0"/>
              <a:t>Defining and Using an Enum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08A5D4-F512-04C3-1FA6-C13BCFEC4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432" y="2426200"/>
            <a:ext cx="5923325" cy="2463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DD0B3-CB58-887D-4895-4FB25A2D0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244" y="1129517"/>
            <a:ext cx="3862100" cy="1304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A3513-5ED2-BF9E-3B14-682755438A33}"/>
              </a:ext>
            </a:extLst>
          </p:cNvPr>
          <p:cNvSpPr txBox="1"/>
          <p:nvPr/>
        </p:nvSpPr>
        <p:spPr>
          <a:xfrm>
            <a:off x="884793" y="1268016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Syntax: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BFA71-27A4-5709-F0BC-9384EE6A045D}"/>
              </a:ext>
            </a:extLst>
          </p:cNvPr>
          <p:cNvSpPr txBox="1"/>
          <p:nvPr/>
        </p:nvSpPr>
        <p:spPr>
          <a:xfrm>
            <a:off x="462964" y="2636526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Example Usage:</a:t>
            </a:r>
            <a:endParaRPr lang="en-IN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61AEB-DE94-DD85-D998-64376B7C6755}"/>
              </a:ext>
            </a:extLst>
          </p:cNvPr>
          <p:cNvSpPr txBox="1"/>
          <p:nvPr/>
        </p:nvSpPr>
        <p:spPr>
          <a:xfrm>
            <a:off x="462965" y="4806756"/>
            <a:ext cx="45733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Safer and more readable than using integer constants.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16741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6E6C-7A6B-39A0-16A2-FD743443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Accessing Enum Constants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20DCA7-710F-632F-9F5C-F3CD6CE8F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22" y="1823815"/>
            <a:ext cx="4885182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1FC94-291B-8E24-95B3-92493E3C8E93}"/>
              </a:ext>
            </a:extLst>
          </p:cNvPr>
          <p:cNvSpPr txBox="1"/>
          <p:nvPr/>
        </p:nvSpPr>
        <p:spPr>
          <a:xfrm>
            <a:off x="628650" y="1121405"/>
            <a:ext cx="527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Each constant in an enum is a public, static, final member.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88C68-0E69-6104-C213-6FAF02C2FED7}"/>
              </a:ext>
            </a:extLst>
          </p:cNvPr>
          <p:cNvSpPr txBox="1"/>
          <p:nvPr/>
        </p:nvSpPr>
        <p:spPr>
          <a:xfrm>
            <a:off x="628650" y="1472610"/>
            <a:ext cx="3167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Example: Print all enum constants: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839B5-52C5-929A-AEF6-984B5EBDF037}"/>
              </a:ext>
            </a:extLst>
          </p:cNvPr>
          <p:cNvSpPr txBox="1"/>
          <p:nvPr/>
        </p:nvSpPr>
        <p:spPr>
          <a:xfrm>
            <a:off x="4982111" y="2017752"/>
            <a:ext cx="101181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LOW  </a:t>
            </a:r>
          </a:p>
          <a:p>
            <a:r>
              <a:rPr lang="en-US" dirty="0"/>
              <a:t>MEDIUM  </a:t>
            </a:r>
          </a:p>
          <a:p>
            <a:r>
              <a:rPr lang="en-US" dirty="0"/>
              <a:t>HIGH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70D28-A825-3910-83BE-28EB4737EE79}"/>
              </a:ext>
            </a:extLst>
          </p:cNvPr>
          <p:cNvSpPr txBox="1"/>
          <p:nvPr/>
        </p:nvSpPr>
        <p:spPr>
          <a:xfrm>
            <a:off x="5119856" y="4419153"/>
            <a:ext cx="3844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values() returns an array of all enum constants.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39832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26AA-17E6-3902-6A87-5634A786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6923"/>
          </a:xfrm>
        </p:spPr>
        <p:txBody>
          <a:bodyPr>
            <a:normAutofit/>
          </a:bodyPr>
          <a:lstStyle/>
          <a:p>
            <a:r>
              <a:rPr lang="en-IN" b="1" dirty="0"/>
              <a:t>Enum with Constructors and Methods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A59816-DA8A-EF5D-E67A-9464C0665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527" y="1332975"/>
            <a:ext cx="5457133" cy="3411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F2C88-6259-C9C9-FAA4-699BE130540F}"/>
              </a:ext>
            </a:extLst>
          </p:cNvPr>
          <p:cNvSpPr txBox="1"/>
          <p:nvPr/>
        </p:nvSpPr>
        <p:spPr>
          <a:xfrm>
            <a:off x="615185" y="1162312"/>
            <a:ext cx="5650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Enums can have constructors, methods, and instance variables.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2D64F-713A-6C4F-5B2E-8F709231CC33}"/>
              </a:ext>
            </a:extLst>
          </p:cNvPr>
          <p:cNvSpPr txBox="1"/>
          <p:nvPr/>
        </p:nvSpPr>
        <p:spPr>
          <a:xfrm>
            <a:off x="615185" y="4744694"/>
            <a:ext cx="3682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Allows enums to store additional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566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76BB-7666-F9F7-AA24-8F911E2F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47506"/>
          </a:xfrm>
        </p:spPr>
        <p:txBody>
          <a:bodyPr>
            <a:normAutofit/>
          </a:bodyPr>
          <a:lstStyle/>
          <a:p>
            <a:r>
              <a:rPr lang="en-IN" b="1" dirty="0"/>
              <a:t>Using switch with Enums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61AF69-5DC4-B526-52A9-8CD152CE8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360" y="1369219"/>
            <a:ext cx="6203281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F5BC32-F869-ED32-BC94-7129C6804C7B}"/>
              </a:ext>
            </a:extLst>
          </p:cNvPr>
          <p:cNvSpPr txBox="1"/>
          <p:nvPr/>
        </p:nvSpPr>
        <p:spPr>
          <a:xfrm>
            <a:off x="628650" y="1129517"/>
            <a:ext cx="4573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switch works seamlessly with enums.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86E72-6CE2-ADFB-77B8-E45531D1F99A}"/>
              </a:ext>
            </a:extLst>
          </p:cNvPr>
          <p:cNvSpPr txBox="1"/>
          <p:nvPr/>
        </p:nvSpPr>
        <p:spPr>
          <a:xfrm>
            <a:off x="741573" y="4632722"/>
            <a:ext cx="4947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Prevents invalid cases, making the code more robust.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264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A4C7-7985-A8D4-FCBC-CCD63AF4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4409"/>
          </a:xfrm>
        </p:spPr>
        <p:txBody>
          <a:bodyPr>
            <a:normAutofit/>
          </a:bodyPr>
          <a:lstStyle/>
          <a:p>
            <a:r>
              <a:rPr lang="en-IN" b="1" dirty="0"/>
              <a:t>Enum Implementing an Interface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E894C7-DAF7-1E02-E3AA-3AD4D3FA5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151" y="1302516"/>
            <a:ext cx="4707698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DCB44E-69C8-CBBA-8014-87CAB44608FE}"/>
              </a:ext>
            </a:extLst>
          </p:cNvPr>
          <p:cNvSpPr txBox="1"/>
          <p:nvPr/>
        </p:nvSpPr>
        <p:spPr>
          <a:xfrm>
            <a:off x="628650" y="1025642"/>
            <a:ext cx="5301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Enums can implement interfaces but cannot extend classes.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C04EA-A754-A8B1-CC7E-9C6CBCDA93A1}"/>
              </a:ext>
            </a:extLst>
          </p:cNvPr>
          <p:cNvSpPr txBox="1"/>
          <p:nvPr/>
        </p:nvSpPr>
        <p:spPr>
          <a:xfrm>
            <a:off x="628649" y="4566020"/>
            <a:ext cx="5780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Enums can contain business logic while remaining type-safe.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490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C2AB-3468-FC7A-A85A-B29D7527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What are values() and valueOf() in Enums?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1E31-63FD-6A7F-4F97-439B0D584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Enums provide built-in methods for accessing constants dynamically.</a:t>
            </a:r>
            <a:endParaRPr lang="en-IN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values() Method:</a:t>
            </a:r>
            <a:r>
              <a:rPr lang="en-IN" dirty="0"/>
              <a:t> Returns an array of all enum constants.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valueOf(String name) Method:</a:t>
            </a:r>
            <a:r>
              <a:rPr lang="en-IN" dirty="0"/>
              <a:t> Converts a string into an enum constant.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Why use these methods?</a:t>
            </a:r>
            <a:endParaRPr lang="en-IN" dirty="0"/>
          </a:p>
          <a:p>
            <a:pPr>
              <a:buNone/>
            </a:pPr>
            <a:r>
              <a:rPr lang="en-IN" dirty="0"/>
              <a:t>✅ Allows </a:t>
            </a:r>
            <a:r>
              <a:rPr lang="en-IN" b="1" dirty="0"/>
              <a:t>iteration over enum constants</a:t>
            </a:r>
            <a:r>
              <a:rPr lang="en-IN" dirty="0"/>
              <a:t> dynamically.</a:t>
            </a:r>
          </a:p>
          <a:p>
            <a:pPr>
              <a:buNone/>
            </a:pPr>
            <a:r>
              <a:rPr lang="en-IN" dirty="0"/>
              <a:t>✅ Enables </a:t>
            </a:r>
            <a:r>
              <a:rPr lang="en-IN" b="1" dirty="0"/>
              <a:t>converting user input</a:t>
            </a:r>
            <a:r>
              <a:rPr lang="en-IN" dirty="0"/>
              <a:t> into an enum constant.</a:t>
            </a:r>
          </a:p>
          <a:p>
            <a:pPr>
              <a:buNone/>
            </a:pPr>
            <a:r>
              <a:rPr lang="en-IN" dirty="0"/>
              <a:t>✅ Helps </a:t>
            </a:r>
            <a:r>
              <a:rPr lang="en-IN" b="1" dirty="0"/>
              <a:t>maintain type safety</a:t>
            </a:r>
            <a:r>
              <a:rPr lang="en-IN" dirty="0"/>
              <a:t> in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25246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EAC9-7F9C-BA93-6704-DDAE53AD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18033"/>
          </a:xfrm>
        </p:spPr>
        <p:txBody>
          <a:bodyPr>
            <a:normAutofit/>
          </a:bodyPr>
          <a:lstStyle/>
          <a:p>
            <a:r>
              <a:rPr lang="en-IN" b="1" dirty="0"/>
              <a:t>Using values() to List All Enum Constants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CE7DD6-B693-F0A4-1E02-D856B7620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53242"/>
            <a:ext cx="4885182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9ED875-6DCF-AD51-BB0B-49C76A07CE3F}"/>
              </a:ext>
            </a:extLst>
          </p:cNvPr>
          <p:cNvSpPr txBox="1"/>
          <p:nvPr/>
        </p:nvSpPr>
        <p:spPr>
          <a:xfrm>
            <a:off x="628649" y="1076243"/>
            <a:ext cx="5505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values() method returns all enum constants as an array.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A4B49-5E61-E4D1-B037-A3B5FE207BE9}"/>
              </a:ext>
            </a:extLst>
          </p:cNvPr>
          <p:cNvSpPr txBox="1"/>
          <p:nvPr/>
        </p:nvSpPr>
        <p:spPr>
          <a:xfrm>
            <a:off x="5858220" y="2652310"/>
            <a:ext cx="139493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MONDAY  </a:t>
            </a:r>
          </a:p>
          <a:p>
            <a:r>
              <a:rPr lang="en-US" dirty="0"/>
              <a:t>TUESDAY  </a:t>
            </a:r>
          </a:p>
          <a:p>
            <a:r>
              <a:rPr lang="en-US" dirty="0"/>
              <a:t>WEDNESDAY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E1E15-D42A-8C7E-11EC-B2BDCD526B5B}"/>
              </a:ext>
            </a:extLst>
          </p:cNvPr>
          <p:cNvSpPr txBox="1"/>
          <p:nvPr/>
        </p:nvSpPr>
        <p:spPr>
          <a:xfrm>
            <a:off x="691253" y="4643209"/>
            <a:ext cx="5571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Great for displaying all possible options in a menu or list.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104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A5AA-CC88-E088-C924-14044211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50401"/>
          </a:xfrm>
        </p:spPr>
        <p:txBody>
          <a:bodyPr>
            <a:normAutofit/>
          </a:bodyPr>
          <a:lstStyle/>
          <a:p>
            <a:r>
              <a:rPr lang="en-IN" sz="2700" b="1" dirty="0"/>
              <a:t>Using valueOf() to Convert a String to an Enum</a:t>
            </a:r>
            <a:endParaRPr lang="en-US" sz="27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49CBA8-438C-0320-2A40-B11510DC5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087" y="1423828"/>
            <a:ext cx="6374201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D9274F-774C-F919-653F-556479D36762}"/>
              </a:ext>
            </a:extLst>
          </p:cNvPr>
          <p:cNvSpPr txBox="1"/>
          <p:nvPr/>
        </p:nvSpPr>
        <p:spPr>
          <a:xfrm>
            <a:off x="628650" y="1268016"/>
            <a:ext cx="6662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valueOf(String name) method converts a string to an enum constant.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54F66-A222-3ED6-07E3-FBA880F480D6}"/>
              </a:ext>
            </a:extLst>
          </p:cNvPr>
          <p:cNvSpPr txBox="1"/>
          <p:nvPr/>
        </p:nvSpPr>
        <p:spPr>
          <a:xfrm>
            <a:off x="6759725" y="3847294"/>
            <a:ext cx="1957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/>
              <a:t>Selected Level: HIGH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93813-8645-EC66-07EF-C44E705AAAF7}"/>
              </a:ext>
            </a:extLst>
          </p:cNvPr>
          <p:cNvSpPr txBox="1"/>
          <p:nvPr/>
        </p:nvSpPr>
        <p:spPr>
          <a:xfrm>
            <a:off x="691997" y="4704644"/>
            <a:ext cx="4573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Ensures type safety instead of using raw strings.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091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B23E-B39A-D0D5-70AE-1FDFB7DE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53762"/>
          </a:xfrm>
        </p:spPr>
        <p:txBody>
          <a:bodyPr>
            <a:normAutofit/>
          </a:bodyPr>
          <a:lstStyle/>
          <a:p>
            <a:r>
              <a:rPr lang="en-IN" b="1" dirty="0"/>
              <a:t>Handling Invalid valueOf() Conversions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EDDBCF-4E1B-F05C-DDAE-BBA9290CA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1357535"/>
            <a:ext cx="7430910" cy="2705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DE1E6F-1C40-96D6-F294-3718FAF2DA31}"/>
              </a:ext>
            </a:extLst>
          </p:cNvPr>
          <p:cNvSpPr txBox="1"/>
          <p:nvPr/>
        </p:nvSpPr>
        <p:spPr>
          <a:xfrm>
            <a:off x="628649" y="1080536"/>
            <a:ext cx="78867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valueOf() throws IllegalArgumentException if the value doesn’t match any enum constant.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D979D-6A68-6D53-3D96-3E32C0F9B43F}"/>
              </a:ext>
            </a:extLst>
          </p:cNvPr>
          <p:cNvSpPr txBox="1"/>
          <p:nvPr/>
        </p:nvSpPr>
        <p:spPr>
          <a:xfrm>
            <a:off x="6358546" y="3970631"/>
            <a:ext cx="24737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Error: Invalid level specified.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003C0-DAEF-C074-8872-EBB83A08096D}"/>
              </a:ext>
            </a:extLst>
          </p:cNvPr>
          <p:cNvSpPr txBox="1"/>
          <p:nvPr/>
        </p:nvSpPr>
        <p:spPr>
          <a:xfrm>
            <a:off x="430346" y="4201463"/>
            <a:ext cx="5272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Always validate user input before converting to an enum.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483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402</Words>
  <Application>Microsoft Macintosh PowerPoint</Application>
  <PresentationFormat>On-screen Show (16:9)</PresentationFormat>
  <Paragraphs>61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PowerPoint Presentation</vt:lpstr>
      <vt:lpstr>What is an Enumeration (enum) in Java?</vt:lpstr>
      <vt:lpstr>Defining and Using an Enum</vt:lpstr>
      <vt:lpstr>Accessing Enum Constants</vt:lpstr>
      <vt:lpstr>Enum with Constructors and Methods</vt:lpstr>
      <vt:lpstr>Using switch with Enums</vt:lpstr>
      <vt:lpstr>Enum Implementing an Interface</vt:lpstr>
      <vt:lpstr>What are values() and valueOf() in Enums?</vt:lpstr>
      <vt:lpstr>Using values() to List All Enum Constants</vt:lpstr>
      <vt:lpstr>Using valueOf() to Convert a String to an Enum</vt:lpstr>
      <vt:lpstr>Handling Invalid valueOf() Conversions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2025-07-22T15:44:43Z</dcterms:modified>
</cp:coreProperties>
</file>