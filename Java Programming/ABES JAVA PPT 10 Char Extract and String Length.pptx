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407" r:id="rId2"/>
    <p:sldId id="391" r:id="rId3"/>
    <p:sldId id="392" r:id="rId4"/>
    <p:sldId id="393" r:id="rId5"/>
    <p:sldId id="394" r:id="rId6"/>
    <p:sldId id="395" r:id="rId7"/>
    <p:sldId id="267" r:id="rId8"/>
    <p:sldId id="396" r:id="rId9"/>
    <p:sldId id="397" r:id="rId10"/>
    <p:sldId id="398" r:id="rId11"/>
    <p:sldId id="399" r:id="rId12"/>
    <p:sldId id="400" r:id="rId13"/>
    <p:sldId id="401" r:id="rId14"/>
    <p:sldId id="402" r:id="rId15"/>
    <p:sldId id="403" r:id="rId16"/>
    <p:sldId id="405" r:id="rId17"/>
    <p:sldId id="406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407"/>
            <p14:sldId id="391"/>
            <p14:sldId id="392"/>
            <p14:sldId id="393"/>
            <p14:sldId id="394"/>
            <p14:sldId id="395"/>
            <p14:sldId id="267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5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01"/>
  </p:normalViewPr>
  <p:slideViewPr>
    <p:cSldViewPr snapToGrid="0">
      <p:cViewPr varScale="1">
        <p:scale>
          <a:sx n="157" d="100"/>
          <a:sy n="157" d="100"/>
        </p:scale>
        <p:origin x="768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16E359B-3D4B-CD09-2207-84B8C9656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1104BA-4B34-5A6D-BF6C-0FBE255ABC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1227C7-5876-975A-3DAD-E8023B8F0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05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7271-D585-3BE5-333A-E584A9960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6DEB7-07C7-0A71-A0C1-95185BCB6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A5A17-F4BB-D373-919E-8FAE8D05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1B5E-B6E6-DC42-BB60-A885946EC108}" type="datetimeFigureOut">
              <a:rPr lang="en-US" smtClean="0"/>
              <a:t>6/1/25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D250-327F-AAF0-CCAD-07F3F937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6F96F-4386-D11F-6AB5-EC393DEA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780-A9F1-9949-BA87-FFE9C13D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0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7F29CC1-F9C8-D8A8-C429-9FC3BFEBF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B469C13A-30DC-0B47-FC4E-2ECBE2BD28CC}"/>
              </a:ext>
            </a:extLst>
          </p:cNvPr>
          <p:cNvSpPr txBox="1">
            <a:spLocks/>
          </p:cNvSpPr>
          <p:nvPr/>
        </p:nvSpPr>
        <p:spPr>
          <a:xfrm>
            <a:off x="1206172" y="1453895"/>
            <a:ext cx="6731656" cy="126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10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EC3C8E5-BA61-0B0B-553C-BFCB9F5C5A66}"/>
              </a:ext>
            </a:extLst>
          </p:cNvPr>
          <p:cNvSpPr txBox="1">
            <a:spLocks/>
          </p:cNvSpPr>
          <p:nvPr/>
        </p:nvSpPr>
        <p:spPr>
          <a:xfrm>
            <a:off x="311700" y="2571750"/>
            <a:ext cx="8520600" cy="1687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20000"/>
              </a:lnSpc>
            </a:pPr>
            <a:r>
              <a:rPr lang="en-IN" dirty="0"/>
              <a:t>Character Extraction and String Length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0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7729D-A76D-3E31-5BC9-E229F1B66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Extracting Characters from a String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C36EB8-F1DC-2639-7BD9-2255565F4076}"/>
              </a:ext>
            </a:extLst>
          </p:cNvPr>
          <p:cNvSpPr txBox="1"/>
          <p:nvPr/>
        </p:nvSpPr>
        <p:spPr>
          <a:xfrm>
            <a:off x="449819" y="1072927"/>
            <a:ext cx="45773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Using charAt(index):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CEF1D4-9BD0-08D5-4AEC-E9737CC37684}"/>
              </a:ext>
            </a:extLst>
          </p:cNvPr>
          <p:cNvSpPr txBox="1"/>
          <p:nvPr/>
        </p:nvSpPr>
        <p:spPr>
          <a:xfrm>
            <a:off x="6258286" y="1809599"/>
            <a:ext cx="25186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Character at index 7: 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F222C2-7C5C-8E75-9507-E54B15BB8B2F}"/>
              </a:ext>
            </a:extLst>
          </p:cNvPr>
          <p:cNvSpPr txBox="1"/>
          <p:nvPr/>
        </p:nvSpPr>
        <p:spPr>
          <a:xfrm>
            <a:off x="229404" y="3382768"/>
            <a:ext cx="45773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Using substring(start, end):</a:t>
            </a:r>
            <a:endParaRPr lang="en-IN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16357C-3E63-8047-39AD-C6A8DEEE69BD}"/>
              </a:ext>
            </a:extLst>
          </p:cNvPr>
          <p:cNvSpPr txBox="1"/>
          <p:nvPr/>
        </p:nvSpPr>
        <p:spPr>
          <a:xfrm>
            <a:off x="5867153" y="3690545"/>
            <a:ext cx="27494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Extracted substring: Now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2E5A52-D8A1-06B3-2B14-2A42B4ED3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59" y="1326683"/>
            <a:ext cx="5960627" cy="17725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F4D963-6387-AB10-DFAC-B3E59E9DC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38" y="3551727"/>
            <a:ext cx="5895243" cy="157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22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21C8-B774-4A68-A99E-056D315D3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Extracting First and Last Characters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9E21A1-654A-BFFE-65E9-B1540F6B36B6}"/>
              </a:ext>
            </a:extLst>
          </p:cNvPr>
          <p:cNvSpPr txBox="1"/>
          <p:nvPr/>
        </p:nvSpPr>
        <p:spPr>
          <a:xfrm>
            <a:off x="311002" y="1268016"/>
            <a:ext cx="14752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First Character: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2F0FC1-8D74-2CF8-692D-277CB4282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871" y="958812"/>
            <a:ext cx="5955673" cy="13484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3031E8-B924-80EE-B7D1-36435898A424}"/>
              </a:ext>
            </a:extLst>
          </p:cNvPr>
          <p:cNvSpPr txBox="1"/>
          <p:nvPr/>
        </p:nvSpPr>
        <p:spPr>
          <a:xfrm>
            <a:off x="311002" y="2400688"/>
            <a:ext cx="13568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Last Character: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7D1791-2C5B-F172-B409-6C39765C4D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50" y="2294638"/>
            <a:ext cx="6721323" cy="10067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F24EDA-9BC6-EA8E-66B2-A982AD33591D}"/>
              </a:ext>
            </a:extLst>
          </p:cNvPr>
          <p:cNvSpPr txBox="1"/>
          <p:nvPr/>
        </p:nvSpPr>
        <p:spPr>
          <a:xfrm>
            <a:off x="333597" y="3286862"/>
            <a:ext cx="20954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First character: O  </a:t>
            </a:r>
          </a:p>
          <a:p>
            <a:r>
              <a:rPr lang="en-US" sz="1800" dirty="0"/>
              <a:t>Last character: g </a:t>
            </a:r>
          </a:p>
        </p:txBody>
      </p:sp>
    </p:spTree>
    <p:extLst>
      <p:ext uri="{BB962C8B-B14F-4D97-AF65-F5344CB8AC3E}">
        <p14:creationId xmlns:p14="http://schemas.microsoft.com/office/powerpoint/2010/main" val="9978655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D6DE3-6C65-0492-FA3B-A6AA7374D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Modifying Strings – Changing Case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F897F6-ECB2-92D6-6444-E194E280048E}"/>
              </a:ext>
            </a:extLst>
          </p:cNvPr>
          <p:cNvSpPr txBox="1"/>
          <p:nvPr/>
        </p:nvSpPr>
        <p:spPr>
          <a:xfrm>
            <a:off x="454542" y="1129516"/>
            <a:ext cx="334128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Convert to Uppercase and Lowercase:</a:t>
            </a:r>
            <a:endParaRPr lang="en-IN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CA377-1E44-EFD3-7892-83BB760E2D0C}"/>
              </a:ext>
            </a:extLst>
          </p:cNvPr>
          <p:cNvSpPr txBox="1"/>
          <p:nvPr/>
        </p:nvSpPr>
        <p:spPr>
          <a:xfrm>
            <a:off x="454542" y="3394858"/>
            <a:ext cx="41985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C 4 YOURSELF YOUTUBE CHANNEL</a:t>
            </a:r>
          </a:p>
          <a:p>
            <a:r>
              <a:rPr lang="en-US" sz="1800" dirty="0"/>
              <a:t>c 4 yourself </a:t>
            </a:r>
            <a:r>
              <a:rPr lang="en-US" sz="1800" dirty="0" err="1"/>
              <a:t>youtube</a:t>
            </a:r>
            <a:r>
              <a:rPr lang="en-US" sz="1800" dirty="0"/>
              <a:t> channel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18B79-D833-CDE1-4EE6-A6CB10FCA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42" y="1451599"/>
            <a:ext cx="7772400" cy="187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97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5DFB0-3EB0-006F-07CE-E30C8367E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Replacing Characters in a String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A4552-5556-E0CE-D305-1A5FB7712CA8}"/>
              </a:ext>
            </a:extLst>
          </p:cNvPr>
          <p:cNvSpPr txBox="1"/>
          <p:nvPr/>
        </p:nvSpPr>
        <p:spPr>
          <a:xfrm>
            <a:off x="494415" y="1250736"/>
            <a:ext cx="2512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Using replace() Method: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010708-3AF9-A2A6-09E3-16F2D72C508E}"/>
              </a:ext>
            </a:extLst>
          </p:cNvPr>
          <p:cNvSpPr txBox="1"/>
          <p:nvPr/>
        </p:nvSpPr>
        <p:spPr>
          <a:xfrm>
            <a:off x="430438" y="2188380"/>
            <a:ext cx="41649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 4 Yourself YouTube Channel - Subscribed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86C9A9-B50B-525C-FF6F-D85B87C7B113}"/>
              </a:ext>
            </a:extLst>
          </p:cNvPr>
          <p:cNvSpPr txBox="1"/>
          <p:nvPr/>
        </p:nvSpPr>
        <p:spPr>
          <a:xfrm>
            <a:off x="491858" y="3251426"/>
            <a:ext cx="33881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Replacing Spaces with Dashes:</a:t>
            </a:r>
            <a:endParaRPr lang="en-IN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4CA48B-FAD0-8787-33E4-F4FFFE999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168" y="3168387"/>
            <a:ext cx="5613832" cy="16727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164EB2-DE02-0D17-2615-1268D7923794}"/>
              </a:ext>
            </a:extLst>
          </p:cNvPr>
          <p:cNvSpPr txBox="1"/>
          <p:nvPr/>
        </p:nvSpPr>
        <p:spPr>
          <a:xfrm>
            <a:off x="430438" y="4358712"/>
            <a:ext cx="377539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C-4-Yourself-YouTube-Channel---Subscribe?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2360BC-C59F-7B64-F41A-98C63A19E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348" y="990722"/>
            <a:ext cx="5938284" cy="1611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520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20B66-B96F-676C-E2B3-6AE4CCE59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Removing Extra Spaces from a String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AA7A90-91FF-8C1F-23ED-8211F3FB6EA7}"/>
              </a:ext>
            </a:extLst>
          </p:cNvPr>
          <p:cNvSpPr txBox="1"/>
          <p:nvPr/>
        </p:nvSpPr>
        <p:spPr>
          <a:xfrm>
            <a:off x="379691" y="1129517"/>
            <a:ext cx="182614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Using trim() Method: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F55BE8-C9FB-9029-F4F5-77966D73C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90" y="1319214"/>
            <a:ext cx="7928195" cy="22346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70AFE9-6C67-657C-4BF4-1B66643F56E6}"/>
              </a:ext>
            </a:extLst>
          </p:cNvPr>
          <p:cNvSpPr txBox="1"/>
          <p:nvPr/>
        </p:nvSpPr>
        <p:spPr>
          <a:xfrm>
            <a:off x="628650" y="3425361"/>
            <a:ext cx="28488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Before: '   Hello World!   '  </a:t>
            </a:r>
          </a:p>
          <a:p>
            <a:r>
              <a:rPr lang="en-US" sz="1800" dirty="0"/>
              <a:t>After: 'Hello World!'</a:t>
            </a:r>
          </a:p>
        </p:txBody>
      </p:sp>
    </p:spTree>
    <p:extLst>
      <p:ext uri="{BB962C8B-B14F-4D97-AF65-F5344CB8AC3E}">
        <p14:creationId xmlns:p14="http://schemas.microsoft.com/office/powerpoint/2010/main" val="3644085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7E28-E200-55CE-F7F9-49494010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Reversing a String Using a Loop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19A6C9-3121-E3DC-2A0D-D3127F04055F}"/>
              </a:ext>
            </a:extLst>
          </p:cNvPr>
          <p:cNvSpPr txBox="1"/>
          <p:nvPr/>
        </p:nvSpPr>
        <p:spPr>
          <a:xfrm>
            <a:off x="6861294" y="3540643"/>
            <a:ext cx="194155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endParaRPr lang="en-US" sz="1800" dirty="0"/>
          </a:p>
          <a:p>
            <a:r>
              <a:rPr lang="en-US" sz="1800" dirty="0"/>
              <a:t>Reversed: </a:t>
            </a:r>
            <a:r>
              <a:rPr lang="en-US" sz="1800" dirty="0" err="1"/>
              <a:t>aytidA</a:t>
            </a:r>
            <a:endParaRPr lang="en-US" sz="18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8895B0D-D0F8-2A6B-FF35-17BFCB7D30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384" y="994901"/>
            <a:ext cx="5933693" cy="414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88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8BE6C-8C36-FE28-AFCE-9CB47CE7F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in String Extraction and Modification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49DCD7-A96D-26AA-9949-4D6CAF3A8CDD}"/>
              </a:ext>
            </a:extLst>
          </p:cNvPr>
          <p:cNvSpPr txBox="1"/>
          <p:nvPr/>
        </p:nvSpPr>
        <p:spPr>
          <a:xfrm>
            <a:off x="417548" y="1378602"/>
            <a:ext cx="605258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Accessing Index Out of Bounds (StringIndexOutOfBoundsException)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0BDF00-F2E4-84D5-9A1D-7DF384706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84" y="1537124"/>
            <a:ext cx="7921974" cy="17428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26580B-A22C-9D88-17E8-26BD2D92095E}"/>
              </a:ext>
            </a:extLst>
          </p:cNvPr>
          <p:cNvSpPr txBox="1"/>
          <p:nvPr/>
        </p:nvSpPr>
        <p:spPr>
          <a:xfrm>
            <a:off x="350874" y="3368015"/>
            <a:ext cx="133172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1CBAF2-1415-0F91-9B17-1D8A6A5D6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283" y="3368015"/>
            <a:ext cx="4085117" cy="174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03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EA443-BCE9-5224-F8B2-96B3F5A8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D70CA-B3D5-A174-7BE3-7D0427D66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in String Extraction and Modification (Contd.)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75E9B-AC19-3357-A124-26E397EEFE4F}"/>
              </a:ext>
            </a:extLst>
          </p:cNvPr>
          <p:cNvSpPr txBox="1"/>
          <p:nvPr/>
        </p:nvSpPr>
        <p:spPr>
          <a:xfrm>
            <a:off x="454542" y="1432461"/>
            <a:ext cx="45773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❌ </a:t>
            </a:r>
            <a:r>
              <a:rPr lang="en-IN" sz="1200" b="1" dirty="0"/>
              <a:t>Forgetting to Assign Modified Strings</a:t>
            </a:r>
            <a:endParaRPr lang="en-IN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471A28-F204-C145-B344-DE9E98C172BF}"/>
              </a:ext>
            </a:extLst>
          </p:cNvPr>
          <p:cNvSpPr txBox="1"/>
          <p:nvPr/>
        </p:nvSpPr>
        <p:spPr>
          <a:xfrm>
            <a:off x="433584" y="3434041"/>
            <a:ext cx="12838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✅ </a:t>
            </a:r>
            <a:r>
              <a:rPr lang="en-IN" sz="1200" b="1" dirty="0"/>
              <a:t>Solution:</a:t>
            </a:r>
            <a:endParaRPr lang="en-IN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B39705-B41C-B15A-6268-14EDF56BC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57" y="3593530"/>
            <a:ext cx="7207751" cy="12761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08B949-8B85-C801-410A-4BF0263C2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70" y="1597504"/>
            <a:ext cx="6945923" cy="194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204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4247E-816E-F468-2764-AD21049B3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Comparing Strings Using == vs equals()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3D64B3-F2A8-1605-191A-6DDF8A417FBD}"/>
              </a:ext>
            </a:extLst>
          </p:cNvPr>
          <p:cNvSpPr txBox="1"/>
          <p:nvPr/>
        </p:nvSpPr>
        <p:spPr>
          <a:xfrm>
            <a:off x="628650" y="1129517"/>
            <a:ext cx="4576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Using == (Compares Memory References, Not Values):</a:t>
            </a:r>
            <a:endParaRPr lang="en-IN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C40517-E072-026C-E272-341824C00B96}"/>
              </a:ext>
            </a:extLst>
          </p:cNvPr>
          <p:cNvSpPr txBox="1"/>
          <p:nvPr/>
        </p:nvSpPr>
        <p:spPr>
          <a:xfrm>
            <a:off x="628650" y="3197537"/>
            <a:ext cx="4576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Using .equals() (Compares Actual Values):</a:t>
            </a:r>
            <a:endParaRPr lang="en-IN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43C853-25B9-1561-F9B9-93D939AC0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474535"/>
            <a:ext cx="7294178" cy="139512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993449-BC61-5E73-D749-10670D6B0494}"/>
              </a:ext>
            </a:extLst>
          </p:cNvPr>
          <p:cNvSpPr txBox="1"/>
          <p:nvPr/>
        </p:nvSpPr>
        <p:spPr>
          <a:xfrm>
            <a:off x="7922828" y="3721971"/>
            <a:ext cx="6254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Output:</a:t>
            </a:r>
            <a:br>
              <a:rPr lang="en-US" sz="1050" dirty="0"/>
            </a:br>
            <a:br>
              <a:rPr lang="en-US" sz="1050" dirty="0"/>
            </a:br>
            <a:r>
              <a:rPr lang="en-US" sz="1050" dirty="0"/>
              <a:t>false  </a:t>
            </a:r>
          </a:p>
          <a:p>
            <a:r>
              <a:rPr lang="en-US" sz="1050" dirty="0"/>
              <a:t>true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39377E-FAE6-A2D8-9E7D-07D49B320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592" y="1343428"/>
            <a:ext cx="6629400" cy="189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8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0B97-B2E3-A892-7E4A-D9FC1F381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Case-Insensitive Comparison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56CEE-1A98-8D9E-8F1B-56E3B2F7D76E}"/>
              </a:ext>
            </a:extLst>
          </p:cNvPr>
          <p:cNvSpPr txBox="1"/>
          <p:nvPr/>
        </p:nvSpPr>
        <p:spPr>
          <a:xfrm>
            <a:off x="655027" y="1575747"/>
            <a:ext cx="5227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Using equalsIgnoreCase() for case-insensitive comparison: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3088AE-643F-545F-F96C-DE95FBF62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46" y="1985492"/>
            <a:ext cx="7772400" cy="2579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DC0B-800C-2990-DBFA-F9601DE36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3626" y="273844"/>
            <a:ext cx="7708673" cy="93502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Comparing Strings Lexicographically (compareTo())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64267-7216-E50B-61F4-811BA66B0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4969718" cy="1304002"/>
          </a:xfrm>
        </p:spPr>
        <p:txBody>
          <a:bodyPr/>
          <a:lstStyle/>
          <a:p>
            <a:r>
              <a:rPr lang="en-IN" b="1" dirty="0"/>
              <a:t>Returns:</a:t>
            </a:r>
            <a:endParaRPr lang="en-IN" dirty="0"/>
          </a:p>
          <a:p>
            <a:pPr lvl="1"/>
            <a:r>
              <a:rPr lang="en-IN" dirty="0"/>
              <a:t>0 → Strings are equal</a:t>
            </a:r>
          </a:p>
          <a:p>
            <a:pPr lvl="1"/>
            <a:r>
              <a:rPr lang="en-IN" dirty="0"/>
              <a:t>&lt; 0 → First string comes before the second</a:t>
            </a:r>
          </a:p>
          <a:p>
            <a:pPr lvl="1"/>
            <a:r>
              <a:rPr lang="en-IN" dirty="0"/>
              <a:t>&gt; 0 → First string comes after the second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0E81EA-74BF-F21E-679B-A4BFD2DFEFCD}"/>
              </a:ext>
            </a:extLst>
          </p:cNvPr>
          <p:cNvSpPr txBox="1"/>
          <p:nvPr/>
        </p:nvSpPr>
        <p:spPr>
          <a:xfrm>
            <a:off x="7221894" y="2057400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  <a:br>
              <a:rPr lang="en-US" sz="1800" dirty="0"/>
            </a:br>
            <a:r>
              <a:rPr lang="en-US" sz="1800" dirty="0"/>
              <a:t>-22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F6772A-B01E-0ADB-54A9-F7D7DB351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842724"/>
            <a:ext cx="7772400" cy="216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525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CA489-CF76-634E-E5FD-A1D7DDC9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6258" y="240224"/>
            <a:ext cx="6616042" cy="92989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Checking if a String Starts or Ends with a Specific Text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35059-34A0-1544-0928-3EA8AA021532}"/>
              </a:ext>
            </a:extLst>
          </p:cNvPr>
          <p:cNvSpPr txBox="1"/>
          <p:nvPr/>
        </p:nvSpPr>
        <p:spPr>
          <a:xfrm>
            <a:off x="647939" y="1550975"/>
            <a:ext cx="4576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Using startsWith() and endsWith() Methods: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EA7951-8A82-5C00-3A01-FD4E1254C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39" y="1999902"/>
            <a:ext cx="7772400" cy="228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566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5A0B5-A88E-D7D3-8E75-D08192C8E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Searching for a Substring Using contains()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7D1F06-7068-C6A9-20E5-50E253060E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281" y="1635124"/>
            <a:ext cx="8677019" cy="254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49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EAD03-3CC5-D575-C1E9-D388642D8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Finding the Position of a Substring (indexOf() &amp; lastIndexOf())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023600-71EA-E192-92F8-A3117B179130}"/>
              </a:ext>
            </a:extLst>
          </p:cNvPr>
          <p:cNvSpPr txBox="1"/>
          <p:nvPr/>
        </p:nvSpPr>
        <p:spPr>
          <a:xfrm>
            <a:off x="628650" y="1331191"/>
            <a:ext cx="4576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Finding the first occurrence of a word:</a:t>
            </a:r>
            <a:endParaRPr lang="en-IN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8DDF77-BC7E-B386-A988-8F45B15151CD}"/>
              </a:ext>
            </a:extLst>
          </p:cNvPr>
          <p:cNvSpPr txBox="1"/>
          <p:nvPr/>
        </p:nvSpPr>
        <p:spPr>
          <a:xfrm>
            <a:off x="628650" y="3535310"/>
            <a:ext cx="4576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Finding the last occurrence of a character:</a:t>
            </a:r>
            <a:endParaRPr lang="en-IN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8253B-CBF0-0540-36A9-E04D06E11541}"/>
              </a:ext>
            </a:extLst>
          </p:cNvPr>
          <p:cNvSpPr txBox="1"/>
          <p:nvPr/>
        </p:nvSpPr>
        <p:spPr>
          <a:xfrm>
            <a:off x="6338151" y="2854116"/>
            <a:ext cx="21771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  <a:p>
            <a:endParaRPr lang="en-US" dirty="0"/>
          </a:p>
          <a:p>
            <a:r>
              <a:rPr lang="en-US" dirty="0"/>
              <a:t>Position: 6  </a:t>
            </a:r>
          </a:p>
          <a:p>
            <a:r>
              <a:rPr lang="en-US" dirty="0"/>
              <a:t>Last occurrence of 'a’: 11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764C2F-9DE7-E20E-5EEA-13E2F3103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31" y="1538204"/>
            <a:ext cx="4997720" cy="19301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D5EF0F-DCA5-78DF-EFDF-8B4A8C32E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31" y="3673809"/>
            <a:ext cx="5880196" cy="133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031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2B879-D12D-7B0F-D79B-F4E457C8C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3905A-40AF-C91E-D6FE-9D2DB8BDC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String Comparison and Searching (Contd.)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02602A-9ED6-7C82-C06B-4F5ECD0CD590}"/>
              </a:ext>
            </a:extLst>
          </p:cNvPr>
          <p:cNvSpPr txBox="1"/>
          <p:nvPr/>
        </p:nvSpPr>
        <p:spPr>
          <a:xfrm>
            <a:off x="444370" y="3164951"/>
            <a:ext cx="210638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endParaRPr lang="en-IN" sz="10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A33A03-457C-7189-552E-CE1AE3FD752A}"/>
              </a:ext>
            </a:extLst>
          </p:cNvPr>
          <p:cNvSpPr txBox="1"/>
          <p:nvPr/>
        </p:nvSpPr>
        <p:spPr>
          <a:xfrm>
            <a:off x="444371" y="1268016"/>
            <a:ext cx="457666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Not Handling Case Sensitivity Properly</a:t>
            </a:r>
            <a:endParaRPr lang="en-IN" sz="10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E65491-185D-07ED-B0EB-20A3208D1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0" y="1511684"/>
            <a:ext cx="7772400" cy="16835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3930F4-55E1-94E1-78F2-4FE60B86C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438935"/>
            <a:ext cx="6168231" cy="169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301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352</Words>
  <Application>Microsoft Macintosh PowerPoint</Application>
  <PresentationFormat>On-screen Show (16:9)</PresentationFormat>
  <Paragraphs>74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Simple Light</vt:lpstr>
      <vt:lpstr>PowerPoint Presentation</vt:lpstr>
      <vt:lpstr>Extracting Characters from a String</vt:lpstr>
      <vt:lpstr>Extracting First and Last Characters</vt:lpstr>
      <vt:lpstr>Modifying Strings – Changing Case</vt:lpstr>
      <vt:lpstr>Replacing Characters in a String</vt:lpstr>
      <vt:lpstr>Removing Extra Spaces from a String</vt:lpstr>
      <vt:lpstr>Reversing a String Using a Loop</vt:lpstr>
      <vt:lpstr>Common Mistakes in String Extraction and Modification</vt:lpstr>
      <vt:lpstr>Common Mistakes in String Extraction and Modification (Contd.)</vt:lpstr>
      <vt:lpstr>Comparing Strings Using == vs equals()</vt:lpstr>
      <vt:lpstr>Case-Insensitive Comparison</vt:lpstr>
      <vt:lpstr>Comparing Strings Lexicographically (compareTo())</vt:lpstr>
      <vt:lpstr>Checking if a String Starts or Ends with a Specific Text</vt:lpstr>
      <vt:lpstr>Searching for a Substring Using contains()</vt:lpstr>
      <vt:lpstr>Finding the Position of a Substring (indexOf() &amp; lastIndexOf())</vt:lpstr>
      <vt:lpstr>Common Mistakes with String Comparison and Searching (Contd.)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24</cp:revision>
  <dcterms:modified xsi:type="dcterms:W3CDTF">2025-06-01T09:50:08Z</dcterms:modified>
</cp:coreProperties>
</file>