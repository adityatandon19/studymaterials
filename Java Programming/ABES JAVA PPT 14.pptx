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407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77" r:id="rId15"/>
    <p:sldId id="40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59"/>
            <p14:sldId id="260"/>
            <p14:sldId id="261"/>
            <p14:sldId id="262"/>
            <p14:sldId id="263"/>
            <p14:sldId id="264"/>
            <p14:sldId id="268"/>
            <p14:sldId id="269"/>
            <p14:sldId id="270"/>
            <p14:sldId id="271"/>
            <p14:sldId id="272"/>
            <p14:sldId id="273"/>
            <p14:sldId id="277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C0768-4B80-E347-B797-0A620BA773A9}" v="1" dt="2025-07-21T16:31:50.48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6301"/>
  </p:normalViewPr>
  <p:slideViewPr>
    <p:cSldViewPr snapToGrid="0">
      <p:cViewPr varScale="1">
        <p:scale>
          <a:sx n="157" d="100"/>
          <a:sy n="157" d="100"/>
        </p:scale>
        <p:origin x="84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392059" y="2311125"/>
            <a:ext cx="6359881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Exceptions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9400-264D-B941-0519-E2D2F2E5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67228"/>
          </a:xfrm>
        </p:spPr>
        <p:txBody>
          <a:bodyPr>
            <a:normAutofit/>
          </a:bodyPr>
          <a:lstStyle/>
          <a:p>
            <a:r>
              <a:rPr lang="en-IN" b="1" dirty="0"/>
              <a:t>What is an Exception?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DCA8-5903-256D-715F-7247EF74B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2361"/>
            <a:ext cx="7886700" cy="891381"/>
          </a:xfrm>
        </p:spPr>
        <p:txBody>
          <a:bodyPr>
            <a:normAutofit/>
          </a:bodyPr>
          <a:lstStyle/>
          <a:p>
            <a:r>
              <a:rPr lang="en-IN" sz="2000" dirty="0"/>
              <a:t>An </a:t>
            </a:r>
            <a:r>
              <a:rPr lang="en-IN" sz="2000" b="1" dirty="0"/>
              <a:t>unexpected event</a:t>
            </a:r>
            <a:r>
              <a:rPr lang="en-IN" sz="2000" dirty="0"/>
              <a:t> that occurs during program execution.</a:t>
            </a:r>
          </a:p>
          <a:p>
            <a:r>
              <a:rPr lang="en-IN" sz="2000" dirty="0"/>
              <a:t>It </a:t>
            </a:r>
            <a:r>
              <a:rPr lang="en-IN" sz="2000" b="1" dirty="0"/>
              <a:t>disrupts the normal flow</a:t>
            </a:r>
            <a:r>
              <a:rPr lang="en-IN" sz="2000" dirty="0"/>
              <a:t> of the program.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EA32C-2466-0662-9244-7255CA69AA01}"/>
              </a:ext>
            </a:extLst>
          </p:cNvPr>
          <p:cNvSpPr txBox="1"/>
          <p:nvPr/>
        </p:nvSpPr>
        <p:spPr>
          <a:xfrm>
            <a:off x="628650" y="2260600"/>
            <a:ext cx="52218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Do Exceptions Occur?</a:t>
            </a:r>
            <a:endParaRPr lang="en-IN" dirty="0"/>
          </a:p>
          <a:p>
            <a:r>
              <a:rPr lang="en-IN" dirty="0"/>
              <a:t>❌ </a:t>
            </a:r>
            <a:r>
              <a:rPr lang="en-IN" b="1" dirty="0"/>
              <a:t>Invalid user input</a:t>
            </a:r>
            <a:r>
              <a:rPr lang="en-IN" dirty="0"/>
              <a:t> (e.g., dividing by zero)</a:t>
            </a:r>
          </a:p>
          <a:p>
            <a:r>
              <a:rPr lang="en-IN" dirty="0"/>
              <a:t>❌ </a:t>
            </a:r>
            <a:r>
              <a:rPr lang="en-IN" b="1" dirty="0"/>
              <a:t>File not found</a:t>
            </a:r>
            <a:r>
              <a:rPr lang="en-IN" dirty="0"/>
              <a:t> (e.g., accessing a missing file)</a:t>
            </a:r>
          </a:p>
          <a:p>
            <a:r>
              <a:rPr lang="en-IN" dirty="0"/>
              <a:t>❌ </a:t>
            </a:r>
            <a:r>
              <a:rPr lang="en-IN" b="1" dirty="0"/>
              <a:t>Network issues</a:t>
            </a:r>
            <a:r>
              <a:rPr lang="en-IN" dirty="0"/>
              <a:t> (e.g., connection failures)</a:t>
            </a:r>
          </a:p>
          <a:p>
            <a:r>
              <a:rPr lang="en-IN" dirty="0"/>
              <a:t>❌ </a:t>
            </a:r>
            <a:r>
              <a:rPr lang="en-IN" b="1" dirty="0"/>
              <a:t>Null references</a:t>
            </a:r>
            <a:r>
              <a:rPr lang="en-IN" dirty="0"/>
              <a:t> (e.g., accessing methods on null objects)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96A2F-166B-A4A7-213E-6E0B1EA34ADF}"/>
              </a:ext>
            </a:extLst>
          </p:cNvPr>
          <p:cNvSpPr txBox="1"/>
          <p:nvPr/>
        </p:nvSpPr>
        <p:spPr>
          <a:xfrm>
            <a:off x="1657350" y="3535448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(Dividing by Zero):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92E27-E0CC-D627-DB16-1E78B2D7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812447"/>
            <a:ext cx="5829300" cy="131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BB36-2821-6B85-BCB3-4EFD6AFC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7725"/>
          </a:xfrm>
        </p:spPr>
        <p:txBody>
          <a:bodyPr>
            <a:normAutofit/>
          </a:bodyPr>
          <a:lstStyle/>
          <a:p>
            <a:r>
              <a:rPr lang="en-IN" b="1" dirty="0"/>
              <a:t>Difference Between Errors and Exceptions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92873D-D69D-AA9B-0607-6C7471534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642303"/>
              </p:ext>
            </p:extLst>
          </p:nvPr>
        </p:nvGraphicFramePr>
        <p:xfrm>
          <a:off x="1033252" y="1202532"/>
          <a:ext cx="6711633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360">
                  <a:extLst>
                    <a:ext uri="{9D8B030D-6E8A-4147-A177-3AD203B41FA5}">
                      <a16:colId xmlns:a16="http://schemas.microsoft.com/office/drawing/2014/main" val="609993690"/>
                    </a:ext>
                  </a:extLst>
                </a:gridCol>
                <a:gridCol w="2815273">
                  <a:extLst>
                    <a:ext uri="{9D8B030D-6E8A-4147-A177-3AD203B41FA5}">
                      <a16:colId xmlns:a16="http://schemas.microsoft.com/office/drawing/2014/main" val="27758840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35022294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Error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5281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Critical system issue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Recoverable issue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21466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Occurrence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JVM-related (OutOfMemoryError)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Application-related (IOException)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65676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Handling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Cannot be caught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Can be caught using try-catch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177788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7AE785-3852-D052-0322-354C4278B2BD}"/>
              </a:ext>
            </a:extLst>
          </p:cNvPr>
          <p:cNvSpPr txBox="1"/>
          <p:nvPr/>
        </p:nvSpPr>
        <p:spPr>
          <a:xfrm>
            <a:off x="228600" y="2433251"/>
            <a:ext cx="3086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of Error (Not Recoverable):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4797A-DA9E-5B3C-EF35-1110759D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2710250"/>
            <a:ext cx="4478511" cy="1417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C24402-DFD2-46C5-BFA9-E1384AA2D7E7}"/>
              </a:ext>
            </a:extLst>
          </p:cNvPr>
          <p:cNvSpPr txBox="1"/>
          <p:nvPr/>
        </p:nvSpPr>
        <p:spPr>
          <a:xfrm>
            <a:off x="4572000" y="2454999"/>
            <a:ext cx="3086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of Exception (Recoverable):</a:t>
            </a:r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E8870E-2389-9275-693C-FA30B90E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661" y="2731998"/>
            <a:ext cx="4664235" cy="18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10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80F3-F774-360B-C9ED-32F39FDE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Java’s Exception Handling Mechanism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E160C0-A2A1-CDA7-792C-C91D1007D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487425"/>
              </p:ext>
            </p:extLst>
          </p:nvPr>
        </p:nvGraphicFramePr>
        <p:xfrm>
          <a:off x="628650" y="1737360"/>
          <a:ext cx="6346471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023">
                  <a:extLst>
                    <a:ext uri="{9D8B030D-6E8A-4147-A177-3AD203B41FA5}">
                      <a16:colId xmlns:a16="http://schemas.microsoft.com/office/drawing/2014/main" val="181137638"/>
                    </a:ext>
                  </a:extLst>
                </a:gridCol>
                <a:gridCol w="5231448">
                  <a:extLst>
                    <a:ext uri="{9D8B030D-6E8A-4147-A177-3AD203B41FA5}">
                      <a16:colId xmlns:a16="http://schemas.microsoft.com/office/drawing/2014/main" val="7010293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Keyword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63253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Defines a block where exceptions may occur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1718929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catch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Handles the exception thrown in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677928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finally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Executes after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try-catch</a:t>
                      </a:r>
                      <a:r>
                        <a:rPr lang="en-US" sz="1400" dirty="0"/>
                        <a:t>, whether an exception occurs or not.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7975317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throw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to explicitly throw an exception.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4058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throws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Declares exceptions that a method might throw.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41124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5B4375-3C03-34FF-7E1A-B91043ED96DD}"/>
              </a:ext>
            </a:extLst>
          </p:cNvPr>
          <p:cNvSpPr txBox="1"/>
          <p:nvPr/>
        </p:nvSpPr>
        <p:spPr>
          <a:xfrm>
            <a:off x="628650" y="118011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Java handles exceptions using five keywords: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4518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2ADE-9099-2911-39A5-427DA34E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0861"/>
          </a:xfrm>
        </p:spPr>
        <p:txBody>
          <a:bodyPr>
            <a:normAutofit/>
          </a:bodyPr>
          <a:lstStyle/>
          <a:p>
            <a:r>
              <a:rPr lang="en-IN" b="1" dirty="0"/>
              <a:t>Using try and catch Blocks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F832E-DD9A-419F-41B1-03879B5670AA}"/>
              </a:ext>
            </a:extLst>
          </p:cNvPr>
          <p:cNvSpPr txBox="1"/>
          <p:nvPr/>
        </p:nvSpPr>
        <p:spPr>
          <a:xfrm>
            <a:off x="342900" y="1268016"/>
            <a:ext cx="3733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</a:t>
            </a:r>
            <a:r>
              <a:rPr lang="en-IN" sz="1200" dirty="0"/>
              <a:t> Handling an </a:t>
            </a:r>
            <a:r>
              <a:rPr lang="en-IN" sz="1200" b="1" dirty="0"/>
              <a:t>ArithmeticException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3F468-BCBF-9F6B-A3D5-4EAC40239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545015"/>
            <a:ext cx="5829300" cy="3026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292A3-09F0-539A-1E1C-45CEB940BCF1}"/>
              </a:ext>
            </a:extLst>
          </p:cNvPr>
          <p:cNvSpPr txBox="1"/>
          <p:nvPr/>
        </p:nvSpPr>
        <p:spPr>
          <a:xfrm>
            <a:off x="6337300" y="2514600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Cannot divide by zero!</a:t>
            </a:r>
          </a:p>
        </p:txBody>
      </p:sp>
    </p:spTree>
    <p:extLst>
      <p:ext uri="{BB962C8B-B14F-4D97-AF65-F5344CB8AC3E}">
        <p14:creationId xmlns:p14="http://schemas.microsoft.com/office/powerpoint/2010/main" val="78295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B04B-07D6-F139-1EDF-9739128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66585"/>
          </a:xfrm>
        </p:spPr>
        <p:txBody>
          <a:bodyPr>
            <a:normAutofit/>
          </a:bodyPr>
          <a:lstStyle/>
          <a:p>
            <a:r>
              <a:rPr lang="en-IN" b="1" dirty="0"/>
              <a:t>Using finally Block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F299B-2A68-ADDE-4D55-57CBB9A54A7F}"/>
              </a:ext>
            </a:extLst>
          </p:cNvPr>
          <p:cNvSpPr txBox="1"/>
          <p:nvPr/>
        </p:nvSpPr>
        <p:spPr>
          <a:xfrm>
            <a:off x="156800" y="1483881"/>
            <a:ext cx="2270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The finally block always executes, even if an exception occurs.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5E99CF-4000-00B4-1BAE-E4F8B280C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006" y="817296"/>
            <a:ext cx="6477994" cy="393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95595-3AD3-61EA-7E9E-AB258761986C}"/>
              </a:ext>
            </a:extLst>
          </p:cNvPr>
          <p:cNvSpPr txBox="1"/>
          <p:nvPr/>
        </p:nvSpPr>
        <p:spPr>
          <a:xfrm>
            <a:off x="315089" y="2699369"/>
            <a:ext cx="1736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Exception caught.  </a:t>
            </a:r>
          </a:p>
          <a:p>
            <a:r>
              <a:rPr lang="en-US" sz="1200" dirty="0"/>
              <a:t>Finally block executed.</a:t>
            </a:r>
          </a:p>
        </p:txBody>
      </p:sp>
    </p:spTree>
    <p:extLst>
      <p:ext uri="{BB962C8B-B14F-4D97-AF65-F5344CB8AC3E}">
        <p14:creationId xmlns:p14="http://schemas.microsoft.com/office/powerpoint/2010/main" val="272202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FF9D-BE64-51F5-5096-4063F4CD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750" y="342900"/>
            <a:ext cx="7359549" cy="960037"/>
          </a:xfrm>
        </p:spPr>
        <p:txBody>
          <a:bodyPr>
            <a:noAutofit/>
          </a:bodyPr>
          <a:lstStyle/>
          <a:p>
            <a:r>
              <a:rPr lang="en-IN" sz="2400" b="1" dirty="0"/>
              <a:t>Handling Multiple Exceptions in One catch Block (Java 7+)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1089-ECD9-66D3-4CFE-807E9AD97997}"/>
              </a:ext>
            </a:extLst>
          </p:cNvPr>
          <p:cNvSpPr txBox="1"/>
          <p:nvPr/>
        </p:nvSpPr>
        <p:spPr>
          <a:xfrm>
            <a:off x="311701" y="1201406"/>
            <a:ext cx="53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</a:t>
            </a:r>
            <a:r>
              <a:rPr lang="en-IN" sz="1200" dirty="0"/>
              <a:t> Handling multiple exceptions using a single catch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CCD38-1833-F4D5-AAC3-E02C95F4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9" y="1493072"/>
            <a:ext cx="6708017" cy="2992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60A66-6A49-7A29-9246-E146122E359C}"/>
              </a:ext>
            </a:extLst>
          </p:cNvPr>
          <p:cNvSpPr txBox="1"/>
          <p:nvPr/>
        </p:nvSpPr>
        <p:spPr>
          <a:xfrm>
            <a:off x="4769469" y="4477434"/>
            <a:ext cx="3946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Exception: java.lang.ArrayIndexOutOfBoundsException</a:t>
            </a:r>
          </a:p>
        </p:txBody>
      </p:sp>
    </p:spTree>
    <p:extLst>
      <p:ext uri="{BB962C8B-B14F-4D97-AF65-F5344CB8AC3E}">
        <p14:creationId xmlns:p14="http://schemas.microsoft.com/office/powerpoint/2010/main" val="413587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7213-B3CE-146C-3073-AFE47C96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31390"/>
          </a:xfrm>
        </p:spPr>
        <p:txBody>
          <a:bodyPr>
            <a:normAutofit/>
          </a:bodyPr>
          <a:lstStyle/>
          <a:p>
            <a:r>
              <a:rPr lang="en-IN" b="1" dirty="0"/>
              <a:t>Types of Exceptions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E3958-B325-2783-44C2-90E1F9BC7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775534"/>
              </p:ext>
            </p:extLst>
          </p:nvPr>
        </p:nvGraphicFramePr>
        <p:xfrm>
          <a:off x="304800" y="1332281"/>
          <a:ext cx="8170546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1220960708"/>
                    </a:ext>
                  </a:extLst>
                </a:gridCol>
                <a:gridCol w="3447098">
                  <a:extLst>
                    <a:ext uri="{9D8B030D-6E8A-4147-A177-3AD203B41FA5}">
                      <a16:colId xmlns:a16="http://schemas.microsoft.com/office/drawing/2014/main" val="1392809928"/>
                    </a:ext>
                  </a:extLst>
                </a:gridCol>
                <a:gridCol w="2786698">
                  <a:extLst>
                    <a:ext uri="{9D8B030D-6E8A-4147-A177-3AD203B41FA5}">
                      <a16:colId xmlns:a16="http://schemas.microsoft.com/office/drawing/2014/main" val="264648855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Description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Examples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944914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Checked Exceptions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Must be handled using try-catch or throws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IOException, SQLException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97042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Unchecked Exceptions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Occur at runtime and do not require explicit handling.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NullPointerException, ArithmeticException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76786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5DA363-9F8C-5B54-5D71-9C05286C599F}"/>
              </a:ext>
            </a:extLst>
          </p:cNvPr>
          <p:cNvSpPr txBox="1"/>
          <p:nvPr/>
        </p:nvSpPr>
        <p:spPr>
          <a:xfrm>
            <a:off x="304800" y="105528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b="1" dirty="0"/>
              <a:t>Java exceptions are categorized into two types: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082D7-84B9-DC8D-4965-AB936ABD2AF4}"/>
              </a:ext>
            </a:extLst>
          </p:cNvPr>
          <p:cNvSpPr txBox="1"/>
          <p:nvPr/>
        </p:nvSpPr>
        <p:spPr>
          <a:xfrm>
            <a:off x="215900" y="23293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b="1" dirty="0"/>
              <a:t>Checked Exceptions (Compile-time Errors):</a:t>
            </a:r>
            <a:endParaRPr lang="en-IN" sz="120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1200" dirty="0"/>
              <a:t>Java </a:t>
            </a:r>
            <a:r>
              <a:rPr lang="en-IN" sz="1200" b="1" dirty="0"/>
              <a:t>forces</a:t>
            </a:r>
            <a:r>
              <a:rPr lang="en-IN" sz="1200" dirty="0"/>
              <a:t> handling these exceptions.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0F21D8-0BA2-4A62-6C9C-E4A7B35D5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2" y="2734159"/>
            <a:ext cx="4719588" cy="1516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245B4-3BD3-58E1-2D60-D53A9DBF518A}"/>
              </a:ext>
            </a:extLst>
          </p:cNvPr>
          <p:cNvSpPr txBox="1"/>
          <p:nvPr/>
        </p:nvSpPr>
        <p:spPr>
          <a:xfrm>
            <a:off x="4787900" y="2351898"/>
            <a:ext cx="3543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Unchecked Exceptions (Runtime Errors):</a:t>
            </a:r>
            <a:endParaRPr lang="en-IN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FBCBCD-3539-99BA-89C7-C07B1F16E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2628898"/>
            <a:ext cx="4387850" cy="159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1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3EC2-F9C7-E77E-7238-09788B9F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Common Java Exception Types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79A27-E610-584B-4769-B11304ED6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099700"/>
              </p:ext>
            </p:extLst>
          </p:nvPr>
        </p:nvGraphicFramePr>
        <p:xfrm>
          <a:off x="628651" y="1369219"/>
          <a:ext cx="6313806" cy="1946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4148">
                  <a:extLst>
                    <a:ext uri="{9D8B030D-6E8A-4147-A177-3AD203B41FA5}">
                      <a16:colId xmlns:a16="http://schemas.microsoft.com/office/drawing/2014/main" val="3852625187"/>
                    </a:ext>
                  </a:extLst>
                </a:gridCol>
                <a:gridCol w="938848">
                  <a:extLst>
                    <a:ext uri="{9D8B030D-6E8A-4147-A177-3AD203B41FA5}">
                      <a16:colId xmlns:a16="http://schemas.microsoft.com/office/drawing/2014/main" val="911143723"/>
                    </a:ext>
                  </a:extLst>
                </a:gridCol>
                <a:gridCol w="2670810">
                  <a:extLst>
                    <a:ext uri="{9D8B030D-6E8A-4147-A177-3AD203B41FA5}">
                      <a16:colId xmlns:a16="http://schemas.microsoft.com/office/drawing/2014/main" val="125274264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Cause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879870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ArithmeticException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Division by zero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17233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NullPointerException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Accessing a null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24476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ArrayIndexOutOfBoundsException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Accessing an invalid array index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097711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FileNotFoundException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File does not exist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206248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IOException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Issues during input/output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860969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SQLException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Errors in database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14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1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A671-C903-7000-219F-E931D52A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Checked Exceptions with try-catch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CB027-184D-AB67-8BC7-F50F80051360}"/>
              </a:ext>
            </a:extLst>
          </p:cNvPr>
          <p:cNvSpPr txBox="1"/>
          <p:nvPr/>
        </p:nvSpPr>
        <p:spPr>
          <a:xfrm>
            <a:off x="279400" y="1268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Example: Handling IOException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1BF5-4B63-2011-3874-53BAE3BD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000" y="1583391"/>
            <a:ext cx="5829300" cy="31150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A525D5-3D45-64B6-1E7B-62ED10AAA7E3}"/>
              </a:ext>
            </a:extLst>
          </p:cNvPr>
          <p:cNvSpPr txBox="1"/>
          <p:nvPr/>
        </p:nvSpPr>
        <p:spPr>
          <a:xfrm>
            <a:off x="70785" y="3252237"/>
            <a:ext cx="297068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File not found: file.txt (No such file or directory)</a:t>
            </a:r>
          </a:p>
        </p:txBody>
      </p:sp>
    </p:spTree>
    <p:extLst>
      <p:ext uri="{BB962C8B-B14F-4D97-AF65-F5344CB8AC3E}">
        <p14:creationId xmlns:p14="http://schemas.microsoft.com/office/powerpoint/2010/main" val="72771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6E2C-9871-1361-4869-E3D8632A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Unchecked Exceptions with try-catch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6B6DA-8222-9FEC-733C-8778D66A9EAA}"/>
              </a:ext>
            </a:extLst>
          </p:cNvPr>
          <p:cNvSpPr txBox="1"/>
          <p:nvPr/>
        </p:nvSpPr>
        <p:spPr>
          <a:xfrm>
            <a:off x="254000" y="126801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Example: Handling ArrayIndexOutOfBoundsException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CFF85-F70B-8698-9DC2-5F019D47D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" y="1545016"/>
            <a:ext cx="5829300" cy="2752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FCBCD-F17A-D1A0-E8B6-1139397A1535}"/>
              </a:ext>
            </a:extLst>
          </p:cNvPr>
          <p:cNvSpPr txBox="1"/>
          <p:nvPr/>
        </p:nvSpPr>
        <p:spPr>
          <a:xfrm>
            <a:off x="6096000" y="3429001"/>
            <a:ext cx="143020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Invalid array index: 5</a:t>
            </a:r>
          </a:p>
        </p:txBody>
      </p:sp>
    </p:spTree>
    <p:extLst>
      <p:ext uri="{BB962C8B-B14F-4D97-AF65-F5344CB8AC3E}">
        <p14:creationId xmlns:p14="http://schemas.microsoft.com/office/powerpoint/2010/main" val="378290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5304-63DC-EF97-F03C-41465E52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throws to Propagate Exceptions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CB7EF-87B9-CE35-A0B7-165E546865FF}"/>
              </a:ext>
            </a:extLst>
          </p:cNvPr>
          <p:cNvSpPr txBox="1"/>
          <p:nvPr/>
        </p:nvSpPr>
        <p:spPr>
          <a:xfrm>
            <a:off x="342900" y="1025641"/>
            <a:ext cx="6667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The throws keyword allows a method to delegate exception handling to the caller.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IN" sz="1200" b="1" dirty="0"/>
              <a:t>Example: </a:t>
            </a:r>
            <a:r>
              <a:rPr lang="en-IN" sz="1200" dirty="0"/>
              <a:t>Declaring an Exception in a Method Signature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23EC6-135B-EEE5-CEC6-6F00AF5B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390"/>
            <a:ext cx="5829300" cy="3491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F48A0F-86A2-D711-9C87-FB29B91F4616}"/>
              </a:ext>
            </a:extLst>
          </p:cNvPr>
          <p:cNvSpPr txBox="1"/>
          <p:nvPr/>
        </p:nvSpPr>
        <p:spPr>
          <a:xfrm>
            <a:off x="5829300" y="4117859"/>
            <a:ext cx="326563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Exception handled: file.txt (No such file or directory)</a:t>
            </a:r>
          </a:p>
        </p:txBody>
      </p:sp>
    </p:spTree>
    <p:extLst>
      <p:ext uri="{BB962C8B-B14F-4D97-AF65-F5344CB8AC3E}">
        <p14:creationId xmlns:p14="http://schemas.microsoft.com/office/powerpoint/2010/main" val="3608006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A146-20A7-9137-75E2-E9E22314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Using finally to Ensure Cleanup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2CC87-DE97-122B-692B-704178BC7CED}"/>
              </a:ext>
            </a:extLst>
          </p:cNvPr>
          <p:cNvSpPr txBox="1"/>
          <p:nvPr/>
        </p:nvSpPr>
        <p:spPr>
          <a:xfrm>
            <a:off x="380619" y="1141937"/>
            <a:ext cx="5325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The finally block always executes, even if an exception occurs.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IN" sz="1200" b="1" dirty="0"/>
              <a:t>Example: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6B4B5-23F0-C711-2C99-8E317ADF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761" y="1316022"/>
            <a:ext cx="5614239" cy="382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E3ED1-2296-788E-4C7E-41DFDC9D2A65}"/>
              </a:ext>
            </a:extLst>
          </p:cNvPr>
          <p:cNvSpPr txBox="1"/>
          <p:nvPr/>
        </p:nvSpPr>
        <p:spPr>
          <a:xfrm>
            <a:off x="603504" y="2660904"/>
            <a:ext cx="17668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File not found.  </a:t>
            </a:r>
          </a:p>
          <a:p>
            <a:r>
              <a:rPr lang="en-US" dirty="0"/>
              <a:t>Closing resources...</a:t>
            </a:r>
          </a:p>
        </p:txBody>
      </p:sp>
    </p:spTree>
    <p:extLst>
      <p:ext uri="{BB962C8B-B14F-4D97-AF65-F5344CB8AC3E}">
        <p14:creationId xmlns:p14="http://schemas.microsoft.com/office/powerpoint/2010/main" val="239394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6383-B15D-D807-28F8-E0DA3E01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Nested try Blocks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FDEF9-79E0-E657-1C4C-F9003674B39B}"/>
              </a:ext>
            </a:extLst>
          </p:cNvPr>
          <p:cNvSpPr txBox="1"/>
          <p:nvPr/>
        </p:nvSpPr>
        <p:spPr>
          <a:xfrm>
            <a:off x="547915" y="1105142"/>
            <a:ext cx="33597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A try block inside another try block is called a nested try block.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6A765-782B-0325-78EE-8C9E4896DD2D}"/>
              </a:ext>
            </a:extLst>
          </p:cNvPr>
          <p:cNvSpPr txBox="1"/>
          <p:nvPr/>
        </p:nvSpPr>
        <p:spPr>
          <a:xfrm>
            <a:off x="4167982" y="1029124"/>
            <a:ext cx="466431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Why Use Nested try Blocks?</a:t>
            </a:r>
            <a:endParaRPr lang="en-IN" sz="1050" dirty="0"/>
          </a:p>
          <a:p>
            <a:r>
              <a:rPr lang="en-IN" sz="1050" dirty="0"/>
              <a:t>✅ Handle </a:t>
            </a:r>
            <a:r>
              <a:rPr lang="en-IN" sz="1050" b="1" dirty="0"/>
              <a:t>specific exceptions inside specific sections</a:t>
            </a:r>
            <a:r>
              <a:rPr lang="en-IN" sz="1050" dirty="0"/>
              <a:t> of the code.</a:t>
            </a:r>
          </a:p>
          <a:p>
            <a:r>
              <a:rPr lang="en-IN" sz="1050" dirty="0"/>
              <a:t>✅ Ensures </a:t>
            </a:r>
            <a:r>
              <a:rPr lang="en-IN" sz="1050" b="1" dirty="0"/>
              <a:t>finer control</a:t>
            </a:r>
            <a:r>
              <a:rPr lang="en-IN" sz="1050" dirty="0"/>
              <a:t> over error handling.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043116-8BCE-C17B-2D33-82777FBB6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280"/>
            <a:ext cx="5525966" cy="3549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EDADA6-1360-09CE-2655-F050291DBDCC}"/>
              </a:ext>
            </a:extLst>
          </p:cNvPr>
          <p:cNvSpPr txBox="1"/>
          <p:nvPr/>
        </p:nvSpPr>
        <p:spPr>
          <a:xfrm>
            <a:off x="5671039" y="2664069"/>
            <a:ext cx="26356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Outer try block  </a:t>
            </a:r>
          </a:p>
          <a:p>
            <a:r>
              <a:rPr lang="en-US" sz="1200" dirty="0"/>
              <a:t>Inner catch: Invalid array index.  </a:t>
            </a:r>
          </a:p>
          <a:p>
            <a:r>
              <a:rPr lang="en-US" sz="1200" dirty="0"/>
              <a:t>Outer catch: Cannot divide by zero. </a:t>
            </a:r>
          </a:p>
        </p:txBody>
      </p:sp>
    </p:spTree>
    <p:extLst>
      <p:ext uri="{BB962C8B-B14F-4D97-AF65-F5344CB8AC3E}">
        <p14:creationId xmlns:p14="http://schemas.microsoft.com/office/powerpoint/2010/main" val="319030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558</Words>
  <Application>Microsoft Macintosh PowerPoint</Application>
  <PresentationFormat>On-screen Show (16:9)</PresentationFormat>
  <Paragraphs>127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Simple Light</vt:lpstr>
      <vt:lpstr>PowerPoint Presentation</vt:lpstr>
      <vt:lpstr>What is an Exception?</vt:lpstr>
      <vt:lpstr>Difference Between Errors and Exceptions</vt:lpstr>
      <vt:lpstr>Java’s Exception Handling Mechanism</vt:lpstr>
      <vt:lpstr>Using try and catch Blocks</vt:lpstr>
      <vt:lpstr>Using finally Block</vt:lpstr>
      <vt:lpstr>Handling Multiple Exceptions in One catch Block (Java 7+)</vt:lpstr>
      <vt:lpstr>Types of Exceptions in Java</vt:lpstr>
      <vt:lpstr>Common Java Exception Types</vt:lpstr>
      <vt:lpstr>Handling Checked Exceptions with try-catch</vt:lpstr>
      <vt:lpstr>Handling Unchecked Exceptions with try-catch</vt:lpstr>
      <vt:lpstr>Using throws to Propagate Exceptions</vt:lpstr>
      <vt:lpstr>Using finally to Ensure Cleanup</vt:lpstr>
      <vt:lpstr>Nested try Blocks in Java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2025-07-21T16:38:42Z</dcterms:modified>
</cp:coreProperties>
</file>