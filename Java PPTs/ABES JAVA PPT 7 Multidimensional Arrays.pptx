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361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40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256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74356-5E27-B44C-BDDE-DA4058E0F64B}" v="1" dt="2025-06-04T18:09:09.302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6" d="100"/>
          <a:sy n="136" d="100"/>
        </p:scale>
        <p:origin x="200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24F74356-5E27-B44C-BDDE-DA4058E0F64B}"/>
    <pc:docChg chg="delSld modSld modSection">
      <pc:chgData name="Aditya Hare Krishna" userId="de62b921b3c41f8c" providerId="LiveId" clId="{24F74356-5E27-B44C-BDDE-DA4058E0F64B}" dt="2025-06-04T18:09:09.297" v="8"/>
      <pc:docMkLst>
        <pc:docMk/>
      </pc:docMkLst>
      <pc:sldChg chg="del">
        <pc:chgData name="Aditya Hare Krishna" userId="de62b921b3c41f8c" providerId="LiveId" clId="{24F74356-5E27-B44C-BDDE-DA4058E0F64B}" dt="2025-06-01T09:36:40.951" v="1" actId="2696"/>
        <pc:sldMkLst>
          <pc:docMk/>
          <pc:sldMk cId="865231926" sldId="259"/>
        </pc:sldMkLst>
      </pc:sldChg>
      <pc:sldChg chg="del">
        <pc:chgData name="Aditya Hare Krishna" userId="de62b921b3c41f8c" providerId="LiveId" clId="{24F74356-5E27-B44C-BDDE-DA4058E0F64B}" dt="2025-06-01T09:36:41.224" v="2" actId="2696"/>
        <pc:sldMkLst>
          <pc:docMk/>
          <pc:sldMk cId="3700626899" sldId="260"/>
        </pc:sldMkLst>
      </pc:sldChg>
      <pc:sldChg chg="del">
        <pc:chgData name="Aditya Hare Krishna" userId="de62b921b3c41f8c" providerId="LiveId" clId="{24F74356-5E27-B44C-BDDE-DA4058E0F64B}" dt="2025-06-01T09:36:41.493" v="3" actId="2696"/>
        <pc:sldMkLst>
          <pc:docMk/>
          <pc:sldMk cId="3646478686" sldId="261"/>
        </pc:sldMkLst>
      </pc:sldChg>
      <pc:sldChg chg="del">
        <pc:chgData name="Aditya Hare Krishna" userId="de62b921b3c41f8c" providerId="LiveId" clId="{24F74356-5E27-B44C-BDDE-DA4058E0F64B}" dt="2025-06-01T09:36:41.765" v="4" actId="2696"/>
        <pc:sldMkLst>
          <pc:docMk/>
          <pc:sldMk cId="4160922870" sldId="262"/>
        </pc:sldMkLst>
      </pc:sldChg>
      <pc:sldChg chg="del">
        <pc:chgData name="Aditya Hare Krishna" userId="de62b921b3c41f8c" providerId="LiveId" clId="{24F74356-5E27-B44C-BDDE-DA4058E0F64B}" dt="2025-06-01T09:36:42.820" v="5" actId="2696"/>
        <pc:sldMkLst>
          <pc:docMk/>
          <pc:sldMk cId="1456306759" sldId="263"/>
        </pc:sldMkLst>
      </pc:sldChg>
      <pc:sldChg chg="del">
        <pc:chgData name="Aditya Hare Krishna" userId="de62b921b3c41f8c" providerId="LiveId" clId="{24F74356-5E27-B44C-BDDE-DA4058E0F64B}" dt="2025-06-01T09:36:43.721" v="7" actId="2696"/>
        <pc:sldMkLst>
          <pc:docMk/>
          <pc:sldMk cId="1857968367" sldId="264"/>
        </pc:sldMkLst>
      </pc:sldChg>
      <pc:sldChg chg="del">
        <pc:chgData name="Aditya Hare Krishna" userId="de62b921b3c41f8c" providerId="LiveId" clId="{24F74356-5E27-B44C-BDDE-DA4058E0F64B}" dt="2025-06-01T09:36:43.230" v="6" actId="2696"/>
        <pc:sldMkLst>
          <pc:docMk/>
          <pc:sldMk cId="1242324238" sldId="266"/>
        </pc:sldMkLst>
      </pc:sldChg>
      <pc:sldChg chg="del">
        <pc:chgData name="Aditya Hare Krishna" userId="de62b921b3c41f8c" providerId="LiveId" clId="{24F74356-5E27-B44C-BDDE-DA4058E0F64B}" dt="2025-06-01T09:36:40.588" v="0" actId="2696"/>
        <pc:sldMkLst>
          <pc:docMk/>
          <pc:sldMk cId="3797009300" sldId="360"/>
        </pc:sldMkLst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971700507" sldId="361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971700507" sldId="361"/>
            <ac:inkMk id="4" creationId="{55870541-BF2B-76B8-F51C-F1ED90E88E84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3140408816" sldId="362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3140408816" sldId="362"/>
            <ac:inkMk id="3" creationId="{36DDD4AF-9A4A-4786-3B2E-034104659831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4143092998" sldId="363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4143092998" sldId="363"/>
            <ac:inkMk id="3" creationId="{C15E47E8-0EA2-EA95-E719-EE6FE8AF5397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248549413" sldId="364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248549413" sldId="364"/>
            <ac:inkMk id="3" creationId="{ABC851DB-B1C5-BDAF-A1A2-71BED656BAEF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3969086294" sldId="365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3969086294" sldId="365"/>
            <ac:inkMk id="5" creationId="{11C6F0B8-0868-094A-9E90-28B974A8FE64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3531468077" sldId="366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3531468077" sldId="366"/>
            <ac:inkMk id="6" creationId="{5433104F-ADD4-D81C-B030-D7E79B1F0AB1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2681678700" sldId="367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2681678700" sldId="367"/>
            <ac:inkMk id="3" creationId="{40292A0A-F11F-A854-9AD3-220197056BE7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1028894011" sldId="368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1028894011" sldId="368"/>
            <ac:inkMk id="3" creationId="{8B8B7DB6-A4E9-0F1A-9DD9-9CC407509F24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2586865423" sldId="369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2586865423" sldId="369"/>
            <ac:inkMk id="7" creationId="{BEFC8FA9-67A0-ECFA-119C-41D354024E68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299151210" sldId="371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299151210" sldId="371"/>
            <ac:inkMk id="7" creationId="{3AFA4F24-EDA7-EA59-42ED-8E0A2AE0A6F6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628755462" sldId="372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628755462" sldId="372"/>
            <ac:inkMk id="3" creationId="{E6ACA70B-0311-5F74-BBC8-272608254887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1421509410" sldId="373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1421509410" sldId="373"/>
            <ac:inkMk id="3" creationId="{196457C4-3939-41FE-4045-4B52DAB53096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2741140439" sldId="374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2741140439" sldId="374"/>
            <ac:inkMk id="3" creationId="{340EF43C-8470-F364-FDE0-3A0848BADEFF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1537913656" sldId="375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1537913656" sldId="375"/>
            <ac:inkMk id="3" creationId="{B841819C-BE92-3D02-A79E-47F3FDCDCED8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2A7B1-9BFC-1E47-A0CA-085FDC71408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22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7271-D585-3BE5-333A-E584A996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DEB7-07C7-0A71-A0C1-95185BCB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5A17-F4BB-D373-919E-8FAE8D0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B5E-B6E6-DC42-BB60-A885946EC108}" type="datetimeFigureOut">
              <a:rPr lang="en-US" smtClean="0"/>
              <a:t>2/3/26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D250-327F-AAF0-CCAD-07F3F937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6F96F-4386-D11F-6AB5-EC393DEA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780-A9F1-9949-BA87-FFE9C13D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0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C21A405D-2B87-16FA-8928-EA0708856279}"/>
              </a:ext>
            </a:extLst>
          </p:cNvPr>
          <p:cNvSpPr txBox="1">
            <a:spLocks/>
          </p:cNvSpPr>
          <p:nvPr/>
        </p:nvSpPr>
        <p:spPr>
          <a:xfrm>
            <a:off x="1305920" y="1329179"/>
            <a:ext cx="6532160" cy="138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7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C188CA-4D7D-E262-B106-EDBD543BEBB5}"/>
              </a:ext>
            </a:extLst>
          </p:cNvPr>
          <p:cNvSpPr txBox="1">
            <a:spLocks/>
          </p:cNvSpPr>
          <p:nvPr/>
        </p:nvSpPr>
        <p:spPr>
          <a:xfrm>
            <a:off x="311700" y="2681951"/>
            <a:ext cx="8520600" cy="1720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Multi-dimensional</a:t>
            </a:r>
          </a:p>
          <a:p>
            <a:r>
              <a:rPr lang="en-US" dirty="0"/>
              <a:t>Arrays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90CF-2D2D-DC4E-AC32-A59749FB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Multidimensional Array?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6D69F-9BDC-B8D3-21E2-15236DD7E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array containing multiple arrays as elements.</a:t>
            </a:r>
          </a:p>
          <a:p>
            <a:r>
              <a:rPr lang="en-IN" dirty="0"/>
              <a:t>The most common type is the </a:t>
            </a:r>
            <a:r>
              <a:rPr lang="en-IN" b="1" dirty="0"/>
              <a:t>2D array</a:t>
            </a:r>
            <a:r>
              <a:rPr lang="en-IN" dirty="0"/>
              <a:t> (matrix-like structure).</a:t>
            </a:r>
          </a:p>
          <a:p>
            <a:r>
              <a:rPr lang="en-IN" b="1" dirty="0"/>
              <a:t>Use Cases:</a:t>
            </a:r>
            <a:endParaRPr lang="en-IN" dirty="0"/>
          </a:p>
          <a:p>
            <a:pPr lvl="1"/>
            <a:r>
              <a:rPr lang="en-IN" dirty="0"/>
              <a:t>Storing </a:t>
            </a:r>
            <a:r>
              <a:rPr lang="en-IN" b="1" dirty="0"/>
              <a:t>tabular data</a:t>
            </a:r>
            <a:r>
              <a:rPr lang="en-IN" dirty="0"/>
              <a:t> (e.g., student marks, matrices)</a:t>
            </a:r>
          </a:p>
          <a:p>
            <a:pPr lvl="1"/>
            <a:r>
              <a:rPr lang="en-IN" dirty="0"/>
              <a:t>Representing </a:t>
            </a:r>
            <a:r>
              <a:rPr lang="en-IN" b="1" dirty="0"/>
              <a:t>game boards</a:t>
            </a:r>
            <a:r>
              <a:rPr lang="en-IN" dirty="0"/>
              <a:t> (e.g., chess, tic-tac-toe)</a:t>
            </a:r>
          </a:p>
          <a:p>
            <a:pPr lvl="1"/>
            <a:r>
              <a:rPr lang="en-IN" dirty="0"/>
              <a:t>Processing </a:t>
            </a:r>
            <a:r>
              <a:rPr lang="en-IN" b="1" dirty="0"/>
              <a:t>image pixels</a:t>
            </a:r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700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4A51-A6F4-03BE-9FEC-2777A0E6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Declaring and Initializing a 2D Array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90A398-FF13-479F-7CEA-404BF096B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40039"/>
            <a:ext cx="6838428" cy="1272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47562C-1296-C204-359C-1EBF88D65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080057"/>
            <a:ext cx="5458013" cy="11323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28FD47-637C-312D-5247-A2AEBF22C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754" y="2984604"/>
            <a:ext cx="4238324" cy="215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08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DABF-2FA5-1ACC-F594-51760E61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Accessing and Modifying 2D Arrays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95C03D-1D81-86B1-7A93-5E9358DA65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653" y="1065734"/>
            <a:ext cx="5764723" cy="13584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BA2A33-50CB-7B26-17B8-21E827916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007" y="2286196"/>
            <a:ext cx="6305993" cy="11734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321E45-7E7B-634A-6CEF-1A44F890D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216114"/>
            <a:ext cx="5627797" cy="194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92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25447-CD4C-7F45-E723-66CBA350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Sum of Elements in a 2D Array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BB22B7-30F8-8B81-0537-AADAA0865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39999"/>
            <a:ext cx="7055066" cy="4203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120A5C-B505-9FF5-184B-4599589EFC50}"/>
              </a:ext>
            </a:extLst>
          </p:cNvPr>
          <p:cNvSpPr txBox="1"/>
          <p:nvPr/>
        </p:nvSpPr>
        <p:spPr>
          <a:xfrm>
            <a:off x="6936232" y="2571750"/>
            <a:ext cx="186140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Sum of matrix elements: 45 </a:t>
            </a:r>
          </a:p>
        </p:txBody>
      </p:sp>
    </p:spTree>
    <p:extLst>
      <p:ext uri="{BB962C8B-B14F-4D97-AF65-F5344CB8AC3E}">
        <p14:creationId xmlns:p14="http://schemas.microsoft.com/office/powerpoint/2010/main" val="248549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EBAD-87CF-AF37-6B33-A3F6A6DA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Jagged Arrays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0C39A-BC00-EBAD-5231-3A9BFA782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549945" cy="1202531"/>
          </a:xfrm>
        </p:spPr>
        <p:txBody>
          <a:bodyPr>
            <a:normAutofit/>
          </a:bodyPr>
          <a:lstStyle/>
          <a:p>
            <a:r>
              <a:rPr lang="en-IN" dirty="0"/>
              <a:t>An array of arrays where each row has a different number of columns.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1C8E6-B927-4513-4E85-45CD5F582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546" y="893626"/>
            <a:ext cx="4647232" cy="2367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4AFF3F-DEA4-C305-A659-3ED140B719FB}"/>
              </a:ext>
            </a:extLst>
          </p:cNvPr>
          <p:cNvSpPr txBox="1"/>
          <p:nvPr/>
        </p:nvSpPr>
        <p:spPr>
          <a:xfrm>
            <a:off x="494776" y="3160295"/>
            <a:ext cx="51670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Accessing Elements in a Jagged Array:</a:t>
            </a:r>
            <a:endParaRPr lang="en-IN" sz="2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B4BC1C-9ECC-5273-E7B7-136D01FC7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43" y="3361324"/>
            <a:ext cx="7494344" cy="166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86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A494D-9EBF-BF08-AA06-F32BEFE8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3D Arrays (Multilevel Data Storage)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68F4B-F38A-C0F4-B3A2-E85C4E395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720079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 </a:t>
            </a:r>
            <a:r>
              <a:rPr lang="en-IN" b="1" dirty="0"/>
              <a:t>3D array</a:t>
            </a:r>
            <a:r>
              <a:rPr lang="en-IN" dirty="0"/>
              <a:t> extends the concept of a 2D array by adding another dimension.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84FF4-7E5C-29F3-9EC3-C8F26997C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73" y="1893205"/>
            <a:ext cx="6868062" cy="13570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256C54-5858-7B87-6571-72E9AE50E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90" y="3133725"/>
            <a:ext cx="3048000" cy="2009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BE031C-4297-2082-0496-9AAF37D5EF09}"/>
              </a:ext>
            </a:extLst>
          </p:cNvPr>
          <p:cNvSpPr txBox="1"/>
          <p:nvPr/>
        </p:nvSpPr>
        <p:spPr>
          <a:xfrm>
            <a:off x="3335300" y="3677525"/>
            <a:ext cx="4577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Accessing a 3D Array Element:</a:t>
            </a:r>
            <a:endParaRPr lang="en-IN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92E9DA-2078-1BE2-17D8-990B418B6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124" y="3896302"/>
            <a:ext cx="6062876" cy="12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68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BF048-675D-DE57-58B5-EF3C77E9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Multidimensional Arrays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F47D4-91C9-7A7B-E7AD-76032A83B3DF}"/>
              </a:ext>
            </a:extLst>
          </p:cNvPr>
          <p:cNvSpPr txBox="1"/>
          <p:nvPr/>
        </p:nvSpPr>
        <p:spPr>
          <a:xfrm>
            <a:off x="628650" y="1367696"/>
            <a:ext cx="5130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Incorrect Indexing (ArrayIndexOutOfBoundsException)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9AD7D-0A9A-F979-B94D-C7B98D69D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34" y="1644695"/>
            <a:ext cx="7182842" cy="1247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A304D3-7EF7-1960-788A-E1005239AB5D}"/>
              </a:ext>
            </a:extLst>
          </p:cNvPr>
          <p:cNvSpPr txBox="1"/>
          <p:nvPr/>
        </p:nvSpPr>
        <p:spPr>
          <a:xfrm>
            <a:off x="628650" y="3519440"/>
            <a:ext cx="4577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Solution: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8E616D-1A84-E54A-A3C7-2F5758E11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754987"/>
            <a:ext cx="533400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78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941BD-8A9C-BF19-B016-9973D02F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22AC-FB91-6439-613E-49FD52314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Multidimensional Arrays (Contd.)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9DAF97-4307-4B08-06A1-C836280E18F3}"/>
              </a:ext>
            </a:extLst>
          </p:cNvPr>
          <p:cNvSpPr txBox="1"/>
          <p:nvPr/>
        </p:nvSpPr>
        <p:spPr>
          <a:xfrm>
            <a:off x="603398" y="3288835"/>
            <a:ext cx="4577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Solution: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3EEDC-FECA-8816-6E96-914162B1290B}"/>
              </a:ext>
            </a:extLst>
          </p:cNvPr>
          <p:cNvSpPr txBox="1"/>
          <p:nvPr/>
        </p:nvSpPr>
        <p:spPr>
          <a:xfrm>
            <a:off x="603398" y="1363121"/>
            <a:ext cx="4577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Forgetting to Initialize a Jagged Array Properly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558689-A0B9-205B-2E0D-E8BA22944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59" y="1627213"/>
            <a:ext cx="7697882" cy="15514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E45030-25FE-185C-9130-004699740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3575492"/>
            <a:ext cx="4854061" cy="155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94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CB3A-00D3-7FEF-76C3-3961D573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the length Property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E21D0-803E-A10C-FF69-C8B0B8AC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840581"/>
          </a:xfrm>
        </p:spPr>
        <p:txBody>
          <a:bodyPr/>
          <a:lstStyle/>
          <a:p>
            <a:r>
              <a:rPr lang="en-IN" dirty="0"/>
              <a:t>The length property returns the </a:t>
            </a:r>
            <a:r>
              <a:rPr lang="en-IN" b="1" dirty="0"/>
              <a:t>number of elements</a:t>
            </a:r>
            <a:r>
              <a:rPr lang="en-IN" dirty="0"/>
              <a:t> in an array.</a:t>
            </a:r>
          </a:p>
          <a:p>
            <a:r>
              <a:rPr lang="en-IN" dirty="0"/>
              <a:t>It is </a:t>
            </a:r>
            <a:r>
              <a:rPr lang="en-IN" b="1" dirty="0"/>
              <a:t>not a method</a:t>
            </a:r>
            <a:r>
              <a:rPr lang="en-IN" dirty="0"/>
              <a:t>, but a built-in property of arrays.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B42EA-65B8-7556-4D07-E34F09296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467" y="2046208"/>
            <a:ext cx="3793067" cy="1280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ADFFC4-9CB4-1B7A-0920-1A8F6CA99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" y="3406378"/>
            <a:ext cx="6174589" cy="1463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78C77B-42FC-E545-7B1E-73168DE688DC}"/>
              </a:ext>
            </a:extLst>
          </p:cNvPr>
          <p:cNvSpPr txBox="1"/>
          <p:nvPr/>
        </p:nvSpPr>
        <p:spPr>
          <a:xfrm>
            <a:off x="6569876" y="3655665"/>
            <a:ext cx="1061509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Array length: 5</a:t>
            </a:r>
          </a:p>
        </p:txBody>
      </p:sp>
    </p:spTree>
    <p:extLst>
      <p:ext uri="{BB962C8B-B14F-4D97-AF65-F5344CB8AC3E}">
        <p14:creationId xmlns:p14="http://schemas.microsoft.com/office/powerpoint/2010/main" val="2586865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7BF7-1C1F-8935-7E11-56B812AE2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length for Dynamic 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DFAFB-D1C6-A967-191B-EE35AA13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98621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Looping through an array using length: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DA330-8722-31AB-A369-D6C6B9583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102" y="1767841"/>
            <a:ext cx="7814898" cy="2308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99CE3F-4C68-E647-C052-E3568D8CED3D}"/>
              </a:ext>
            </a:extLst>
          </p:cNvPr>
          <p:cNvSpPr txBox="1"/>
          <p:nvPr/>
        </p:nvSpPr>
        <p:spPr>
          <a:xfrm>
            <a:off x="352633" y="2571750"/>
            <a:ext cx="89479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Mark 1: 85  </a:t>
            </a:r>
          </a:p>
          <a:p>
            <a:r>
              <a:rPr lang="en-US" sz="1050" dirty="0"/>
              <a:t>Mark 2: 90  </a:t>
            </a:r>
          </a:p>
          <a:p>
            <a:r>
              <a:rPr lang="en-US" sz="1050" dirty="0"/>
              <a:t>Mark 3: 78  </a:t>
            </a:r>
          </a:p>
          <a:p>
            <a:r>
              <a:rPr lang="en-US" sz="1050" dirty="0"/>
              <a:t>Mark 4: 92 </a:t>
            </a:r>
          </a:p>
        </p:txBody>
      </p:sp>
    </p:spTree>
    <p:extLst>
      <p:ext uri="{BB962C8B-B14F-4D97-AF65-F5344CB8AC3E}">
        <p14:creationId xmlns:p14="http://schemas.microsoft.com/office/powerpoint/2010/main" val="2245746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FEAD-85BB-29B6-7E86-4363924B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The Enhanced for Loop (for-each Loop)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E333E-39A1-8E9D-382C-0069E9575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4415790" cy="120253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 enhanced for loop (or for-each) is used for </a:t>
            </a:r>
            <a:r>
              <a:rPr lang="en-IN" b="1" dirty="0"/>
              <a:t>simplified array iteration</a:t>
            </a:r>
            <a:r>
              <a:rPr lang="en-IN" dirty="0"/>
              <a:t>.</a:t>
            </a:r>
          </a:p>
          <a:p>
            <a:r>
              <a:rPr lang="en-IN" dirty="0"/>
              <a:t>It eliminates the need for an </a:t>
            </a:r>
            <a:r>
              <a:rPr lang="en-IN" b="1" dirty="0"/>
              <a:t>index variable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314F1-51E1-AC1B-2EE4-D90240AEB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0" y="1222772"/>
            <a:ext cx="3933825" cy="1495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1091BE-8BD9-A255-18BE-63D6DD38A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6" y="2626756"/>
            <a:ext cx="5045706" cy="25167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6E8575-40FF-A50F-8D29-21CD08B929A9}"/>
              </a:ext>
            </a:extLst>
          </p:cNvPr>
          <p:cNvSpPr txBox="1"/>
          <p:nvPr/>
        </p:nvSpPr>
        <p:spPr>
          <a:xfrm>
            <a:off x="5562600" y="3017520"/>
            <a:ext cx="625492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r>
              <a:rPr lang="en-US" sz="1050" dirty="0"/>
              <a:t>10  </a:t>
            </a:r>
          </a:p>
          <a:p>
            <a:r>
              <a:rPr lang="en-US" sz="1050" dirty="0"/>
              <a:t>20  </a:t>
            </a:r>
          </a:p>
          <a:p>
            <a:r>
              <a:rPr lang="en-US" sz="1050" dirty="0"/>
              <a:t>30  </a:t>
            </a:r>
          </a:p>
          <a:p>
            <a:r>
              <a:rPr lang="en-US" sz="1050" dirty="0"/>
              <a:t>40  </a:t>
            </a:r>
          </a:p>
          <a:p>
            <a:r>
              <a:rPr lang="en-US" sz="1050" dirty="0"/>
              <a:t>50 </a:t>
            </a:r>
          </a:p>
        </p:txBody>
      </p:sp>
    </p:spTree>
    <p:extLst>
      <p:ext uri="{BB962C8B-B14F-4D97-AF65-F5344CB8AC3E}">
        <p14:creationId xmlns:p14="http://schemas.microsoft.com/office/powerpoint/2010/main" val="299151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309DC-47D1-2956-D0DE-73FA351F3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Comparing Traditional vs. Enhanced for Loop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080D23-8489-0EE7-CB4D-A9110A50DF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14536"/>
              </p:ext>
            </p:extLst>
          </p:nvPr>
        </p:nvGraphicFramePr>
        <p:xfrm>
          <a:off x="311700" y="1860703"/>
          <a:ext cx="43945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998">
                  <a:extLst>
                    <a:ext uri="{9D8B030D-6E8A-4147-A177-3AD203B41FA5}">
                      <a16:colId xmlns:a16="http://schemas.microsoft.com/office/drawing/2014/main" val="201489563"/>
                    </a:ext>
                  </a:extLst>
                </a:gridCol>
                <a:gridCol w="1559560">
                  <a:extLst>
                    <a:ext uri="{9D8B030D-6E8A-4147-A177-3AD203B41FA5}">
                      <a16:colId xmlns:a16="http://schemas.microsoft.com/office/drawing/2014/main" val="79870484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63847770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Traditional </a:t>
                      </a:r>
                      <a:r>
                        <a:rPr lang="en-US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US" sz="1100" dirty="0"/>
                        <a:t> Loop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Enhanced </a:t>
                      </a:r>
                      <a:r>
                        <a:rPr lang="en-US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US" sz="1100" dirty="0"/>
                        <a:t> Loop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217124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Syntax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Uses index (i)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 index required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6154106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Readability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More complex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More Concise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7242807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Usage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Modifies array values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Best for read-only operations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490416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10DBBB-F0A2-27D4-29D6-5571C24B44BC}"/>
              </a:ext>
            </a:extLst>
          </p:cNvPr>
          <p:cNvSpPr txBox="1"/>
          <p:nvPr/>
        </p:nvSpPr>
        <p:spPr>
          <a:xfrm>
            <a:off x="5057169" y="1198942"/>
            <a:ext cx="40170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(Modifying Elements – Traditional Loop Required)</a:t>
            </a:r>
            <a:endParaRPr lang="en-IN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FC3CA1-2CC5-44C0-B3E0-7591AE507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673" y="1436386"/>
            <a:ext cx="3688080" cy="1839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21628E-0A1D-CB01-4148-7002690C004C}"/>
              </a:ext>
            </a:extLst>
          </p:cNvPr>
          <p:cNvSpPr txBox="1"/>
          <p:nvPr/>
        </p:nvSpPr>
        <p:spPr>
          <a:xfrm>
            <a:off x="4804996" y="3563685"/>
            <a:ext cx="36228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(Using Enhanced Loop - Read-Only)</a:t>
            </a:r>
            <a:endParaRPr lang="en-IN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ED1DD6-864B-2DDA-16F4-09C3F68F5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954" y="3783004"/>
            <a:ext cx="5563304" cy="136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55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81FA-E4D0-241E-9DB1-0D2CC8ED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40" y="356861"/>
            <a:ext cx="3152936" cy="2012156"/>
          </a:xfrm>
        </p:spPr>
        <p:txBody>
          <a:bodyPr>
            <a:normAutofit/>
          </a:bodyPr>
          <a:lstStyle/>
          <a:p>
            <a:r>
              <a:rPr lang="en-IN" b="1" dirty="0"/>
              <a:t>Finding Maximum and Minimum Values Using for-each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FBED0B-2915-5DD7-9D5F-46B860D53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1920" y="356861"/>
            <a:ext cx="5212080" cy="44297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5B9634-8BEA-49C1-1656-4978DDBBE692}"/>
              </a:ext>
            </a:extLst>
          </p:cNvPr>
          <p:cNvSpPr txBox="1"/>
          <p:nvPr/>
        </p:nvSpPr>
        <p:spPr>
          <a:xfrm>
            <a:off x="563108" y="2855365"/>
            <a:ext cx="12923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Output:</a:t>
            </a:r>
          </a:p>
          <a:p>
            <a:endParaRPr lang="en-US" sz="2100" dirty="0"/>
          </a:p>
          <a:p>
            <a:r>
              <a:rPr lang="en-US" sz="2100" dirty="0"/>
              <a:t>Max: 90  </a:t>
            </a:r>
          </a:p>
          <a:p>
            <a:r>
              <a:rPr lang="en-US" sz="2100" dirty="0"/>
              <a:t>Min: 12 </a:t>
            </a:r>
          </a:p>
        </p:txBody>
      </p:sp>
    </p:spTree>
    <p:extLst>
      <p:ext uri="{BB962C8B-B14F-4D97-AF65-F5344CB8AC3E}">
        <p14:creationId xmlns:p14="http://schemas.microsoft.com/office/powerpoint/2010/main" val="1421509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77D-C574-9498-94C4-D2E506EF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362" y="0"/>
            <a:ext cx="7499888" cy="1149769"/>
          </a:xfrm>
        </p:spPr>
        <p:txBody>
          <a:bodyPr>
            <a:normAutofit/>
          </a:bodyPr>
          <a:lstStyle/>
          <a:p>
            <a:r>
              <a:rPr lang="en-IN" b="1" dirty="0"/>
              <a:t>Working with 2D Arrays in an Enhanced Loop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6A5F13-0E4B-B9DC-CB9A-B1808DC21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7640" y="827871"/>
            <a:ext cx="5108048" cy="43156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CB8FDE-4E72-5A1C-CF64-B7BDC270F077}"/>
              </a:ext>
            </a:extLst>
          </p:cNvPr>
          <p:cNvSpPr txBox="1"/>
          <p:nvPr/>
        </p:nvSpPr>
        <p:spPr>
          <a:xfrm>
            <a:off x="838200" y="1417320"/>
            <a:ext cx="631904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1  2  3  </a:t>
            </a:r>
          </a:p>
          <a:p>
            <a:r>
              <a:rPr lang="en-US" sz="1050" dirty="0"/>
              <a:t>4  5  6  </a:t>
            </a:r>
          </a:p>
          <a:p>
            <a:r>
              <a:rPr lang="en-US" sz="1050" dirty="0"/>
              <a:t>7  8  9 </a:t>
            </a:r>
          </a:p>
        </p:txBody>
      </p:sp>
    </p:spTree>
    <p:extLst>
      <p:ext uri="{BB962C8B-B14F-4D97-AF65-F5344CB8AC3E}">
        <p14:creationId xmlns:p14="http://schemas.microsoft.com/office/powerpoint/2010/main" val="2741140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53AA-54DD-CFC2-6762-C73592C3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length and for-each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61CBB-2FED-3191-6B0D-B596BA014275}"/>
              </a:ext>
            </a:extLst>
          </p:cNvPr>
          <p:cNvSpPr txBox="1"/>
          <p:nvPr/>
        </p:nvSpPr>
        <p:spPr>
          <a:xfrm>
            <a:off x="628650" y="1085300"/>
            <a:ext cx="31608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Accessing an Index Beyond the Array Size (ArrayIndexOutOfBoundsException)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83C08A-2BEE-A7E7-F756-74FFB9AF1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44" y="1406515"/>
            <a:ext cx="4006215" cy="1370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FA1D0D-8E2A-D932-AE35-09D17DEC2010}"/>
              </a:ext>
            </a:extLst>
          </p:cNvPr>
          <p:cNvSpPr txBox="1"/>
          <p:nvPr/>
        </p:nvSpPr>
        <p:spPr>
          <a:xfrm>
            <a:off x="5200650" y="1129516"/>
            <a:ext cx="16087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CD9076-A9F2-4F40-F578-BF9F84BA0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56167"/>
            <a:ext cx="4572000" cy="12440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A8D3BA-3F04-F51B-2FBB-34F037629C37}"/>
              </a:ext>
            </a:extLst>
          </p:cNvPr>
          <p:cNvSpPr txBox="1"/>
          <p:nvPr/>
        </p:nvSpPr>
        <p:spPr>
          <a:xfrm>
            <a:off x="441960" y="2888453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Trying to Modify Array Elements Using for-each Loop</a:t>
            </a:r>
            <a:endParaRPr lang="en-IN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7B0233-9BDB-C7CB-0566-4B6E76028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61" y="3026953"/>
            <a:ext cx="4665899" cy="11872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FB4C81-2E60-8666-1D6C-C8466830F5B1}"/>
              </a:ext>
            </a:extLst>
          </p:cNvPr>
          <p:cNvSpPr txBox="1"/>
          <p:nvPr/>
        </p:nvSpPr>
        <p:spPr>
          <a:xfrm>
            <a:off x="5107305" y="2888453"/>
            <a:ext cx="350139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Use a traditional loop instead: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4CFE51-ED58-1893-2CFA-2117131E83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305" y="3026952"/>
            <a:ext cx="3926205" cy="134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13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414</Words>
  <Application>Microsoft Macintosh PowerPoint</Application>
  <PresentationFormat>On-screen Show (16:9)</PresentationFormat>
  <Paragraphs>78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Simple Light</vt:lpstr>
      <vt:lpstr>PowerPoint Presentation</vt:lpstr>
      <vt:lpstr>What is a Multidimensional Array?</vt:lpstr>
      <vt:lpstr>Declaring and Initializing a 2D Array</vt:lpstr>
      <vt:lpstr>Accessing and Modifying 2D Arrays</vt:lpstr>
      <vt:lpstr>Example – Sum of Elements in a 2D Array</vt:lpstr>
      <vt:lpstr>Jagged Arrays in Java</vt:lpstr>
      <vt:lpstr>3D Arrays (Multilevel Data Storage)</vt:lpstr>
      <vt:lpstr>Common Mistakes with Multidimensional Arrays</vt:lpstr>
      <vt:lpstr>Common Mistakes with Multidimensional Arrays (Contd.)</vt:lpstr>
      <vt:lpstr>Using the length Property</vt:lpstr>
      <vt:lpstr>Using length for Dynamic Processing</vt:lpstr>
      <vt:lpstr>The Enhanced for Loop (for-each Loop)</vt:lpstr>
      <vt:lpstr>Comparing Traditional vs. Enhanced for Loop</vt:lpstr>
      <vt:lpstr>Finding Maximum and Minimum Values Using for-each</vt:lpstr>
      <vt:lpstr>Working with 2D Arrays in an Enhanced Loop</vt:lpstr>
      <vt:lpstr>Common Mistakes with length and for-each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23</cp:revision>
  <dcterms:modified xsi:type="dcterms:W3CDTF">2026-02-03T09:47:00Z</dcterms:modified>
</cp:coreProperties>
</file>