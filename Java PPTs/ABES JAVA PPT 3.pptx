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0"/>
  </p:notesMasterIdLst>
  <p:sldIdLst>
    <p:sldId id="256" r:id="rId2"/>
    <p:sldId id="353" r:id="rId3"/>
    <p:sldId id="351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352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6" r:id="rId22"/>
    <p:sldId id="354" r:id="rId23"/>
    <p:sldId id="307" r:id="rId24"/>
    <p:sldId id="308" r:id="rId25"/>
    <p:sldId id="309" r:id="rId26"/>
    <p:sldId id="310" r:id="rId27"/>
    <p:sldId id="311" r:id="rId28"/>
    <p:sldId id="312" r:id="rId29"/>
    <p:sldId id="313" r:id="rId30"/>
    <p:sldId id="355" r:id="rId31"/>
    <p:sldId id="314" r:id="rId32"/>
    <p:sldId id="315" r:id="rId33"/>
    <p:sldId id="316" r:id="rId34"/>
    <p:sldId id="317" r:id="rId35"/>
    <p:sldId id="318" r:id="rId36"/>
    <p:sldId id="319" r:id="rId37"/>
    <p:sldId id="320" r:id="rId38"/>
    <p:sldId id="258" r:id="rId3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256"/>
            <p14:sldId id="353"/>
          </p14:sldIdLst>
        </p14:section>
        <p14:section name="Constructors in JAVA" id="{C73F0DA1-F5EA-224F-9DF2-973DE3F7BA8B}">
          <p14:sldIdLst>
            <p14:sldId id="351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</p14:sldIdLst>
        </p14:section>
        <p14:section name="&quot;this&quot; keyword in JAVA" id="{F72CC3C9-AC7C-D04A-84FD-35713B17DD3F}">
          <p14:sldIdLst>
            <p14:sldId id="352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</p14:sldIdLst>
        </p14:section>
        <p14:section name="Scanner Class" id="{F3A6D98F-7A5C-8F41-8ADC-B088D92E53DC}">
          <p14:sldIdLst>
            <p14:sldId id="354"/>
            <p14:sldId id="307"/>
            <p14:sldId id="308"/>
            <p14:sldId id="309"/>
            <p14:sldId id="310"/>
            <p14:sldId id="311"/>
            <p14:sldId id="312"/>
            <p14:sldId id="313"/>
          </p14:sldIdLst>
        </p14:section>
        <p14:section name="Garbage Collection" id="{EA1A83AC-57E7-FC4D-86AC-28C00F099FEE}">
          <p14:sldIdLst>
            <p14:sldId id="355"/>
            <p14:sldId id="314"/>
            <p14:sldId id="315"/>
            <p14:sldId id="316"/>
            <p14:sldId id="317"/>
            <p14:sldId id="318"/>
            <p14:sldId id="319"/>
            <p14:sldId id="320"/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A7903D-C1EC-2142-9CF9-A42C75D4FE5F}" v="1" dt="2025-05-20T05:20:49.983"/>
  </p1510:revLst>
</p1510:revInfo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6301"/>
  </p:normalViewPr>
  <p:slideViewPr>
    <p:cSldViewPr snapToGrid="0">
      <p:cViewPr varScale="1">
        <p:scale>
          <a:sx n="139" d="100"/>
          <a:sy n="139" d="100"/>
        </p:scale>
        <p:origin x="1288" y="4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Hare Krishna" userId="de62b921b3c41f8c" providerId="LiveId" clId="{26A7903D-C1EC-2142-9CF9-A42C75D4FE5F}"/>
    <pc:docChg chg="addSld modSld">
      <pc:chgData name="Aditya Hare Krishna" userId="de62b921b3c41f8c" providerId="LiveId" clId="{26A7903D-C1EC-2142-9CF9-A42C75D4FE5F}" dt="2025-05-20T05:20:49.982" v="0"/>
      <pc:docMkLst>
        <pc:docMk/>
      </pc:docMkLst>
      <pc:sldChg chg="add">
        <pc:chgData name="Aditya Hare Krishna" userId="de62b921b3c41f8c" providerId="LiveId" clId="{26A7903D-C1EC-2142-9CF9-A42C75D4FE5F}" dt="2025-05-20T05:20:49.982" v="0"/>
        <pc:sldMkLst>
          <pc:docMk/>
          <pc:sldMk cId="0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8FA74-DFAA-39AE-3FC8-7FB7B13E3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AFA4D-21FF-3478-105E-FD2973646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2C10F-D47A-1998-FC99-4460BA237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5663-262E-9143-81F7-034DECEA58AC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1EE9B-CF5A-0891-5AF1-2FB85B585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8ECF0-C5C5-0294-03AA-382507367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4F6E-3F2D-614E-AF98-619E386AD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035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5293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50.png"/><Relationship Id="rId3" Type="http://schemas.openxmlformats.org/officeDocument/2006/relationships/slide" Target="slide3.xml"/><Relationship Id="rId7" Type="http://schemas.openxmlformats.org/officeDocument/2006/relationships/image" Target="../media/image38.png"/><Relationship Id="rId12" Type="http://schemas.openxmlformats.org/officeDocument/2006/relationships/slide" Target="slide3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2.xml"/><Relationship Id="rId11" Type="http://schemas.openxmlformats.org/officeDocument/2006/relationships/image" Target="../media/image5.png"/><Relationship Id="rId5" Type="http://schemas.openxmlformats.org/officeDocument/2006/relationships/image" Target="../media/image3.png"/><Relationship Id="rId10" Type="http://schemas.openxmlformats.org/officeDocument/2006/relationships/image" Target="../media/image40.png"/><Relationship Id="rId4" Type="http://schemas.openxmlformats.org/officeDocument/2006/relationships/image" Target="../media/image210.png"/><Relationship Id="rId9" Type="http://schemas.openxmlformats.org/officeDocument/2006/relationships/slide" Target="slide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1247059"/>
            <a:ext cx="8520600" cy="11815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3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B4568-E430-FBBD-679A-AED118B48C09}"/>
              </a:ext>
            </a:extLst>
          </p:cNvPr>
          <p:cNvSpPr txBox="1">
            <a:spLocks/>
          </p:cNvSpPr>
          <p:nvPr/>
        </p:nvSpPr>
        <p:spPr>
          <a:xfrm>
            <a:off x="311700" y="2111605"/>
            <a:ext cx="8520600" cy="213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Constructors, “this” keyword, Scanner, Garbage Collection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4" name="Section Zoom 3">
                <a:extLst>
                  <a:ext uri="{FF2B5EF4-FFF2-40B4-BE49-F238E27FC236}">
                    <a16:creationId xmlns:a16="http://schemas.microsoft.com/office/drawing/2014/main" id="{12B11A2B-49C8-1C20-6260-BFD422C537A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73169747"/>
                  </p:ext>
                </p:extLst>
              </p:nvPr>
            </p:nvGraphicFramePr>
            <p:xfrm>
              <a:off x="1224742" y="511585"/>
              <a:ext cx="3480073" cy="1957541"/>
            </p:xfrm>
            <a:graphic>
              <a:graphicData uri="http://schemas.microsoft.com/office/powerpoint/2016/sectionzoom">
                <psez:sectionZm>
                  <psez:sectionZmObj sectionId="{C73F0DA1-F5EA-224F-9DF2-973DE3F7BA8B}">
                    <psez:zmPr id="{7B79F1AC-BFC1-444F-8E24-BB4E28E5703E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480073" cy="1957541"/>
                        </a:xfrm>
                        <a:prstGeom prst="round2DiagRect">
                          <a:avLst>
                            <a:gd name="adj1" fmla="val 16667"/>
                            <a:gd name="adj2" fmla="val 0"/>
                          </a:avLst>
                        </a:prstGeom>
                        <a:ln w="88900" cap="sq">
                          <a:solidFill>
                            <a:schemeClr val="tx1"/>
                          </a:solidFill>
                          <a:miter lim="800000"/>
                        </a:ln>
                        <a:effectLst>
                          <a:outerShdw blurRad="254000" algn="tl" rotWithShape="0">
                            <a:srgbClr val="000000">
                              <a:alpha val="43000"/>
                            </a:srgbClr>
                          </a:outerShdw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4" name="Section Zoom 3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12B11A2B-49C8-1C20-6260-BFD422C537A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24742" y="511585"/>
                <a:ext cx="3480073" cy="1957541"/>
              </a:xfrm>
              <a:prstGeom prst="round2DiagRect">
                <a:avLst>
                  <a:gd name="adj1" fmla="val 16667"/>
                  <a:gd name="adj2" fmla="val 0"/>
                </a:avLst>
              </a:prstGeom>
              <a:ln w="88900" cap="sq">
                <a:solidFill>
                  <a:schemeClr val="tx1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6" name="Section Zoom 5">
                <a:extLst>
                  <a:ext uri="{FF2B5EF4-FFF2-40B4-BE49-F238E27FC236}">
                    <a16:creationId xmlns:a16="http://schemas.microsoft.com/office/drawing/2014/main" id="{7D8E786A-2900-F246-0356-FE3ECF0A81B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92284417"/>
                  </p:ext>
                </p:extLst>
              </p:nvPr>
            </p:nvGraphicFramePr>
            <p:xfrm>
              <a:off x="5074991" y="511584"/>
              <a:ext cx="3480074" cy="1957542"/>
            </p:xfrm>
            <a:graphic>
              <a:graphicData uri="http://schemas.microsoft.com/office/powerpoint/2016/sectionzoom">
                <psez:sectionZm>
                  <psez:sectionZmObj sectionId="{F72CC3C9-AC7C-D04A-84FD-35713B17DD3F}">
                    <psez:zmPr id="{DAE6E16A-F789-3843-A5DD-0679CC308276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480074" cy="1957542"/>
                        </a:xfrm>
                        <a:prstGeom prst="round2DiagRect">
                          <a:avLst>
                            <a:gd name="adj1" fmla="val 16667"/>
                            <a:gd name="adj2" fmla="val 0"/>
                          </a:avLst>
                        </a:prstGeom>
                        <a:ln w="88900" cap="sq">
                          <a:solidFill>
                            <a:schemeClr val="tx1"/>
                          </a:solidFill>
                          <a:miter lim="800000"/>
                        </a:ln>
                        <a:effectLst>
                          <a:outerShdw blurRad="254000" algn="tl" rotWithShape="0">
                            <a:srgbClr val="000000">
                              <a:alpha val="43000"/>
                            </a:srgbClr>
                          </a:outerShdw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6" name="Section Zoom 5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7D8E786A-2900-F246-0356-FE3ECF0A81B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74991" y="511584"/>
                <a:ext cx="3480074" cy="1957542"/>
              </a:xfrm>
              <a:prstGeom prst="round2DiagRect">
                <a:avLst>
                  <a:gd name="adj1" fmla="val 16667"/>
                  <a:gd name="adj2" fmla="val 0"/>
                </a:avLst>
              </a:prstGeom>
              <a:ln w="88900" cap="sq">
                <a:solidFill>
                  <a:schemeClr val="tx1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8" name="Section Zoom 7">
                <a:extLst>
                  <a:ext uri="{FF2B5EF4-FFF2-40B4-BE49-F238E27FC236}">
                    <a16:creationId xmlns:a16="http://schemas.microsoft.com/office/drawing/2014/main" id="{D6288262-B054-3FAE-0340-5798F21CC21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85322755"/>
                  </p:ext>
                </p:extLst>
              </p:nvPr>
            </p:nvGraphicFramePr>
            <p:xfrm>
              <a:off x="1072158" y="2940461"/>
              <a:ext cx="3632657" cy="2043369"/>
            </p:xfrm>
            <a:graphic>
              <a:graphicData uri="http://schemas.microsoft.com/office/powerpoint/2016/sectionzoom">
                <psez:sectionZm>
                  <psez:sectionZmObj sectionId="{F3A6D98F-7A5C-8F41-8ADC-B088D92E53DC}">
                    <psez:zmPr id="{629E8998-365D-5C48-98FD-6CD26BDC4766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632657" cy="2043369"/>
                        </a:xfrm>
                        <a:prstGeom prst="round2DiagRect">
                          <a:avLst>
                            <a:gd name="adj1" fmla="val 16667"/>
                            <a:gd name="adj2" fmla="val 0"/>
                          </a:avLst>
                        </a:prstGeom>
                        <a:ln w="88900" cap="sq">
                          <a:solidFill>
                            <a:schemeClr val="tx1"/>
                          </a:solidFill>
                          <a:miter lim="800000"/>
                        </a:ln>
                        <a:effectLst>
                          <a:outerShdw blurRad="254000" algn="tl" rotWithShape="0">
                            <a:srgbClr val="000000">
                              <a:alpha val="43000"/>
                            </a:srgbClr>
                          </a:outerShdw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8" name="Section Zoom 7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D6288262-B054-3FAE-0340-5798F21CC21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72158" y="2940461"/>
                <a:ext cx="3632657" cy="2043369"/>
              </a:xfrm>
              <a:prstGeom prst="round2DiagRect">
                <a:avLst>
                  <a:gd name="adj1" fmla="val 16667"/>
                  <a:gd name="adj2" fmla="val 0"/>
                </a:avLst>
              </a:prstGeom>
              <a:ln w="88900" cap="sq">
                <a:solidFill>
                  <a:schemeClr val="tx1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0" name="Section Zoom 9">
                <a:extLst>
                  <a:ext uri="{FF2B5EF4-FFF2-40B4-BE49-F238E27FC236}">
                    <a16:creationId xmlns:a16="http://schemas.microsoft.com/office/drawing/2014/main" id="{A0E14002-BD5A-1589-A0D4-4B865F172EB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23861745"/>
                  </p:ext>
                </p:extLst>
              </p:nvPr>
            </p:nvGraphicFramePr>
            <p:xfrm>
              <a:off x="5074991" y="2940461"/>
              <a:ext cx="3632657" cy="2043369"/>
            </p:xfrm>
            <a:graphic>
              <a:graphicData uri="http://schemas.microsoft.com/office/powerpoint/2016/sectionzoom">
                <psez:sectionZm>
                  <psez:sectionZmObj sectionId="{EA1A83AC-57E7-FC4D-86AC-28C00F099FEE}">
                    <psez:zmPr id="{ADB13E90-E7AA-5C4C-8510-B71000DA1B85}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632657" cy="2043369"/>
                        </a:xfrm>
                        <a:prstGeom prst="round2DiagRect">
                          <a:avLst>
                            <a:gd name="adj1" fmla="val 16667"/>
                            <a:gd name="adj2" fmla="val 0"/>
                          </a:avLst>
                        </a:prstGeom>
                        <a:ln w="88900" cap="sq">
                          <a:solidFill>
                            <a:schemeClr val="tx1"/>
                          </a:solidFill>
                          <a:miter lim="800000"/>
                        </a:ln>
                        <a:effectLst>
                          <a:outerShdw blurRad="254000" algn="tl" rotWithShape="0">
                            <a:srgbClr val="000000">
                              <a:alpha val="43000"/>
                            </a:srgbClr>
                          </a:outerShdw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0" name="Section Zoom 9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A0E14002-BD5A-1589-A0D4-4B865F172EB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74991" y="2940461"/>
                <a:ext cx="3632657" cy="2043369"/>
              </a:xfrm>
              <a:prstGeom prst="round2DiagRect">
                <a:avLst>
                  <a:gd name="adj1" fmla="val 16667"/>
                  <a:gd name="adj2" fmla="val 0"/>
                </a:avLst>
              </a:prstGeom>
              <a:ln w="88900" cap="sq">
                <a:solidFill>
                  <a:schemeClr val="tx1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5180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95AF7-275B-DEBB-3AE0-962ED5F6F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Constructors in JAVA</a:t>
            </a:r>
          </a:p>
        </p:txBody>
      </p:sp>
    </p:spTree>
    <p:extLst>
      <p:ext uri="{BB962C8B-B14F-4D97-AF65-F5344CB8AC3E}">
        <p14:creationId xmlns:p14="http://schemas.microsoft.com/office/powerpoint/2010/main" val="380744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49293-F6AD-9A19-2CBA-C9134A23F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a Constructor?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86656-76D3-847E-8C06-603B16889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745331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A special method that initializes an object when it is created.</a:t>
            </a:r>
          </a:p>
          <a:p>
            <a:r>
              <a:rPr lang="en-IN" dirty="0"/>
              <a:t>It has the </a:t>
            </a:r>
            <a:r>
              <a:rPr lang="en-IN" b="1" dirty="0"/>
              <a:t>same name as the class</a:t>
            </a:r>
            <a:r>
              <a:rPr lang="en-IN" dirty="0"/>
              <a:t> and </a:t>
            </a:r>
            <a:r>
              <a:rPr lang="en-IN" b="1" dirty="0"/>
              <a:t>no return type</a:t>
            </a:r>
            <a:r>
              <a:rPr lang="en-IN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37E956-6D7B-7A5A-1B0E-D25FA0962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2114550"/>
            <a:ext cx="6651551" cy="29225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E16191-C33D-3BC0-A20D-0DB0E8F4F050}"/>
              </a:ext>
            </a:extLst>
          </p:cNvPr>
          <p:cNvSpPr txBox="1"/>
          <p:nvPr/>
        </p:nvSpPr>
        <p:spPr>
          <a:xfrm>
            <a:off x="6953250" y="2751952"/>
            <a:ext cx="9715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Output:</a:t>
            </a:r>
            <a:endParaRPr lang="en-IN" sz="10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CB8DF4-1532-0CEE-2603-165B45468467}"/>
              </a:ext>
            </a:extLst>
          </p:cNvPr>
          <p:cNvSpPr txBox="1"/>
          <p:nvPr/>
        </p:nvSpPr>
        <p:spPr>
          <a:xfrm>
            <a:off x="6953250" y="2996804"/>
            <a:ext cx="17907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A new car is created!</a:t>
            </a:r>
          </a:p>
        </p:txBody>
      </p:sp>
    </p:spTree>
    <p:extLst>
      <p:ext uri="{BB962C8B-B14F-4D97-AF65-F5344CB8AC3E}">
        <p14:creationId xmlns:p14="http://schemas.microsoft.com/office/powerpoint/2010/main" val="3720000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19C81-FD32-EF1E-7896-8BDBAD1F4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Characteristics of a Constructor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6581F-0C59-BAF8-368A-760BD45F5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Same name as the class</a:t>
            </a:r>
            <a:endParaRPr lang="en-IN" dirty="0"/>
          </a:p>
          <a:p>
            <a:r>
              <a:rPr lang="en-IN" b="1" dirty="0"/>
              <a:t>No return type (not even void)</a:t>
            </a:r>
            <a:endParaRPr lang="en-IN" dirty="0"/>
          </a:p>
          <a:p>
            <a:r>
              <a:rPr lang="en-IN" b="1" dirty="0"/>
              <a:t>Automatically invoked when an object is created</a:t>
            </a:r>
            <a:endParaRPr lang="en-IN" dirty="0"/>
          </a:p>
          <a:p>
            <a:r>
              <a:rPr lang="en-IN" b="1" dirty="0"/>
              <a:t>Can have parameters (parameterized constructor)</a:t>
            </a:r>
            <a:endParaRPr lang="en-IN" dirty="0"/>
          </a:p>
          <a:p>
            <a:r>
              <a:rPr lang="en-IN" b="1" dirty="0"/>
              <a:t>If no constructor is defined, Java provides a default constructor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991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BB6E4-97AC-7B29-6D48-976EA66AF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856" y="273844"/>
            <a:ext cx="2625994" cy="99417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Default Constructor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BBEE4-4CC7-9AD7-CFF3-A92385915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2743200" cy="1335881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A constructor without parameters that assigns default values.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9B3F43-05F7-B9A1-8F7A-F75458584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813" y="183356"/>
            <a:ext cx="5944490" cy="4686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A58651-BF97-09C9-5524-DA6C71B132F0}"/>
              </a:ext>
            </a:extLst>
          </p:cNvPr>
          <p:cNvSpPr txBox="1"/>
          <p:nvPr/>
        </p:nvSpPr>
        <p:spPr>
          <a:xfrm>
            <a:off x="628650" y="2705100"/>
            <a:ext cx="1104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Output: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F7AA81-B29A-2270-F751-8FBB6EF0384D}"/>
              </a:ext>
            </a:extLst>
          </p:cNvPr>
          <p:cNvSpPr txBox="1"/>
          <p:nvPr/>
        </p:nvSpPr>
        <p:spPr>
          <a:xfrm>
            <a:off x="628650" y="3051349"/>
            <a:ext cx="21717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Unknown - 18 years old</a:t>
            </a:r>
          </a:p>
        </p:txBody>
      </p:sp>
    </p:spTree>
    <p:extLst>
      <p:ext uri="{BB962C8B-B14F-4D97-AF65-F5344CB8AC3E}">
        <p14:creationId xmlns:p14="http://schemas.microsoft.com/office/powerpoint/2010/main" val="3796446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B6C31-E7AB-9079-9381-834BD023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586" y="50924"/>
            <a:ext cx="7492462" cy="994172"/>
          </a:xfrm>
        </p:spPr>
        <p:txBody>
          <a:bodyPr>
            <a:normAutofit/>
          </a:bodyPr>
          <a:lstStyle/>
          <a:p>
            <a:r>
              <a:rPr lang="en-IN" b="1" dirty="0"/>
              <a:t>Parameterized Constructor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0A6A6-59DD-9884-3EF7-148A08017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2514600" cy="1202531"/>
          </a:xfrm>
        </p:spPr>
        <p:txBody>
          <a:bodyPr/>
          <a:lstStyle/>
          <a:p>
            <a:r>
              <a:rPr lang="en-IN" b="1" dirty="0"/>
              <a:t>Allows passing values during object creation.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D34C9F-DB5C-E3E4-1669-4831F1CA7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548010"/>
            <a:ext cx="5829300" cy="45954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D089C5-533C-F718-4EF8-B4983A346535}"/>
              </a:ext>
            </a:extLst>
          </p:cNvPr>
          <p:cNvSpPr txBox="1"/>
          <p:nvPr/>
        </p:nvSpPr>
        <p:spPr>
          <a:xfrm>
            <a:off x="628650" y="2571750"/>
            <a:ext cx="135255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00" b="1" dirty="0"/>
              <a:t>Output:</a:t>
            </a:r>
            <a:endParaRPr lang="en-IN" sz="2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37CF3C-7B2B-391F-3756-7F3D68605FAC}"/>
              </a:ext>
            </a:extLst>
          </p:cNvPr>
          <p:cNvSpPr txBox="1"/>
          <p:nvPr/>
        </p:nvSpPr>
        <p:spPr>
          <a:xfrm>
            <a:off x="628650" y="3065206"/>
            <a:ext cx="21907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Aman - 20 years old</a:t>
            </a:r>
          </a:p>
        </p:txBody>
      </p:sp>
    </p:spTree>
    <p:extLst>
      <p:ext uri="{BB962C8B-B14F-4D97-AF65-F5344CB8AC3E}">
        <p14:creationId xmlns:p14="http://schemas.microsoft.com/office/powerpoint/2010/main" val="3029766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5F0-BF9A-F96C-41DC-3E538FEB9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62900" cy="994172"/>
          </a:xfrm>
        </p:spPr>
        <p:txBody>
          <a:bodyPr/>
          <a:lstStyle/>
          <a:p>
            <a:r>
              <a:rPr lang="en-IN" b="1" dirty="0"/>
              <a:t>Constructor Overloading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5AE4E-AAF2-6070-4A1D-F9E9F9E08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68" y="1030717"/>
            <a:ext cx="2308279" cy="1944958"/>
          </a:xfrm>
        </p:spPr>
        <p:txBody>
          <a:bodyPr>
            <a:normAutofit/>
          </a:bodyPr>
          <a:lstStyle/>
          <a:p>
            <a:r>
              <a:rPr lang="en-IN" b="1" dirty="0"/>
              <a:t>Multiple constructors with different parameters.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02F025-C034-0393-5916-8EB4B9E7F90C}"/>
              </a:ext>
            </a:extLst>
          </p:cNvPr>
          <p:cNvSpPr txBox="1"/>
          <p:nvPr/>
        </p:nvSpPr>
        <p:spPr>
          <a:xfrm>
            <a:off x="152400" y="3846451"/>
            <a:ext cx="131445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00" b="1" dirty="0"/>
              <a:t>Output:</a:t>
            </a:r>
            <a:endParaRPr lang="en-IN" sz="2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02C3B7-DABB-A42A-8F2F-3765B93A7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994" y="999721"/>
            <a:ext cx="6664596" cy="37980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33A9AD-D4A3-1B9E-B25E-8FD074D49773}"/>
              </a:ext>
            </a:extLst>
          </p:cNvPr>
          <p:cNvSpPr txBox="1"/>
          <p:nvPr/>
        </p:nvSpPr>
        <p:spPr>
          <a:xfrm>
            <a:off x="152400" y="4261949"/>
            <a:ext cx="23812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dirty="0"/>
              <a:t>Unknown - 18 years old  </a:t>
            </a:r>
          </a:p>
          <a:p>
            <a:r>
              <a:rPr lang="en-IN" sz="1500" dirty="0"/>
              <a:t>Aditya - 20 years old  </a:t>
            </a:r>
          </a:p>
        </p:txBody>
      </p:sp>
    </p:spTree>
    <p:extLst>
      <p:ext uri="{BB962C8B-B14F-4D97-AF65-F5344CB8AC3E}">
        <p14:creationId xmlns:p14="http://schemas.microsoft.com/office/powerpoint/2010/main" val="3826581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A9727-C5D8-EA36-AD0C-A8FBFB558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Difference Between Constructor and Method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D22AD4-E5D4-3EB3-3074-00D51F3858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3148537"/>
              </p:ext>
            </p:extLst>
          </p:nvPr>
        </p:nvGraphicFramePr>
        <p:xfrm>
          <a:off x="749776" y="1810921"/>
          <a:ext cx="7644447" cy="14097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428750">
                  <a:extLst>
                    <a:ext uri="{9D8B030D-6E8A-4147-A177-3AD203B41FA5}">
                      <a16:colId xmlns:a16="http://schemas.microsoft.com/office/drawing/2014/main" val="3140205052"/>
                    </a:ext>
                  </a:extLst>
                </a:gridCol>
                <a:gridCol w="3586798">
                  <a:extLst>
                    <a:ext uri="{9D8B030D-6E8A-4147-A177-3AD203B41FA5}">
                      <a16:colId xmlns:a16="http://schemas.microsoft.com/office/drawing/2014/main" val="2773734858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1836892679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Feature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Constructor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Method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0142882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Name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Same as class name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Any valid identifier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8646401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Return Type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 return type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Has return type (void, int, etc.)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9326401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Invocation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Called automatically when object is created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Called explicitly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9759922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Purpose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Initializes an object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Performs an operation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37977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3877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85A17-CAD8-5004-CEF9-28FE33D5A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Mistakes with Constructors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1723F6-56BD-9D28-29CA-A535D535902C}"/>
              </a:ext>
            </a:extLst>
          </p:cNvPr>
          <p:cNvSpPr txBox="1"/>
          <p:nvPr/>
        </p:nvSpPr>
        <p:spPr>
          <a:xfrm>
            <a:off x="628650" y="1268016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Forgetting to Define a Constructor When Needed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CA279B-09E9-9E3E-B853-4B5F5D9E6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45015"/>
            <a:ext cx="5829300" cy="14397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E63BA5-DDB3-B34F-7A20-6E1497D6315F}"/>
              </a:ext>
            </a:extLst>
          </p:cNvPr>
          <p:cNvSpPr txBox="1"/>
          <p:nvPr/>
        </p:nvSpPr>
        <p:spPr>
          <a:xfrm>
            <a:off x="628650" y="3123281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r>
              <a:rPr lang="en-IN" sz="1050" dirty="0"/>
              <a:t> Define a constructor explicitly.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FAFCA8-C7CA-F433-A509-7DDF1F11B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400280"/>
            <a:ext cx="4943475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593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10D1B-35AD-FD75-354B-89A90A84D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E6630-7BAD-30D0-66A2-5C0D26261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Mistakes with Constructors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E7E99D-CC04-E762-35A4-430D09D476C8}"/>
              </a:ext>
            </a:extLst>
          </p:cNvPr>
          <p:cNvSpPr txBox="1"/>
          <p:nvPr/>
        </p:nvSpPr>
        <p:spPr>
          <a:xfrm>
            <a:off x="495300" y="1129517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Using a Return Type in a Constructor</a:t>
            </a:r>
            <a:endParaRPr lang="en-IN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9E44E3-AEB3-F780-5F48-4F8B012D9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406516"/>
            <a:ext cx="5829300" cy="18527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7E48725-772C-87D4-4652-D5CEFF7F8D12}"/>
              </a:ext>
            </a:extLst>
          </p:cNvPr>
          <p:cNvSpPr txBox="1"/>
          <p:nvPr/>
        </p:nvSpPr>
        <p:spPr>
          <a:xfrm>
            <a:off x="495300" y="3268015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r>
              <a:rPr lang="en-IN" sz="1050" dirty="0"/>
              <a:t> Remove return type.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E8819B6-A56F-320C-9B4F-89ED40F8B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3553790"/>
            <a:ext cx="5610225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065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2DF20-7AD9-F879-4DC4-DB33D9344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95F0D-7381-B621-0275-6FFE3EA45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“this” keyword in JAVA</a:t>
            </a:r>
          </a:p>
        </p:txBody>
      </p:sp>
    </p:spTree>
    <p:extLst>
      <p:ext uri="{BB962C8B-B14F-4D97-AF65-F5344CB8AC3E}">
        <p14:creationId xmlns:p14="http://schemas.microsoft.com/office/powerpoint/2010/main" val="118601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A6EA4-B4B2-5E6D-B1E5-0A8588E98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“this”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CA2CE-F4DC-B342-40FC-B4C59B563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IN" dirty="0"/>
              <a:t> keyword is a reference variable that </a:t>
            </a:r>
            <a:r>
              <a:rPr lang="en-IN" b="1" dirty="0"/>
              <a:t>refers to the current object</a:t>
            </a:r>
            <a:r>
              <a:rPr lang="en-IN" dirty="0"/>
              <a:t> in Java.</a:t>
            </a:r>
          </a:p>
          <a:p>
            <a:r>
              <a:rPr lang="en-IN" dirty="0"/>
              <a:t>Used to </a:t>
            </a:r>
            <a:r>
              <a:rPr lang="en-IN" b="1" dirty="0"/>
              <a:t>avoid confusion between instance and local variables</a:t>
            </a:r>
            <a:r>
              <a:rPr lang="en-IN" dirty="0"/>
              <a:t> with the same name.</a:t>
            </a:r>
          </a:p>
          <a:p>
            <a:r>
              <a:rPr lang="en-IN" dirty="0"/>
              <a:t>Helps in </a:t>
            </a:r>
            <a:r>
              <a:rPr lang="en-IN" b="1" dirty="0"/>
              <a:t>constructor chaining and returning the current object</a:t>
            </a:r>
            <a:r>
              <a:rPr lang="en-IN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272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20738-470C-362C-ACD4-8FC06DBC5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73805"/>
            <a:ext cx="8520600" cy="714316"/>
          </a:xfrm>
        </p:spPr>
        <p:txBody>
          <a:bodyPr>
            <a:normAutofit/>
          </a:bodyPr>
          <a:lstStyle/>
          <a:p>
            <a:r>
              <a:rPr lang="en-IN" b="1" dirty="0"/>
              <a:t>Using “this” to Refer to Instance Variables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F9E36-87B1-A60C-31FC-B92607184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976" y="1369219"/>
            <a:ext cx="2673458" cy="1202531"/>
          </a:xfrm>
        </p:spPr>
        <p:txBody>
          <a:bodyPr>
            <a:normAutofit/>
          </a:bodyPr>
          <a:lstStyle/>
          <a:p>
            <a:r>
              <a:rPr lang="en-IN" b="1" dirty="0"/>
              <a:t>Without this (Variable Shadowing Issue):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90B9CE-083D-B788-C290-DF34C4203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695" y="888121"/>
            <a:ext cx="6459611" cy="418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475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D0D61-5D3B-D772-B9ED-9F4B42F76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29B7F-A9CB-DB0A-F093-FE3D8019D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59377"/>
            <a:ext cx="7941146" cy="5787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Using “this” to Refer to Instance Variables (Contd.)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16FA6-AAED-946B-A3F8-3A9C16186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369219"/>
            <a:ext cx="2775857" cy="688182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Correct Way (Using this):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D71391-1B47-07CB-F81E-2801E12E7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585" y="638077"/>
            <a:ext cx="5437415" cy="43669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23577D-35C7-0C65-B7B0-B85271DBD19E}"/>
              </a:ext>
            </a:extLst>
          </p:cNvPr>
          <p:cNvSpPr txBox="1"/>
          <p:nvPr/>
        </p:nvSpPr>
        <p:spPr>
          <a:xfrm>
            <a:off x="628650" y="2158603"/>
            <a:ext cx="13062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00" b="1" dirty="0"/>
              <a:t>Output:</a:t>
            </a:r>
            <a:endParaRPr lang="en-IN" sz="2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0D91A3-620F-AB8E-C45E-6311B9EE2D0E}"/>
              </a:ext>
            </a:extLst>
          </p:cNvPr>
          <p:cNvSpPr txBox="1"/>
          <p:nvPr/>
        </p:nvSpPr>
        <p:spPr>
          <a:xfrm>
            <a:off x="628650" y="2821539"/>
            <a:ext cx="2528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Name: Aditya, Age: 36</a:t>
            </a:r>
          </a:p>
        </p:txBody>
      </p:sp>
    </p:spTree>
    <p:extLst>
      <p:ext uri="{BB962C8B-B14F-4D97-AF65-F5344CB8AC3E}">
        <p14:creationId xmlns:p14="http://schemas.microsoft.com/office/powerpoint/2010/main" val="937780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EA9FE-157A-4140-7399-A2BB91307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67" y="273844"/>
            <a:ext cx="7848923" cy="625342"/>
          </a:xfrm>
        </p:spPr>
        <p:txBody>
          <a:bodyPr>
            <a:normAutofit/>
          </a:bodyPr>
          <a:lstStyle/>
          <a:p>
            <a:r>
              <a:rPr lang="en-IN" b="1" dirty="0"/>
              <a:t>Using “this” to Call a Constructor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3073E-12BF-8BB1-058D-FDE2C7DEE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2726872" cy="2280217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A constructor can call another constructor using this().</a:t>
            </a:r>
            <a:endParaRPr lang="en-US" b="1" dirty="0"/>
          </a:p>
          <a:p>
            <a:r>
              <a:rPr lang="en-US" b="1" dirty="0"/>
              <a:t>Example (Constructor Chaining):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D765E4-317E-027D-0166-805CE2018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522" y="711163"/>
            <a:ext cx="5829300" cy="44323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C389D1-26F3-A78D-8612-9B97CF2B87E4}"/>
              </a:ext>
            </a:extLst>
          </p:cNvPr>
          <p:cNvSpPr txBox="1"/>
          <p:nvPr/>
        </p:nvSpPr>
        <p:spPr>
          <a:xfrm>
            <a:off x="628651" y="3612138"/>
            <a:ext cx="133077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00" b="1" dirty="0"/>
              <a:t>Output:</a:t>
            </a:r>
            <a:endParaRPr lang="en-IN" sz="2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3E0C2A-B079-6D6C-7A6C-3DA19720AE9A}"/>
              </a:ext>
            </a:extLst>
          </p:cNvPr>
          <p:cNvSpPr txBox="1"/>
          <p:nvPr/>
        </p:nvSpPr>
        <p:spPr>
          <a:xfrm>
            <a:off x="628650" y="4119469"/>
            <a:ext cx="23104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Name: Aditya, Age: 36</a:t>
            </a:r>
          </a:p>
        </p:txBody>
      </p:sp>
    </p:spTree>
    <p:extLst>
      <p:ext uri="{BB962C8B-B14F-4D97-AF65-F5344CB8AC3E}">
        <p14:creationId xmlns:p14="http://schemas.microsoft.com/office/powerpoint/2010/main" val="4017909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1925A-366C-2ABF-EA6C-0EE2FC004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1341" y="317702"/>
            <a:ext cx="2812943" cy="1108141"/>
          </a:xfrm>
        </p:spPr>
        <p:txBody>
          <a:bodyPr>
            <a:normAutofit/>
          </a:bodyPr>
          <a:lstStyle/>
          <a:p>
            <a:r>
              <a:rPr lang="en-IN" b="1" dirty="0"/>
              <a:t>Using “this” to Call a Method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F0CF4-FF0B-CB82-7F37-C36BAFD66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8"/>
            <a:ext cx="3339193" cy="1202531"/>
          </a:xfrm>
        </p:spPr>
        <p:txBody>
          <a:bodyPr>
            <a:normAutofit/>
          </a:bodyPr>
          <a:lstStyle/>
          <a:p>
            <a:r>
              <a:rPr lang="en-IN" b="1" dirty="0"/>
              <a:t>You can use this to call another method within the same class.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0F720B-1E36-4A5D-59CD-0B4983930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608" y="489857"/>
            <a:ext cx="4950392" cy="46060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709AC0-5184-079D-BFBC-789FA4DD6231}"/>
              </a:ext>
            </a:extLst>
          </p:cNvPr>
          <p:cNvSpPr txBox="1"/>
          <p:nvPr/>
        </p:nvSpPr>
        <p:spPr>
          <a:xfrm>
            <a:off x="628649" y="2464594"/>
            <a:ext cx="145324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00" b="1" dirty="0"/>
              <a:t>Output:</a:t>
            </a:r>
            <a:endParaRPr lang="en-IN" sz="2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83345E-D774-51D9-D69E-602963065DBD}"/>
              </a:ext>
            </a:extLst>
          </p:cNvPr>
          <p:cNvSpPr txBox="1"/>
          <p:nvPr/>
        </p:nvSpPr>
        <p:spPr>
          <a:xfrm>
            <a:off x="628650" y="2994781"/>
            <a:ext cx="19920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Hi, I am Aditya  </a:t>
            </a:r>
          </a:p>
          <a:p>
            <a:r>
              <a:rPr lang="en-US" sz="1800" dirty="0"/>
              <a:t>Age: 36 </a:t>
            </a:r>
          </a:p>
        </p:txBody>
      </p:sp>
    </p:spTree>
    <p:extLst>
      <p:ext uri="{BB962C8B-B14F-4D97-AF65-F5344CB8AC3E}">
        <p14:creationId xmlns:p14="http://schemas.microsoft.com/office/powerpoint/2010/main" val="2029746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F4EA9-02AA-564B-5F24-B8CC290F1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0284" y="154982"/>
            <a:ext cx="7307036" cy="994172"/>
          </a:xfrm>
        </p:spPr>
        <p:txBody>
          <a:bodyPr/>
          <a:lstStyle/>
          <a:p>
            <a:r>
              <a:rPr lang="en-IN" b="1" dirty="0"/>
              <a:t>Returning Current Object Using “this”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6AC63D-33D1-D735-2A4D-9C92EDFBC0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8454" y="849225"/>
            <a:ext cx="5468054" cy="41392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6241AB-EFDB-2EA7-1D84-88DA0C4ADBA6}"/>
              </a:ext>
            </a:extLst>
          </p:cNvPr>
          <p:cNvSpPr txBox="1"/>
          <p:nvPr/>
        </p:nvSpPr>
        <p:spPr>
          <a:xfrm>
            <a:off x="628651" y="1600494"/>
            <a:ext cx="13858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Output: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A04A90-AF25-DB73-E390-9B84EA957AE1}"/>
              </a:ext>
            </a:extLst>
          </p:cNvPr>
          <p:cNvSpPr txBox="1"/>
          <p:nvPr/>
        </p:nvSpPr>
        <p:spPr>
          <a:xfrm>
            <a:off x="701872" y="2062159"/>
            <a:ext cx="1976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Name: Aditya, Age: 36</a:t>
            </a:r>
          </a:p>
        </p:txBody>
      </p:sp>
    </p:spTree>
    <p:extLst>
      <p:ext uri="{BB962C8B-B14F-4D97-AF65-F5344CB8AC3E}">
        <p14:creationId xmlns:p14="http://schemas.microsoft.com/office/powerpoint/2010/main" val="2165414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63232-E4F1-60EE-45BE-8CB927709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When Using “this”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DA7FB6-2E80-61A8-8268-9F397B01C594}"/>
              </a:ext>
            </a:extLst>
          </p:cNvPr>
          <p:cNvSpPr txBox="1"/>
          <p:nvPr/>
        </p:nvSpPr>
        <p:spPr>
          <a:xfrm>
            <a:off x="628650" y="1268016"/>
            <a:ext cx="458016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Using this in a Static Context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DD2C18-65BE-F0E2-A256-4EB864098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45015"/>
            <a:ext cx="6511004" cy="20534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E837F5-45CF-B85A-D1BE-A0024395BCB2}"/>
              </a:ext>
            </a:extLst>
          </p:cNvPr>
          <p:cNvSpPr txBox="1"/>
          <p:nvPr/>
        </p:nvSpPr>
        <p:spPr>
          <a:xfrm>
            <a:off x="628650" y="3875484"/>
            <a:ext cx="458016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endParaRPr lang="en-IN" sz="1050" dirty="0"/>
          </a:p>
          <a:p>
            <a:r>
              <a:rPr lang="en-IN" sz="1050" dirty="0"/>
              <a:t>• this cannot be used in </a:t>
            </a:r>
            <a:r>
              <a:rPr lang="en-IN" sz="1050" b="1" dirty="0"/>
              <a:t>static</a:t>
            </a:r>
            <a:r>
              <a:rPr lang="en-IN" sz="1050" dirty="0"/>
              <a:t> methods because it refers to an instance.</a:t>
            </a:r>
          </a:p>
        </p:txBody>
      </p:sp>
    </p:spTree>
    <p:extLst>
      <p:ext uri="{BB962C8B-B14F-4D97-AF65-F5344CB8AC3E}">
        <p14:creationId xmlns:p14="http://schemas.microsoft.com/office/powerpoint/2010/main" val="1633945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0B217-2CC9-C370-9B7A-6CDA318C9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E0F1C-FD2E-532D-CB54-C4588216D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When Using “this” (Contd.)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BF6F62-63BC-80AF-71BB-7ED0A6133280}"/>
              </a:ext>
            </a:extLst>
          </p:cNvPr>
          <p:cNvSpPr txBox="1"/>
          <p:nvPr/>
        </p:nvSpPr>
        <p:spPr>
          <a:xfrm>
            <a:off x="428625" y="1551508"/>
            <a:ext cx="458016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Forgetting to Use this When Required</a:t>
            </a:r>
            <a:endParaRPr lang="en-IN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09CE57-33C9-4434-72CA-3E85E1706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225" y="1201511"/>
            <a:ext cx="5010150" cy="21526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D666C5-C47E-5066-14FE-91F6BF8CFA10}"/>
              </a:ext>
            </a:extLst>
          </p:cNvPr>
          <p:cNvSpPr txBox="1"/>
          <p:nvPr/>
        </p:nvSpPr>
        <p:spPr>
          <a:xfrm>
            <a:off x="428625" y="3360654"/>
            <a:ext cx="458016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endParaRPr lang="en-IN" sz="10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F0419F-9C70-E9DB-B29F-747DC34B9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450" y="3360654"/>
            <a:ext cx="401955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914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22D06-B322-0EC6-D676-C68EDEFB2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When to Use “this” in Java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7A726-A3F8-5AE5-CC24-BAF19EAA6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2451667"/>
          </a:xfrm>
        </p:spPr>
        <p:txBody>
          <a:bodyPr/>
          <a:lstStyle/>
          <a:p>
            <a:r>
              <a:rPr lang="en-IN" b="1" dirty="0"/>
              <a:t>To resolve variable shadowing</a:t>
            </a:r>
            <a:r>
              <a:rPr lang="en-IN" dirty="0"/>
              <a:t> when local and instance variables have the same name.</a:t>
            </a:r>
          </a:p>
          <a:p>
            <a:r>
              <a:rPr lang="en-IN" b="1" dirty="0"/>
              <a:t>To call another constructor</a:t>
            </a:r>
            <a:r>
              <a:rPr lang="en-IN" dirty="0"/>
              <a:t> in the same class (this()).</a:t>
            </a:r>
          </a:p>
          <a:p>
            <a:r>
              <a:rPr lang="en-IN" b="1" dirty="0"/>
              <a:t>To invoke another method</a:t>
            </a:r>
            <a:r>
              <a:rPr lang="en-IN" dirty="0"/>
              <a:t> within the same class (</a:t>
            </a:r>
            <a:r>
              <a:rPr lang="en-IN" dirty="0" err="1"/>
              <a:t>this.methodName</a:t>
            </a:r>
            <a:r>
              <a:rPr lang="en-IN" dirty="0"/>
              <a:t>()).</a:t>
            </a:r>
          </a:p>
          <a:p>
            <a:r>
              <a:rPr lang="en-IN" b="1" dirty="0"/>
              <a:t>To return the current object</a:t>
            </a:r>
            <a:r>
              <a:rPr lang="en-IN" dirty="0"/>
              <a:t> (return this;) in method chaining.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535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BE0DB-AAB9-93DE-8E99-E59B1F67F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38AF4-147B-1205-B98B-EC5939D42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Scanner Class</a:t>
            </a:r>
          </a:p>
        </p:txBody>
      </p:sp>
    </p:spTree>
    <p:extLst>
      <p:ext uri="{BB962C8B-B14F-4D97-AF65-F5344CB8AC3E}">
        <p14:creationId xmlns:p14="http://schemas.microsoft.com/office/powerpoint/2010/main" val="513385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15D5D-C8BC-C448-B045-D1EAB6D41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the Scanner Class?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C1A00-9843-9624-91B7-651694F25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1761608"/>
          </a:xfrm>
        </p:spPr>
        <p:txBody>
          <a:bodyPr/>
          <a:lstStyle/>
          <a:p>
            <a:r>
              <a:rPr lang="en-IN" dirty="0"/>
              <a:t>• </a:t>
            </a:r>
            <a:r>
              <a:rPr lang="en-IN" b="1" i="1" dirty="0"/>
              <a:t>Scanner</a:t>
            </a:r>
            <a:r>
              <a:rPr lang="en-IN" dirty="0"/>
              <a:t> is a built-in class in Java </a:t>
            </a:r>
            <a:r>
              <a:rPr lang="en-IN" b="1" dirty="0"/>
              <a:t>used to take user input</a:t>
            </a:r>
            <a:r>
              <a:rPr lang="en-IN" dirty="0"/>
              <a:t> from the keyboard.</a:t>
            </a:r>
          </a:p>
          <a:p>
            <a:r>
              <a:rPr lang="en-IN" dirty="0"/>
              <a:t>• Part of the </a:t>
            </a:r>
            <a:r>
              <a:rPr lang="en-IN" b="1" i="1" dirty="0"/>
              <a:t>java.util</a:t>
            </a:r>
            <a:r>
              <a:rPr lang="en-IN" dirty="0"/>
              <a:t> package.</a:t>
            </a:r>
          </a:p>
          <a:p>
            <a:r>
              <a:rPr lang="en-IN" dirty="0"/>
              <a:t>• Reads input as strings, integers, floats, etc.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297F92-B138-F984-5209-A95397B3B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174" y="2850667"/>
            <a:ext cx="5499653" cy="176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47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89931-5E0A-DD1F-9D0E-829E4BA0E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Creating a Scanner Object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991D518-623C-2A98-FA40-2DA7738539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209675"/>
            <a:ext cx="3474294" cy="15525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9620D1-2DFE-72FB-A2A3-6B4BFAB14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3825" y="2331244"/>
            <a:ext cx="5210175" cy="2733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2CE14D-7F8D-5A64-2B50-483A3D070F5B}"/>
              </a:ext>
            </a:extLst>
          </p:cNvPr>
          <p:cNvSpPr txBox="1"/>
          <p:nvPr/>
        </p:nvSpPr>
        <p:spPr>
          <a:xfrm>
            <a:off x="781050" y="3043103"/>
            <a:ext cx="23647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Input: Aditya</a:t>
            </a:r>
          </a:p>
          <a:p>
            <a:endParaRPr lang="en-US" sz="1800" dirty="0"/>
          </a:p>
          <a:p>
            <a:r>
              <a:rPr lang="en-US" sz="1800" dirty="0"/>
              <a:t>Output: Hello, Aditya!</a:t>
            </a:r>
          </a:p>
        </p:txBody>
      </p:sp>
    </p:spTree>
    <p:extLst>
      <p:ext uri="{BB962C8B-B14F-4D97-AF65-F5344CB8AC3E}">
        <p14:creationId xmlns:p14="http://schemas.microsoft.com/office/powerpoint/2010/main" val="666595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BF25C-FF5A-AC25-96AE-9DC2CD204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Reading Different Data Types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B89DD20-C2A6-297A-1E54-697A34BD26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191816"/>
            <a:ext cx="7886700" cy="27497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9D6F76-0663-3003-62FB-D4E7C5CD5C08}"/>
              </a:ext>
            </a:extLst>
          </p:cNvPr>
          <p:cNvSpPr txBox="1"/>
          <p:nvPr/>
        </p:nvSpPr>
        <p:spPr>
          <a:xfrm>
            <a:off x="742950" y="4133850"/>
            <a:ext cx="101021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Sample input:</a:t>
            </a:r>
          </a:p>
          <a:p>
            <a:r>
              <a:rPr lang="en-US" sz="1050" dirty="0"/>
              <a:t>Aditya</a:t>
            </a:r>
          </a:p>
          <a:p>
            <a:r>
              <a:rPr lang="en-US" sz="1050" dirty="0"/>
              <a:t>36</a:t>
            </a:r>
          </a:p>
          <a:p>
            <a:r>
              <a:rPr lang="en-US" sz="1050" dirty="0"/>
              <a:t>1.75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882FD6-096F-CDDF-F6E9-EAB48E418053}"/>
              </a:ext>
            </a:extLst>
          </p:cNvPr>
          <p:cNvSpPr txBox="1"/>
          <p:nvPr/>
        </p:nvSpPr>
        <p:spPr>
          <a:xfrm>
            <a:off x="2819401" y="4171950"/>
            <a:ext cx="314701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r>
              <a:rPr lang="en-US" sz="1050" dirty="0"/>
              <a:t>Hello, Aditya! You are 36 years old and 1.75m tall</a:t>
            </a:r>
          </a:p>
        </p:txBody>
      </p:sp>
    </p:spTree>
    <p:extLst>
      <p:ext uri="{BB962C8B-B14F-4D97-AF65-F5344CB8AC3E}">
        <p14:creationId xmlns:p14="http://schemas.microsoft.com/office/powerpoint/2010/main" val="2843879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8151C-BDFF-62CA-9CD2-FB2AD5CF6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Methods of the Scanner Class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D441DF-7D44-F09A-B8C3-BB97B2CC51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369219"/>
          <a:ext cx="788669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3311701327"/>
                    </a:ext>
                  </a:extLst>
                </a:gridCol>
                <a:gridCol w="2419350">
                  <a:extLst>
                    <a:ext uri="{9D8B030D-6E8A-4147-A177-3AD203B41FA5}">
                      <a16:colId xmlns:a16="http://schemas.microsoft.com/office/drawing/2014/main" val="91787723"/>
                    </a:ext>
                  </a:extLst>
                </a:gridCol>
                <a:gridCol w="4171948">
                  <a:extLst>
                    <a:ext uri="{9D8B030D-6E8A-4147-A177-3AD203B41FA5}">
                      <a16:colId xmlns:a16="http://schemas.microsoft.com/office/drawing/2014/main" val="118622913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Method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Description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Example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6307109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i="1" dirty="0"/>
                        <a:t>nextLine()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Reads a full line of text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i="1" dirty="0"/>
                        <a:t>String name = scanner.nextLine();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5128731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i="1" dirty="0"/>
                        <a:t>next()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Reads a single word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i="1" dirty="0"/>
                        <a:t>String word = scanner.next();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55525715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i="1" dirty="0"/>
                        <a:t>nextInt()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Reads an integer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i="1" dirty="0"/>
                        <a:t>int age = scanner.nextInt();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4317292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i="1" dirty="0"/>
                        <a:t>nextDouble()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Reads a decimal number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i="1" dirty="0"/>
                        <a:t>double height = scanner.nextDouble();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5689092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i="1" dirty="0"/>
                        <a:t>nextBoolean()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Reads </a:t>
                      </a:r>
                      <a:r>
                        <a:rPr lang="en-US" sz="1100" b="1" i="1" dirty="0"/>
                        <a:t>true</a:t>
                      </a:r>
                      <a:r>
                        <a:rPr lang="en-US" sz="1100" b="0" dirty="0"/>
                        <a:t> or </a:t>
                      </a:r>
                      <a:r>
                        <a:rPr lang="en-US" sz="1100" b="1" i="1" dirty="0"/>
                        <a:t>false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i="1" dirty="0"/>
                        <a:t>Boolean isAdult = </a:t>
                      </a:r>
                      <a:r>
                        <a:rPr lang="en-US" sz="1100" b="1" i="1" dirty="0" err="1"/>
                        <a:t>scanner.nextBoolean</a:t>
                      </a:r>
                      <a:r>
                        <a:rPr lang="en-US" sz="1100" b="1" i="1" dirty="0"/>
                        <a:t>();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79977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8795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E84E4-AF72-3300-DB9F-E019E9ED9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Handling Input Errors (Avoiding Exceptions)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0E9D6F-B91D-58A6-2C67-65CA04A7BD90}"/>
              </a:ext>
            </a:extLst>
          </p:cNvPr>
          <p:cNvSpPr txBox="1"/>
          <p:nvPr/>
        </p:nvSpPr>
        <p:spPr>
          <a:xfrm>
            <a:off x="628650" y="1129516"/>
            <a:ext cx="234315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Incorrect Input Type (InputMismatchException)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955C4E-05B5-5A37-0455-E281F792E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450" y="1071589"/>
            <a:ext cx="6248807" cy="12214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EE2C50-0E7C-6A2B-2560-509ACCEB046B}"/>
              </a:ext>
            </a:extLst>
          </p:cNvPr>
          <p:cNvSpPr txBox="1"/>
          <p:nvPr/>
        </p:nvSpPr>
        <p:spPr>
          <a:xfrm>
            <a:off x="1238250" y="2623709"/>
            <a:ext cx="21717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Solution: Use try-catch to Handle Exceptions</a:t>
            </a:r>
            <a:endParaRPr lang="en-IN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9F0322-7F1D-D7AF-50DF-312FA2D7A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857" y="2246639"/>
            <a:ext cx="5200650" cy="292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076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8F293-3BD9-5E6C-80BB-ADB445F9C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68892"/>
            <a:ext cx="8520600" cy="8488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Flushing the Scanner Buffer (Avoiding Skipping Issues)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710D9-A953-74B3-B615-9DF9533B4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20"/>
            <a:ext cx="3448050" cy="955752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/>
              <a:t>Problem:</a:t>
            </a:r>
            <a:r>
              <a:rPr lang="en-IN" dirty="0"/>
              <a:t> Using </a:t>
            </a:r>
            <a:r>
              <a:rPr lang="en-IN" b="1" i="1" dirty="0"/>
              <a:t>nextLine()</a:t>
            </a:r>
            <a:r>
              <a:rPr lang="en-IN" dirty="0"/>
              <a:t> after </a:t>
            </a:r>
            <a:r>
              <a:rPr lang="en-IN" b="1" i="1" dirty="0"/>
              <a:t>nextInt()</a:t>
            </a:r>
            <a:r>
              <a:rPr lang="en-IN" dirty="0"/>
              <a:t> or </a:t>
            </a:r>
            <a:r>
              <a:rPr lang="en-IN" b="1" i="1" dirty="0"/>
              <a:t>nextDouble()</a:t>
            </a:r>
            <a:r>
              <a:rPr lang="en-IN" dirty="0"/>
              <a:t> causes </a:t>
            </a:r>
            <a:r>
              <a:rPr lang="en-IN" b="1" dirty="0"/>
              <a:t>skipping of input</a:t>
            </a:r>
            <a:r>
              <a:rPr lang="en-IN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29A28E-6175-8FE2-E24B-8C2D24181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725" y="1076326"/>
            <a:ext cx="4867275" cy="1952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F06F12-9CF9-3CB7-DF18-4010D6A5A13F}"/>
              </a:ext>
            </a:extLst>
          </p:cNvPr>
          <p:cNvSpPr txBox="1"/>
          <p:nvPr/>
        </p:nvSpPr>
        <p:spPr>
          <a:xfrm>
            <a:off x="628650" y="2324971"/>
            <a:ext cx="26384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Solution:</a:t>
            </a:r>
            <a:r>
              <a:rPr lang="en-IN" sz="1800" dirty="0"/>
              <a:t> Use </a:t>
            </a:r>
            <a:r>
              <a:rPr lang="en-IN" sz="1800" b="1" i="1" dirty="0"/>
              <a:t>scanner.nextLine()</a:t>
            </a:r>
            <a:r>
              <a:rPr lang="en-IN" sz="1800" dirty="0"/>
              <a:t> after </a:t>
            </a:r>
            <a:r>
              <a:rPr lang="en-IN" sz="1800" b="1" i="1" dirty="0"/>
              <a:t>nextInt()</a:t>
            </a:r>
            <a:r>
              <a:rPr lang="en-IN" sz="1800" dirty="0"/>
              <a:t> to clear the buffer.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A253F9-306E-81C6-B979-8F5AEB27C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975" y="2971800"/>
            <a:ext cx="5534025" cy="21526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4C579C-1E28-EDB7-FFC3-3FC79A543787}"/>
              </a:ext>
            </a:extLst>
          </p:cNvPr>
          <p:cNvSpPr txBox="1"/>
          <p:nvPr/>
        </p:nvSpPr>
        <p:spPr>
          <a:xfrm>
            <a:off x="628651" y="3598001"/>
            <a:ext cx="181011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/>
              <a:t>Correct Output:</a:t>
            </a:r>
          </a:p>
          <a:p>
            <a:endParaRPr lang="en-US" sz="1050" dirty="0"/>
          </a:p>
          <a:p>
            <a:r>
              <a:rPr lang="en-US" sz="1050" dirty="0"/>
              <a:t>Enter your age: 36  </a:t>
            </a:r>
          </a:p>
          <a:p>
            <a:r>
              <a:rPr lang="en-US" sz="1050" dirty="0"/>
              <a:t>Enter your city: Ghaziabad </a:t>
            </a:r>
          </a:p>
        </p:txBody>
      </p:sp>
    </p:spTree>
    <p:extLst>
      <p:ext uri="{BB962C8B-B14F-4D97-AF65-F5344CB8AC3E}">
        <p14:creationId xmlns:p14="http://schemas.microsoft.com/office/powerpoint/2010/main" val="3290596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6FF25-ABB7-61CB-0607-79108AC6A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Closing the Scanner Object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A868F-521B-324A-1136-19A085483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783431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Importance</a:t>
            </a:r>
            <a:r>
              <a:rPr lang="en-US" dirty="0"/>
              <a:t>: Prevents </a:t>
            </a:r>
            <a:r>
              <a:rPr lang="en-US" b="1" dirty="0"/>
              <a:t>resource tasks</a:t>
            </a:r>
            <a:r>
              <a:rPr lang="en-US" dirty="0"/>
              <a:t> when not using </a:t>
            </a:r>
            <a:r>
              <a:rPr lang="en-US" b="1" i="1" dirty="0"/>
              <a:t>System.in </a:t>
            </a:r>
            <a:r>
              <a:rPr lang="en-US" dirty="0"/>
              <a:t>anymore.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77EDAD-94A8-AACC-3B8B-75DC57553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4050"/>
            <a:ext cx="5036518" cy="18478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3E8602-385D-F1B8-735B-F723A9CCF079}"/>
              </a:ext>
            </a:extLst>
          </p:cNvPr>
          <p:cNvSpPr txBox="1"/>
          <p:nvPr/>
        </p:nvSpPr>
        <p:spPr>
          <a:xfrm>
            <a:off x="742951" y="4171950"/>
            <a:ext cx="537999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/>
              <a:t>Note:</a:t>
            </a:r>
            <a:r>
              <a:rPr lang="en-IN" sz="1050" dirty="0"/>
              <a:t> </a:t>
            </a:r>
            <a:r>
              <a:rPr lang="en-IN" sz="1050" b="1" dirty="0"/>
              <a:t>Do not close Scanner if using </a:t>
            </a:r>
            <a:r>
              <a:rPr lang="en-IN" sz="1050" b="1" dirty="0" err="1"/>
              <a:t>System.in</a:t>
            </a:r>
            <a:r>
              <a:rPr lang="en-IN" sz="1050" b="1" dirty="0"/>
              <a:t> multiple times</a:t>
            </a:r>
            <a:r>
              <a:rPr lang="en-IN" sz="1050" dirty="0"/>
              <a:t> in the same program.</a:t>
            </a:r>
          </a:p>
        </p:txBody>
      </p:sp>
    </p:spTree>
    <p:extLst>
      <p:ext uri="{BB962C8B-B14F-4D97-AF65-F5344CB8AC3E}">
        <p14:creationId xmlns:p14="http://schemas.microsoft.com/office/powerpoint/2010/main" val="453032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3EC30-63C8-1D03-F3AE-3F3EAC63C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75069-FB5F-9FCF-5009-ED0E51E18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Garbage Collection in JAVA</a:t>
            </a:r>
          </a:p>
        </p:txBody>
      </p:sp>
    </p:spTree>
    <p:extLst>
      <p:ext uri="{BB962C8B-B14F-4D97-AF65-F5344CB8AC3E}">
        <p14:creationId xmlns:p14="http://schemas.microsoft.com/office/powerpoint/2010/main" val="17470539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D09C0-9938-4B9C-236B-29B595E03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Garbage Collection in Java?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605F6-0B10-C5EB-43CD-A5F3981A0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Garbage collection (GC) is the </a:t>
            </a:r>
            <a:r>
              <a:rPr lang="en-IN" b="1" dirty="0"/>
              <a:t>automatic process of deallocating memory</a:t>
            </a:r>
            <a:r>
              <a:rPr lang="en-IN" dirty="0"/>
              <a:t> occupied by unreferenced objects.</a:t>
            </a:r>
          </a:p>
          <a:p>
            <a:r>
              <a:rPr lang="en-IN" dirty="0"/>
              <a:t>Java </a:t>
            </a:r>
            <a:r>
              <a:rPr lang="en-IN" b="1" dirty="0"/>
              <a:t>does not require manual memory management</a:t>
            </a:r>
            <a:r>
              <a:rPr lang="en-IN" dirty="0"/>
              <a:t> (like C/C++).</a:t>
            </a:r>
          </a:p>
          <a:p>
            <a:r>
              <a:rPr lang="en-IN" dirty="0"/>
              <a:t>The </a:t>
            </a:r>
            <a:r>
              <a:rPr lang="en-IN" b="1" dirty="0"/>
              <a:t>JVM’s Garbage Collector (GC)</a:t>
            </a:r>
            <a:r>
              <a:rPr lang="en-IN" dirty="0"/>
              <a:t> reclaims memory when objects are no longer in use.</a:t>
            </a:r>
          </a:p>
          <a:p>
            <a:r>
              <a:rPr lang="en-IN" b="1" dirty="0"/>
              <a:t>Why is it needed?</a:t>
            </a:r>
            <a:endParaRPr lang="en-IN" dirty="0"/>
          </a:p>
          <a:p>
            <a:pPr lvl="1"/>
            <a:r>
              <a:rPr lang="en-IN" dirty="0"/>
              <a:t>Prevents memory leaks</a:t>
            </a:r>
          </a:p>
          <a:p>
            <a:pPr lvl="1"/>
            <a:r>
              <a:rPr lang="en-IN" dirty="0"/>
              <a:t>Improves memory efficiency</a:t>
            </a:r>
          </a:p>
          <a:p>
            <a:pPr lvl="1"/>
            <a:r>
              <a:rPr lang="en-IN" dirty="0"/>
              <a:t>Reduces manual effort in memory management</a:t>
            </a:r>
          </a:p>
        </p:txBody>
      </p:sp>
    </p:spTree>
    <p:extLst>
      <p:ext uri="{BB962C8B-B14F-4D97-AF65-F5344CB8AC3E}">
        <p14:creationId xmlns:p14="http://schemas.microsoft.com/office/powerpoint/2010/main" val="3749024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29703-0E2F-C6E9-6A58-66D120D0D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How Does Garbage Collection Work?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C32B3-A77D-C663-704F-1B6AD85D9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3352800" cy="2574131"/>
          </a:xfrm>
        </p:spPr>
        <p:txBody>
          <a:bodyPr/>
          <a:lstStyle/>
          <a:p>
            <a:r>
              <a:rPr lang="en-IN" b="1" dirty="0"/>
              <a:t>Process:</a:t>
            </a:r>
            <a:endParaRPr lang="en-IN" dirty="0"/>
          </a:p>
          <a:p>
            <a:pPr lvl="1"/>
            <a:r>
              <a:rPr lang="en-IN" b="1" dirty="0"/>
              <a:t>Object Created</a:t>
            </a:r>
            <a:r>
              <a:rPr lang="en-IN" dirty="0"/>
              <a:t> → Stored in Heap Memory</a:t>
            </a:r>
          </a:p>
          <a:p>
            <a:pPr lvl="1"/>
            <a:r>
              <a:rPr lang="en-IN" b="1" dirty="0"/>
              <a:t>Object Used</a:t>
            </a:r>
            <a:r>
              <a:rPr lang="en-IN" dirty="0"/>
              <a:t> → Referenced by a variable</a:t>
            </a:r>
          </a:p>
          <a:p>
            <a:pPr lvl="1"/>
            <a:r>
              <a:rPr lang="en-IN" b="1" dirty="0"/>
              <a:t>Object Becomes Unused</a:t>
            </a:r>
            <a:r>
              <a:rPr lang="en-IN" dirty="0"/>
              <a:t> → No active reference</a:t>
            </a:r>
          </a:p>
          <a:p>
            <a:pPr lvl="1"/>
            <a:r>
              <a:rPr lang="en-IN" b="1" dirty="0"/>
              <a:t>Garbage Collector Reclaims Memory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9C698F-9EB3-2B80-C710-C1203D985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450" y="847129"/>
            <a:ext cx="5162550" cy="39629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900864-D21D-700E-8389-687CC84B083E}"/>
              </a:ext>
            </a:extLst>
          </p:cNvPr>
          <p:cNvSpPr txBox="1"/>
          <p:nvPr/>
        </p:nvSpPr>
        <p:spPr>
          <a:xfrm>
            <a:off x="428626" y="4726739"/>
            <a:ext cx="710564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The first "Aditya" object is now unreferenced and eligible for garbage collection.</a:t>
            </a:r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639123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B6E90-5542-FCB2-28AA-50EE0F1D9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Explicitly Requesting Garbage Collection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53E58-B401-65E2-BB0A-5A6893947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3143250" cy="1335881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The Garbage Collector runs automatically, but we can request it manually using: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2CF0CD-4639-B9D5-19C8-53E9705BE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865584"/>
            <a:ext cx="5372100" cy="1171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0B056A-590C-8DC7-DB45-102C622F6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0" y="1907381"/>
            <a:ext cx="5372100" cy="33242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7C81AD-C618-8886-4F30-FB90D93A653F}"/>
              </a:ext>
            </a:extLst>
          </p:cNvPr>
          <p:cNvSpPr txBox="1"/>
          <p:nvPr/>
        </p:nvSpPr>
        <p:spPr>
          <a:xfrm>
            <a:off x="628650" y="2884913"/>
            <a:ext cx="236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Output (May Vary):</a:t>
            </a:r>
            <a:endParaRPr lang="en-IN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088158-10B0-BC64-447C-72226C249AAA}"/>
              </a:ext>
            </a:extLst>
          </p:cNvPr>
          <p:cNvSpPr txBox="1"/>
          <p:nvPr/>
        </p:nvSpPr>
        <p:spPr>
          <a:xfrm>
            <a:off x="628650" y="3272474"/>
            <a:ext cx="236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Garbage Collected!</a:t>
            </a:r>
          </a:p>
        </p:txBody>
      </p:sp>
    </p:spTree>
    <p:extLst>
      <p:ext uri="{BB962C8B-B14F-4D97-AF65-F5344CB8AC3E}">
        <p14:creationId xmlns:p14="http://schemas.microsoft.com/office/powerpoint/2010/main" val="1232423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D7E2-F237-2D99-EF1B-833FB744A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The finalize() Method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6186F-DF37-A31B-9FA8-C4FCBD0B0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1202531"/>
          </a:xfrm>
        </p:spPr>
        <p:txBody>
          <a:bodyPr/>
          <a:lstStyle/>
          <a:p>
            <a:r>
              <a:rPr lang="en-IN" dirty="0"/>
              <a:t>finalize() is a special method in Java called by the Garbage Collector </a:t>
            </a:r>
            <a:r>
              <a:rPr lang="en-IN" b="1" dirty="0"/>
              <a:t>before an object is removed</a:t>
            </a:r>
            <a:r>
              <a:rPr lang="en-IN" dirty="0"/>
              <a:t>.</a:t>
            </a:r>
          </a:p>
          <a:p>
            <a:r>
              <a:rPr lang="en-IN" dirty="0"/>
              <a:t>Used for </a:t>
            </a:r>
            <a:r>
              <a:rPr lang="en-IN" b="1" dirty="0"/>
              <a:t>cleanup tasks</a:t>
            </a:r>
            <a:r>
              <a:rPr lang="en-IN" dirty="0"/>
              <a:t> like closing files, releasing resources, etc.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A4EA8C-870C-AC7D-E0FB-8425FC05A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571750"/>
            <a:ext cx="4724400" cy="242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131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FB816-48FC-8FBE-2E26-6E5845266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664" y="948020"/>
            <a:ext cx="2590800" cy="1726406"/>
          </a:xfrm>
        </p:spPr>
        <p:txBody>
          <a:bodyPr>
            <a:normAutofit/>
          </a:bodyPr>
          <a:lstStyle/>
          <a:p>
            <a:r>
              <a:rPr lang="en-IN" b="1" dirty="0"/>
              <a:t>Example of finalize() Method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AD52492-0DE3-0F3E-7106-FE4A4C08D7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4510" y="552450"/>
            <a:ext cx="610949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026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04E23-27DE-D213-2EF0-F90347536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When Does Java Run Garbage Collection?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05BC8-FA53-E7AA-26AA-40214ACC5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Low memory situations</a:t>
            </a:r>
            <a:endParaRPr lang="en-IN" dirty="0"/>
          </a:p>
          <a:p>
            <a:r>
              <a:rPr lang="en-IN" b="1" dirty="0"/>
              <a:t>JVM decides based on object reachability</a:t>
            </a:r>
            <a:endParaRPr lang="en-IN" dirty="0"/>
          </a:p>
          <a:p>
            <a:r>
              <a:rPr lang="en-IN" b="1" dirty="0"/>
              <a:t>When calling </a:t>
            </a:r>
            <a:r>
              <a:rPr lang="en-IN" b="1" i="1" dirty="0"/>
              <a:t>System.gc() </a:t>
            </a:r>
            <a:r>
              <a:rPr lang="en-IN" b="1" dirty="0"/>
              <a:t>(suggestion only, not guaranteed)</a:t>
            </a:r>
            <a:endParaRPr lang="en-IN" dirty="0"/>
          </a:p>
          <a:p>
            <a:r>
              <a:rPr lang="en-IN" b="1" dirty="0"/>
              <a:t>Java uses different algorithms for garbage collection:</a:t>
            </a:r>
            <a:endParaRPr lang="en-IN" dirty="0"/>
          </a:p>
          <a:p>
            <a:pPr lvl="1"/>
            <a:r>
              <a:rPr lang="en-IN" b="1" dirty="0"/>
              <a:t>Mark and Sweep</a:t>
            </a:r>
            <a:r>
              <a:rPr lang="en-IN" dirty="0"/>
              <a:t> → Marks unused objects and removes them</a:t>
            </a:r>
          </a:p>
          <a:p>
            <a:pPr lvl="1"/>
            <a:r>
              <a:rPr lang="en-IN" b="1" dirty="0"/>
              <a:t>Generational Garbage Collection</a:t>
            </a:r>
            <a:r>
              <a:rPr lang="en-IN" dirty="0"/>
              <a:t> → Categorizes objects based on their lifecycle</a:t>
            </a:r>
          </a:p>
        </p:txBody>
      </p:sp>
    </p:spTree>
    <p:extLst>
      <p:ext uri="{BB962C8B-B14F-4D97-AF65-F5344CB8AC3E}">
        <p14:creationId xmlns:p14="http://schemas.microsoft.com/office/powerpoint/2010/main" val="2916799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A0C1E-8D9F-D45A-E1BA-9F00EB8FB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Garbage Collection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C9339F-A9AD-6A50-F57F-7657B23718F9}"/>
              </a:ext>
            </a:extLst>
          </p:cNvPr>
          <p:cNvSpPr txBox="1"/>
          <p:nvPr/>
        </p:nvSpPr>
        <p:spPr>
          <a:xfrm>
            <a:off x="628650" y="1129517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Manually Calling finalize()</a:t>
            </a:r>
            <a:endParaRPr lang="en-IN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68D79A-54E8-913A-4F2E-21C0568A8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0" y="979170"/>
            <a:ext cx="5829300" cy="11658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3E28839-9B65-7A4B-C27B-E81AF143BF5E}"/>
              </a:ext>
            </a:extLst>
          </p:cNvPr>
          <p:cNvSpPr txBox="1"/>
          <p:nvPr/>
        </p:nvSpPr>
        <p:spPr>
          <a:xfrm>
            <a:off x="628650" y="2216231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Let JVM Handle It:</a:t>
            </a:r>
            <a:endParaRPr lang="en-IN" sz="10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E9039C-D16F-741A-2930-FF19ABBAB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363" y="2064484"/>
            <a:ext cx="4410075" cy="11715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0EE292D-715F-7B88-9202-ECC2501E580C}"/>
              </a:ext>
            </a:extLst>
          </p:cNvPr>
          <p:cNvSpPr txBox="1"/>
          <p:nvPr/>
        </p:nvSpPr>
        <p:spPr>
          <a:xfrm>
            <a:off x="628650" y="3350956"/>
            <a:ext cx="45720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Assuming System.gc() Always Runs GC</a:t>
            </a:r>
            <a:endParaRPr lang="en-IN" sz="1050" dirty="0"/>
          </a:p>
          <a:p>
            <a:r>
              <a:rPr lang="en-IN" sz="1050" dirty="0"/>
              <a:t>• It </a:t>
            </a:r>
            <a:r>
              <a:rPr lang="en-IN" sz="1050" b="1" dirty="0"/>
              <a:t>only suggests</a:t>
            </a:r>
            <a:r>
              <a:rPr lang="en-IN" sz="1050" dirty="0"/>
              <a:t> GC, but </a:t>
            </a:r>
            <a:r>
              <a:rPr lang="en-IN" sz="1050" b="1" dirty="0"/>
              <a:t>does not guarantee execution</a:t>
            </a:r>
            <a:r>
              <a:rPr lang="en-IN" sz="1050" dirty="0"/>
              <a:t>.</a:t>
            </a:r>
          </a:p>
          <a:p>
            <a:r>
              <a:rPr lang="en-IN" sz="1050" dirty="0"/>
              <a:t>• JVM decides when to collect garbage.</a:t>
            </a:r>
          </a:p>
        </p:txBody>
      </p:sp>
    </p:spTree>
    <p:extLst>
      <p:ext uri="{BB962C8B-B14F-4D97-AF65-F5344CB8AC3E}">
        <p14:creationId xmlns:p14="http://schemas.microsoft.com/office/powerpoint/2010/main" val="2835615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1169</TotalTime>
  <Words>1079</Words>
  <Application>Microsoft Macintosh PowerPoint</Application>
  <PresentationFormat>On-screen Show (16:9)</PresentationFormat>
  <Paragraphs>171</Paragraphs>
  <Slides>38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Courier New</vt:lpstr>
      <vt:lpstr>Simple Light</vt:lpstr>
      <vt:lpstr>PowerPoint Presentation</vt:lpstr>
      <vt:lpstr>PowerPoint Presentation</vt:lpstr>
      <vt:lpstr>Constructors in JAVA</vt:lpstr>
      <vt:lpstr>What is a Constructor?</vt:lpstr>
      <vt:lpstr>Characteristics of a Constructor</vt:lpstr>
      <vt:lpstr>Default Constructor</vt:lpstr>
      <vt:lpstr>Parameterized Constructor</vt:lpstr>
      <vt:lpstr>Constructor Overloading</vt:lpstr>
      <vt:lpstr>Difference Between Constructor and Method</vt:lpstr>
      <vt:lpstr>Common Mistakes with Constructors</vt:lpstr>
      <vt:lpstr>Common Mistakes with Constructors</vt:lpstr>
      <vt:lpstr>“this” keyword in JAVA</vt:lpstr>
      <vt:lpstr>“this” keyword</vt:lpstr>
      <vt:lpstr>Using “this” to Refer to Instance Variables</vt:lpstr>
      <vt:lpstr>Using “this” to Refer to Instance Variables (Contd.)</vt:lpstr>
      <vt:lpstr>Using “this” to Call a Constructor</vt:lpstr>
      <vt:lpstr>Using “this” to Call a Method</vt:lpstr>
      <vt:lpstr>Returning Current Object Using “this”</vt:lpstr>
      <vt:lpstr>Common Mistakes When Using “this”</vt:lpstr>
      <vt:lpstr>Common Mistakes When Using “this” (Contd.)</vt:lpstr>
      <vt:lpstr>When to Use “this” in Java</vt:lpstr>
      <vt:lpstr>Scanner Class</vt:lpstr>
      <vt:lpstr>What is the Scanner Class?</vt:lpstr>
      <vt:lpstr>Creating a Scanner Object</vt:lpstr>
      <vt:lpstr>Reading Different Data Types</vt:lpstr>
      <vt:lpstr>Common Methods of the Scanner Class</vt:lpstr>
      <vt:lpstr>Handling Input Errors (Avoiding Exceptions)</vt:lpstr>
      <vt:lpstr>Flushing the Scanner Buffer (Avoiding Skipping Issues)</vt:lpstr>
      <vt:lpstr>Closing the Scanner Object</vt:lpstr>
      <vt:lpstr>Garbage Collection in JAVA</vt:lpstr>
      <vt:lpstr>What is Garbage Collection in Java?</vt:lpstr>
      <vt:lpstr>How Does Garbage Collection Work?</vt:lpstr>
      <vt:lpstr>Explicitly Requesting Garbage Collection</vt:lpstr>
      <vt:lpstr>The finalize() Method</vt:lpstr>
      <vt:lpstr>Example of finalize() Method</vt:lpstr>
      <vt:lpstr>When Does Java Run Garbage Collection?</vt:lpstr>
      <vt:lpstr>Common Mistakes with Garbage Collection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17</cp:revision>
  <dcterms:modified xsi:type="dcterms:W3CDTF">2026-01-05T06:17:16Z</dcterms:modified>
</cp:coreProperties>
</file>