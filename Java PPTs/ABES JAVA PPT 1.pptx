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8"/>
  </p:notesMasterIdLst>
  <p:sldIdLst>
    <p:sldId id="256" r:id="rId2"/>
    <p:sldId id="276" r:id="rId3"/>
    <p:sldId id="324" r:id="rId4"/>
    <p:sldId id="261" r:id="rId5"/>
    <p:sldId id="265" r:id="rId6"/>
    <p:sldId id="277" r:id="rId7"/>
    <p:sldId id="279" r:id="rId8"/>
    <p:sldId id="280" r:id="rId9"/>
    <p:sldId id="282" r:id="rId10"/>
    <p:sldId id="283" r:id="rId11"/>
    <p:sldId id="284" r:id="rId12"/>
    <p:sldId id="290" r:id="rId13"/>
    <p:sldId id="292" r:id="rId14"/>
    <p:sldId id="264" r:id="rId15"/>
    <p:sldId id="263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10" r:id="rId33"/>
    <p:sldId id="311" r:id="rId34"/>
    <p:sldId id="312" r:id="rId35"/>
    <p:sldId id="313" r:id="rId36"/>
    <p:sldId id="314" r:id="rId37"/>
    <p:sldId id="315" r:id="rId38"/>
    <p:sldId id="317" r:id="rId39"/>
    <p:sldId id="318" r:id="rId40"/>
    <p:sldId id="319" r:id="rId41"/>
    <p:sldId id="320" r:id="rId42"/>
    <p:sldId id="262" r:id="rId43"/>
    <p:sldId id="321" r:id="rId44"/>
    <p:sldId id="322" r:id="rId45"/>
    <p:sldId id="323" r:id="rId46"/>
    <p:sldId id="258" r:id="rId4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39" d="100"/>
          <a:sy n="139" d="100"/>
        </p:scale>
        <p:origin x="1288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4CC2-F4BA-D045-B579-FC60BDF25BA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59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865E-1462-8B59-ACAC-254DEC9EF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5D71B-D2B2-E8C8-8F07-FDE576885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3E59C-D3DF-C10A-7BEB-BA9A7677A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ACA3-43BE-6646-92D3-604843D6B8A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C4195-997E-920D-C3C2-720944FB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164E-4137-C27A-1E4D-26038663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D3278-0148-2543-A809-7FA48C218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2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google.com/document/d/1wppSTX_rwuGB514NIsDzU0cLBkbt21FTJ3AYBHkf-dU/edit?usp=sharing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1319753"/>
            <a:ext cx="8520600" cy="29977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chemeClr val="tx1"/>
                </a:solidFill>
              </a:rPr>
              <a:t>Lecture 1: Introduction to Java Programming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C4E1B-2AEA-656D-8062-11B31CE6F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Java Introduction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8EBCC-F2ED-1597-7922-8DF0EB85A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rgbClr val="0E0E0E"/>
                </a:solidFill>
                <a:effectLst/>
                <a:latin typeface=".AppleSystemUIFont"/>
              </a:rPr>
              <a:t>Introduction</a:t>
            </a:r>
          </a:p>
          <a:p>
            <a:pPr lvl="1"/>
            <a:r>
              <a:rPr lang="en-IN" sz="1800" dirty="0">
                <a:solidFill>
                  <a:srgbClr val="0E0E0E"/>
                </a:solidFill>
                <a:effectLst/>
                <a:latin typeface=".AppleSystemUIFont"/>
              </a:rPr>
              <a:t>Definition: A high-level, platform-independent, object-oriented programming language.</a:t>
            </a:r>
            <a:endParaRPr lang="en-IN" sz="1800" dirty="0">
              <a:solidFill>
                <a:srgbClr val="0E0E0E"/>
              </a:solidFill>
              <a:latin typeface=".AppleSystemUIFont"/>
            </a:endParaRPr>
          </a:p>
          <a:p>
            <a:pPr lvl="1">
              <a:spcBef>
                <a:spcPts val="675"/>
              </a:spcBef>
            </a:pPr>
            <a:r>
              <a:rPr lang="en-IN" sz="1800" dirty="0">
                <a:solidFill>
                  <a:srgbClr val="0E0E0E"/>
                </a:solidFill>
                <a:effectLst/>
                <a:latin typeface=".AppleSystemUIFont"/>
              </a:rPr>
              <a:t>Features: Write Once, Run Anywhere (WORA), Robust, Secure, Multithreaded.</a:t>
            </a:r>
          </a:p>
          <a:p>
            <a:r>
              <a:rPr lang="en-IN" sz="2400" dirty="0">
                <a:solidFill>
                  <a:srgbClr val="0E0E0E"/>
                </a:solidFill>
                <a:effectLst/>
                <a:latin typeface=".AppleSystemUIFont"/>
              </a:rPr>
              <a:t>Key Features of Java</a:t>
            </a:r>
          </a:p>
          <a:p>
            <a:pPr lvl="1">
              <a:spcBef>
                <a:spcPts val="675"/>
              </a:spcBef>
            </a:pPr>
            <a:r>
              <a:rPr lang="en-IN" sz="1800" dirty="0">
                <a:solidFill>
                  <a:srgbClr val="0E0E0E"/>
                </a:solidFill>
                <a:effectLst/>
                <a:latin typeface=".AppleSystemUIFont"/>
              </a:rPr>
              <a:t>Object-Oriented</a:t>
            </a:r>
          </a:p>
          <a:p>
            <a:pPr lvl="1">
              <a:spcBef>
                <a:spcPts val="675"/>
              </a:spcBef>
            </a:pPr>
            <a:r>
              <a:rPr lang="en-IN" sz="1800" dirty="0">
                <a:solidFill>
                  <a:srgbClr val="0E0E0E"/>
                </a:solidFill>
                <a:effectLst/>
                <a:latin typeface=".AppleSystemUIFont"/>
              </a:rPr>
              <a:t>Platform-Independent (Write Once, Run Anywhere)</a:t>
            </a:r>
          </a:p>
          <a:p>
            <a:pPr lvl="1">
              <a:spcBef>
                <a:spcPts val="675"/>
              </a:spcBef>
            </a:pPr>
            <a:r>
              <a:rPr lang="en-IN" sz="1800" dirty="0">
                <a:solidFill>
                  <a:srgbClr val="0E0E0E"/>
                </a:solidFill>
                <a:effectLst/>
                <a:latin typeface=".AppleSystemUIFont"/>
              </a:rPr>
              <a:t>Robust and Secure</a:t>
            </a:r>
          </a:p>
        </p:txBody>
      </p:sp>
    </p:spTree>
    <p:extLst>
      <p:ext uri="{BB962C8B-B14F-4D97-AF65-F5344CB8AC3E}">
        <p14:creationId xmlns:p14="http://schemas.microsoft.com/office/powerpoint/2010/main" val="998111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4A81F55-5200-88C7-9D0A-F2C485D85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2207"/>
            <a:ext cx="9144000" cy="441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885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579E-C150-9AE1-E2CC-502A55C9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Java’s Popularity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1F60A-1B18-B70D-389B-25DF6FD92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effectLst/>
                <a:latin typeface=".AppleSystemUIFont"/>
              </a:rPr>
              <a:t>Why is Java Popular?</a:t>
            </a:r>
          </a:p>
          <a:p>
            <a:pPr lvl="1">
              <a:spcBef>
                <a:spcPts val="675"/>
              </a:spcBef>
            </a:pPr>
            <a:r>
              <a:rPr lang="en-IN" sz="2000" dirty="0">
                <a:effectLst/>
                <a:latin typeface=".AppleSystemUIFont"/>
              </a:rPr>
              <a:t>Used in Web, Mobile, and Enterprise Applications</a:t>
            </a:r>
          </a:p>
          <a:p>
            <a:pPr lvl="1">
              <a:spcBef>
                <a:spcPts val="675"/>
              </a:spcBef>
            </a:pPr>
            <a:r>
              <a:rPr lang="en-IN" sz="2000" dirty="0">
                <a:effectLst/>
                <a:latin typeface=".AppleSystemUIFont"/>
              </a:rPr>
              <a:t>Community Support and Rich Libraries</a:t>
            </a:r>
          </a:p>
          <a:p>
            <a:pPr lvl="1">
              <a:spcBef>
                <a:spcPts val="675"/>
              </a:spcBef>
            </a:pPr>
            <a:r>
              <a:rPr lang="en-IN" sz="2000" dirty="0">
                <a:effectLst/>
                <a:latin typeface=".AppleSystemUIFont"/>
              </a:rPr>
              <a:t>Multi-threading and Distributed Computing</a:t>
            </a:r>
          </a:p>
        </p:txBody>
      </p:sp>
    </p:spTree>
    <p:extLst>
      <p:ext uri="{BB962C8B-B14F-4D97-AF65-F5344CB8AC3E}">
        <p14:creationId xmlns:p14="http://schemas.microsoft.com/office/powerpoint/2010/main" val="642409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1C060179-4388-1513-1DCB-8C6C57B460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30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ED4CB66-1B10-004E-E28E-58144764E0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"/>
            <a:ext cx="8035937" cy="5149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734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4505-0EC5-D759-3D7F-302344B8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OOP in 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74014-C58D-9B87-C9A0-C2BA809D0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Real-world Examples: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Encapsulation in Java Classes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Inheritance in Class Hierarchies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Polymorphism with Method Overriding</a:t>
            </a:r>
          </a:p>
          <a:p>
            <a:endParaRPr lang="en-US" dirty="0"/>
          </a:p>
        </p:txBody>
      </p:sp>
      <p:pic>
        <p:nvPicPr>
          <p:cNvPr id="11268" name="Picture 4" descr="Object-Oriented Programming in Java">
            <a:extLst>
              <a:ext uri="{FF2B5EF4-FFF2-40B4-BE49-F238E27FC236}">
                <a16:creationId xmlns:a16="http://schemas.microsoft.com/office/drawing/2014/main" id="{CAFBB34F-F5FF-7011-E664-327C3587F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596" y="2115519"/>
            <a:ext cx="4786404" cy="2911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643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BB4C-B4C5-7490-92C4-AEA7B3742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is JDK?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5FF7B-05B9-39C0-0A36-9A688C097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1544230"/>
          </a:xfrm>
        </p:spPr>
        <p:txBody>
          <a:bodyPr/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Definition: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A software development kit for building Java applications.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Includes tools, libraries, and compilers.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82A82D-930F-6682-BB76-77AE474C4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038" y="2267062"/>
            <a:ext cx="4679170" cy="266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017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BCB27-ECD7-EB56-9EC0-9A6D89EAF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Tools in JDK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16347-294C-F6C2-FCCA-408BB4145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1722461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• Common Tools: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javac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: Compiles Java code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java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: Runs Java programs</a:t>
            </a:r>
          </a:p>
          <a:p>
            <a:pPr lvl="1">
              <a:spcBef>
                <a:spcPts val="675"/>
              </a:spcBef>
            </a:pPr>
            <a:r>
              <a:rPr lang="en-IN" dirty="0" err="1">
                <a:solidFill>
                  <a:srgbClr val="0E0E0E"/>
                </a:solidFill>
                <a:effectLst/>
                <a:latin typeface=".AppleSystemUIFontMonospaced"/>
              </a:rPr>
              <a:t>javadoc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: Generates documentation</a:t>
            </a:r>
          </a:p>
        </p:txBody>
      </p:sp>
      <p:pic>
        <p:nvPicPr>
          <p:cNvPr id="2050" name="Picture 2" descr="Java-Latte: Basic java, javac, javadoc, jar command line options">
            <a:extLst>
              <a:ext uri="{FF2B5EF4-FFF2-40B4-BE49-F238E27FC236}">
                <a16:creationId xmlns:a16="http://schemas.microsoft.com/office/drawing/2014/main" id="{9F54EF7F-74BC-B688-A8F6-A6B8EAB15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00" y="3284565"/>
            <a:ext cx="6121400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3648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91692-E079-A668-0B1F-EBA62181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Installing and Setting up JDK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5518E-BA62-6626-83F1-346B0E803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4841486" cy="1947186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Steps: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Download JDK from the Oracle website.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Set up environment variables (</a:t>
            </a: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JAVA_HOME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).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Verify installation using </a:t>
            </a: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java -version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r>
              <a:rPr lang="en-US" dirty="0">
                <a:hlinkClick r:id="rId2"/>
              </a:rPr>
              <a:t>Google Doc File</a:t>
            </a:r>
            <a:endParaRPr lang="en-US" dirty="0"/>
          </a:p>
        </p:txBody>
      </p:sp>
      <p:pic>
        <p:nvPicPr>
          <p:cNvPr id="3074" name="Picture 2" descr="JDK download button">
            <a:extLst>
              <a:ext uri="{FF2B5EF4-FFF2-40B4-BE49-F238E27FC236}">
                <a16:creationId xmlns:a16="http://schemas.microsoft.com/office/drawing/2014/main" id="{D96F5192-241F-B707-48DD-955638E48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348" y="1229506"/>
            <a:ext cx="3993946" cy="346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511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9E02-D0C4-9F9E-BC40-F27E6172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Structure of a Java Program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6BB9-8D30-0CC7-B44B-8C196D11E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Components: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class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Definition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main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Method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Statements and Semicolons</a:t>
            </a:r>
          </a:p>
          <a:p>
            <a:endParaRPr lang="en-US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52A6CA04-2734-D1F8-E320-A8AFB39FB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068" y="1232114"/>
            <a:ext cx="5814932" cy="3084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1438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EC23-FD93-C48F-E0EE-2269EF291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is Java Byte Code?</a:t>
            </a: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2B7CA4E-B82A-716B-50B4-E1B27DA270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31" y="1152525"/>
            <a:ext cx="7118937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169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6B25-9575-0AC6-B75E-AD1838B15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is JDK?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5410-417D-5AB1-382D-8918C5154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2769177" cy="3263504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JDK stands for Java Development Kit.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It includes tools for developing Java programs, such as the compiler (</a:t>
            </a:r>
            <a:r>
              <a:rPr lang="en-IN" dirty="0" err="1">
                <a:solidFill>
                  <a:srgbClr val="0E0E0E"/>
                </a:solidFill>
                <a:effectLst/>
                <a:latin typeface=".AppleSystemUIFontMonospaced"/>
              </a:rPr>
              <a:t>javac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), debugger, and libraries.</a:t>
            </a:r>
          </a:p>
        </p:txBody>
      </p:sp>
      <p:pic>
        <p:nvPicPr>
          <p:cNvPr id="1026" name="Picture 2" descr="JDK, JRE and JVM in Java. JDK(Java Development Kit) | by Heeah | Medium">
            <a:extLst>
              <a:ext uri="{FF2B5EF4-FFF2-40B4-BE49-F238E27FC236}">
                <a16:creationId xmlns:a16="http://schemas.microsoft.com/office/drawing/2014/main" id="{041DB17C-BA20-FBA5-4567-C568ECB31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737" y="1066256"/>
            <a:ext cx="5371816" cy="363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77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AEB96-0CA7-D5CD-070D-9BBEB8740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0BDB-E5A1-3DD3-5521-646D544F5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is JRE?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96818-4E40-02C4-FFE3-2876CE854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2769177" cy="3263504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JRE stands for Java Runtime Environment.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It includes JVM and standard libraries needed to run Java applications but lacks development tools.</a:t>
            </a:r>
          </a:p>
        </p:txBody>
      </p:sp>
      <p:pic>
        <p:nvPicPr>
          <p:cNvPr id="1026" name="Picture 2" descr="JDK, JRE and JVM in Java. JDK(Java Development Kit) | by Heeah | Medium">
            <a:extLst>
              <a:ext uri="{FF2B5EF4-FFF2-40B4-BE49-F238E27FC236}">
                <a16:creationId xmlns:a16="http://schemas.microsoft.com/office/drawing/2014/main" id="{AE18BB7B-7792-91EB-346B-601F8035D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985" y="1066256"/>
            <a:ext cx="5371816" cy="363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558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42362-AAA8-AEDD-C63A-511543894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3C7B-BAD0-4A15-67C8-3D0B7C738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is JVM?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D0206-3352-EDF8-D913-CED8C5A4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2769177" cy="350043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JVM stands for Java Virtual Machine.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It executes Java byte code and provides a runtime environment.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JVM ensures platform independence by converting byte code into machine code specific to the host system.</a:t>
            </a:r>
          </a:p>
        </p:txBody>
      </p:sp>
      <p:pic>
        <p:nvPicPr>
          <p:cNvPr id="1026" name="Picture 2" descr="JDK, JRE and JVM in Java. JDK(Java Development Kit) | by Heeah | Medium">
            <a:extLst>
              <a:ext uri="{FF2B5EF4-FFF2-40B4-BE49-F238E27FC236}">
                <a16:creationId xmlns:a16="http://schemas.microsoft.com/office/drawing/2014/main" id="{F9921870-5D21-3289-39BF-838CFDFC3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486" y="1017725"/>
            <a:ext cx="5371816" cy="363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124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E4EC9-0CB7-1C0E-69D4-126131BB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6EDC-9519-A7A9-F136-3FC5D3B3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Key Differences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6FB2A1-D904-D6B3-2DA8-38D607F22A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9659" y="1369219"/>
          <a:ext cx="832312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780">
                  <a:extLst>
                    <a:ext uri="{9D8B030D-6E8A-4147-A177-3AD203B41FA5}">
                      <a16:colId xmlns:a16="http://schemas.microsoft.com/office/drawing/2014/main" val="3225033833"/>
                    </a:ext>
                  </a:extLst>
                </a:gridCol>
                <a:gridCol w="2080780">
                  <a:extLst>
                    <a:ext uri="{9D8B030D-6E8A-4147-A177-3AD203B41FA5}">
                      <a16:colId xmlns:a16="http://schemas.microsoft.com/office/drawing/2014/main" val="4037108626"/>
                    </a:ext>
                  </a:extLst>
                </a:gridCol>
                <a:gridCol w="2080780">
                  <a:extLst>
                    <a:ext uri="{9D8B030D-6E8A-4147-A177-3AD203B41FA5}">
                      <a16:colId xmlns:a16="http://schemas.microsoft.com/office/drawing/2014/main" val="2321059593"/>
                    </a:ext>
                  </a:extLst>
                </a:gridCol>
                <a:gridCol w="2080780">
                  <a:extLst>
                    <a:ext uri="{9D8B030D-6E8A-4147-A177-3AD203B41FA5}">
                      <a16:colId xmlns:a16="http://schemas.microsoft.com/office/drawing/2014/main" val="17744712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Feature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JDK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JVM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JRE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951325126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b="1" dirty="0"/>
                        <a:t>Full Form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Java Development Kit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Java Virtual Machine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Java Runtime Environment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0956898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Purpose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Development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Execution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Execution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76258219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b="1" dirty="0"/>
                        <a:t>Includes Compiler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98077318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Contains JVM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80281598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en-US" sz="1800" b="1" dirty="0"/>
                        <a:t>Usage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Writing and running Java programs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Running Java programs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Running Java programs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546316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53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4697-2880-74E5-5A0A-7535B999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are Variables?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244B4-0A83-AA7C-B196-08D64A41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202531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Variables are containers for storing data values.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They are assigned a data type at the time of declaration.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72FD6-8299-97B4-A757-53959F625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770" y="2227029"/>
            <a:ext cx="5343877" cy="19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08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E48E-A533-CADB-C1C0-ADB98559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Types of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2B785-3DE3-0593-D8B6-81CFDEA78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Local Variables: Declared within methods or blocks and accessible only there.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Instance Variables: Declared inside a class but outside methods, tied to objects.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Static Variables: Declared with the </a:t>
            </a: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static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keyword and shared across all objects of the class.</a:t>
            </a:r>
          </a:p>
        </p:txBody>
      </p:sp>
    </p:spTree>
    <p:extLst>
      <p:ext uri="{BB962C8B-B14F-4D97-AF65-F5344CB8AC3E}">
        <p14:creationId xmlns:p14="http://schemas.microsoft.com/office/powerpoint/2010/main" val="532506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C04F-2B76-201E-00ED-F1673C47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Type Casting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C1CD4-B67D-77B8-A5C0-6EF6E38D8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Implicit Type Casting (Widening):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Automatically performed by the compiler when converting from a smaller to a larger data type.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Example:</a:t>
            </a:r>
          </a:p>
          <a:p>
            <a:endParaRPr lang="en-US" dirty="0"/>
          </a:p>
          <a:p>
            <a:pPr>
              <a:spcBef>
                <a:spcPts val="675"/>
              </a:spcBef>
            </a:pP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Explicit Type Casting (Narrowing):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Must be manually performed when converting from a larger to a smaller data type.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7981D-FFBF-A1D5-4DDB-62EBB456D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034" y="1848948"/>
            <a:ext cx="4549398" cy="1445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0EB744-941F-0BE8-EE7D-F49B8E2C4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505" y="3745563"/>
            <a:ext cx="5502544" cy="144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56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F230-63B7-E649-D712-3C49EC3A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Type Casting in 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11930-A97C-DAE0-1A8A-1253B39DF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572700"/>
          </a:xfrm>
        </p:spPr>
        <p:txBody>
          <a:bodyPr/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Practical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DC815-685F-F046-4BB1-070C4CB1A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686" y="1925066"/>
            <a:ext cx="7313664" cy="215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17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F559F-AD86-4A21-B677-341461D13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are Operators?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D13DE-A65D-AF74-2EF8-5F55D467F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79538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Operators are symbols that perform operations on variables and values.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5398EC-5D61-42B1-21B5-AFDF21656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1" y="2164604"/>
            <a:ext cx="8509409" cy="200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3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A77D-1524-223E-9C9F-67E9284F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Types of Operators in 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D2258-ADA5-3AD2-9526-4BD2C0B2F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IN" b="1" dirty="0"/>
              <a:t>Types of Operators in Java</a:t>
            </a:r>
            <a:endParaRPr lang="en-IN" dirty="0"/>
          </a:p>
          <a:p>
            <a:pPr lvl="1"/>
            <a:r>
              <a:rPr lang="en-IN" dirty="0"/>
              <a:t>Arithmetic Operators: +, -, *, /, %</a:t>
            </a:r>
          </a:p>
          <a:p>
            <a:pPr lvl="2"/>
            <a:r>
              <a:rPr lang="en-IN" dirty="0"/>
              <a:t>Used for basic mathematical calculations like addition.</a:t>
            </a:r>
          </a:p>
          <a:p>
            <a:pPr lvl="1"/>
            <a:r>
              <a:rPr lang="en-IN" dirty="0"/>
              <a:t>Relational Operators: ==, !=, &gt;, &lt;, &gt;=, &lt;=</a:t>
            </a:r>
          </a:p>
          <a:p>
            <a:pPr lvl="2"/>
            <a:r>
              <a:rPr lang="en-IN" dirty="0"/>
              <a:t>Used to compare two values and return a Boolean result.</a:t>
            </a:r>
          </a:p>
          <a:p>
            <a:pPr lvl="1"/>
            <a:r>
              <a:rPr lang="en-IN" dirty="0"/>
              <a:t>Logical Operators: &amp;&amp;, ||, !</a:t>
            </a:r>
          </a:p>
          <a:p>
            <a:pPr lvl="2"/>
            <a:r>
              <a:rPr lang="en-IN" dirty="0"/>
              <a:t>Used to perform logical operations on Boolean values.</a:t>
            </a:r>
          </a:p>
          <a:p>
            <a:pPr lvl="1"/>
            <a:r>
              <a:rPr lang="en-IN" dirty="0"/>
              <a:t>Bitwise Operators: &amp;, |, ^, ~, &lt;&lt;, &gt;&gt;</a:t>
            </a:r>
          </a:p>
          <a:p>
            <a:pPr lvl="2"/>
            <a:r>
              <a:rPr lang="en-IN" dirty="0"/>
              <a:t>Operate on binary representations of integers at the bit level.</a:t>
            </a:r>
          </a:p>
          <a:p>
            <a:pPr lvl="1"/>
            <a:r>
              <a:rPr lang="en-IN" dirty="0"/>
              <a:t>Assignment Operators: =, +=, -=, *=, /=, %=</a:t>
            </a:r>
          </a:p>
          <a:p>
            <a:pPr lvl="2"/>
            <a:r>
              <a:rPr lang="en-IN" dirty="0"/>
              <a:t>Used to assign values to variables with various methods.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39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970C6-EE12-7BBA-8D41-02282DD0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Shorthand Assignment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3145F-4943-7C05-C119-C6ECE6FA0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Simplifies repetitive operations by combining them with assignment.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Example: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2A73E-2956-572C-EE1D-70F09AC0F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19" y="2089985"/>
            <a:ext cx="6492288" cy="225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35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02973-4996-9FB4-1908-5A0C99065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0"/>
            <a:ext cx="6674315" cy="106812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Practical Example of Arithmetic Operators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66E558-3ABA-4455-21D1-C5EECCE84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588" y="589142"/>
            <a:ext cx="4830824" cy="446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53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F1700-6B7B-33C0-B0E2-D723CC91B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E099-B454-4499-77ED-3AC165122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680" y="344285"/>
            <a:ext cx="3624869" cy="1298535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Practical Example of Relational Operators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D2CF6B-38A3-BA18-1874-97B7E5401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749" y="269017"/>
            <a:ext cx="4391085" cy="4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46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B086-C8F5-4E84-219E-1421D991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are Control Statements?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3FD63-DA5B-A1AA-0D07-CA9955DD9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202531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Control statements direct the flow of execution based on conditions.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6749F-50EA-EBA5-331B-A4067B5FA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771" y="1783807"/>
            <a:ext cx="5014682" cy="247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98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28BB2-9379-3571-B5BA-8DDD34A3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Types of Control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A19F1-E2DF-7D85-3CCC-4D1E17C85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46" y="1111869"/>
            <a:ext cx="8027108" cy="676868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0E0E0E"/>
                </a:solidFill>
                <a:effectLst/>
                <a:latin typeface=".AppleSystemUIFont"/>
              </a:rPr>
              <a:t>if Statement</a:t>
            </a:r>
            <a:r>
              <a:rPr lang="en-IN" sz="2400" dirty="0">
                <a:solidFill>
                  <a:srgbClr val="0E0E0E"/>
                </a:solidFill>
                <a:effectLst/>
                <a:latin typeface=".AppleSystemUIFont"/>
              </a:rPr>
              <a:t>: Executes code if the condition is true.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78C9D-F7D3-336C-168A-E6900EEA1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919" y="1536800"/>
            <a:ext cx="4233330" cy="141111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F2234C-0BBB-B737-C222-8607D34EFC2B}"/>
              </a:ext>
            </a:extLst>
          </p:cNvPr>
          <p:cNvSpPr txBox="1">
            <a:spLocks/>
          </p:cNvSpPr>
          <p:nvPr/>
        </p:nvSpPr>
        <p:spPr>
          <a:xfrm>
            <a:off x="781030" y="2947910"/>
            <a:ext cx="8027108" cy="69175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rgbClr val="0E0E0E"/>
                </a:solidFill>
                <a:latin typeface=".AppleSystemUIFont"/>
              </a:rPr>
              <a:t>if-else Statement</a:t>
            </a:r>
            <a:r>
              <a:rPr lang="en-IN" sz="2400" dirty="0">
                <a:solidFill>
                  <a:srgbClr val="0E0E0E"/>
                </a:solidFill>
                <a:latin typeface=".AppleSystemUIFont"/>
              </a:rPr>
              <a:t>: Executes one block if the condition is true; otherwise, executes another block.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2AB739-92A1-073A-A25B-E64AF85A8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293787"/>
            <a:ext cx="388620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810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7F97-6E4F-3D67-F04C-280527DB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Nested if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8C7B4-2A5A-142D-C8BA-CC06F04B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06424"/>
            <a:ext cx="7886700" cy="1077309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0E0E0E"/>
                </a:solidFill>
                <a:effectLst/>
                <a:latin typeface=".AppleSystemUIFont"/>
              </a:rPr>
              <a:t>Allows multiple levels of decision-making by placing </a:t>
            </a:r>
            <a:r>
              <a:rPr lang="en-IN" sz="2400" b="1" dirty="0">
                <a:solidFill>
                  <a:srgbClr val="0E0E0E"/>
                </a:solidFill>
                <a:effectLst/>
                <a:latin typeface=".AppleSystemUIFontMonospaced"/>
              </a:rPr>
              <a:t>if</a:t>
            </a:r>
            <a:r>
              <a:rPr lang="en-IN" sz="2400" dirty="0">
                <a:solidFill>
                  <a:srgbClr val="0E0E0E"/>
                </a:solidFill>
                <a:effectLst/>
                <a:latin typeface=".AppleSystemUIFont"/>
              </a:rPr>
              <a:t> or </a:t>
            </a:r>
            <a:r>
              <a:rPr lang="en-IN" sz="2400" b="1" dirty="0">
                <a:solidFill>
                  <a:srgbClr val="0E0E0E"/>
                </a:solidFill>
                <a:effectLst/>
                <a:latin typeface=".AppleSystemUIFontMonospaced"/>
              </a:rPr>
              <a:t>if-else</a:t>
            </a:r>
            <a:r>
              <a:rPr lang="en-IN" sz="2400" dirty="0">
                <a:solidFill>
                  <a:srgbClr val="0E0E0E"/>
                </a:solidFill>
                <a:effectLst/>
                <a:latin typeface=".AppleSystemUIFont"/>
              </a:rPr>
              <a:t> inside another </a:t>
            </a:r>
            <a:r>
              <a:rPr lang="en-IN" sz="2400" b="1" dirty="0">
                <a:solidFill>
                  <a:srgbClr val="0E0E0E"/>
                </a:solidFill>
                <a:effectLst/>
                <a:latin typeface=".AppleSystemUIFontMonospaced"/>
              </a:rPr>
              <a:t>if</a:t>
            </a:r>
            <a:r>
              <a:rPr lang="en-IN" sz="2400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74AD7-986F-FF52-2CBE-8882FCCCF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34" y="1935329"/>
            <a:ext cx="5995133" cy="293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51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42E7D-0E32-FE98-D380-6B886922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Practical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4E1D8-C8EE-4C52-8D18-E03448766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471613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Real-world Scenario: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46091A-6B60-88DC-B63C-C96C1A07F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50348"/>
            <a:ext cx="8123912" cy="330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0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EE16-0FCB-8402-C1A2-BB03DEFE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is a Switch Statement?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CF827-6EE9-E760-A904-23893757A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202531"/>
          </a:xfrm>
        </p:spPr>
        <p:txBody>
          <a:bodyPr/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A control statement that executes one block of code from multiple options based on a variable’s value.</a:t>
            </a:r>
            <a:endParaRPr lang="en-US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US" dirty="0">
                <a:solidFill>
                  <a:srgbClr val="0E0E0E"/>
                </a:solidFill>
                <a:latin typeface=".AppleSystemUIFont"/>
              </a:rPr>
              <a:t>Example: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86BDE-1496-0E63-D14C-E5AA85545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41" y="2036311"/>
            <a:ext cx="4788318" cy="310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83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6AED-4F95-483C-EF30-86313DCAB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Key Features of Switch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29A86-0754-C3C4-F4A2-1622DE663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369219"/>
            <a:ext cx="3943349" cy="3341144"/>
          </a:xfrm>
        </p:spPr>
        <p:txBody>
          <a:bodyPr>
            <a:normAutofit/>
          </a:bodyPr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Simplifies handling of multiple conditions.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Supports data types: </a:t>
            </a:r>
            <a:r>
              <a:rPr lang="en-IN" b="1" i="1" dirty="0">
                <a:solidFill>
                  <a:srgbClr val="0E0E0E"/>
                </a:solidFill>
                <a:effectLst/>
                <a:latin typeface=".AppleSystemUIFontMonospaced"/>
              </a:rPr>
              <a:t>int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en-IN" b="1" i="1" dirty="0">
                <a:solidFill>
                  <a:srgbClr val="0E0E0E"/>
                </a:solidFill>
                <a:effectLst/>
                <a:latin typeface=".AppleSystemUIFontMonospaced"/>
              </a:rPr>
              <a:t>char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en-IN" b="1" i="1" dirty="0">
                <a:solidFill>
                  <a:srgbClr val="0E0E0E"/>
                </a:solidFill>
                <a:effectLst/>
                <a:latin typeface=".AppleSystemUIFontMonospaced"/>
              </a:rPr>
              <a:t>String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en-IN" b="1" i="1" dirty="0">
                <a:solidFill>
                  <a:srgbClr val="0E0E0E"/>
                </a:solidFill>
                <a:effectLst/>
                <a:latin typeface=".AppleSystemUIFontMonospaced"/>
              </a:rPr>
              <a:t>enum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(starting from Java 7).</a:t>
            </a:r>
          </a:p>
          <a:p>
            <a:pPr>
              <a:spcBef>
                <a:spcPts val="675"/>
              </a:spcBef>
            </a:pPr>
            <a:r>
              <a:rPr lang="en-IN" b="1" i="1" dirty="0">
                <a:solidFill>
                  <a:srgbClr val="0E0E0E"/>
                </a:solidFill>
                <a:effectLst/>
                <a:latin typeface=".AppleSystemUIFontMonospaced"/>
              </a:rPr>
              <a:t>break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keyword prevents fall-through to subsequent cases.</a:t>
            </a:r>
          </a:p>
          <a:p>
            <a:pPr>
              <a:spcBef>
                <a:spcPts val="675"/>
              </a:spcBef>
            </a:pPr>
            <a:r>
              <a:rPr lang="en-IN" b="1" i="1" dirty="0">
                <a:solidFill>
                  <a:srgbClr val="0E0E0E"/>
                </a:solidFill>
                <a:effectLst/>
                <a:latin typeface=".AppleSystemUIFontMonospaced"/>
              </a:rPr>
              <a:t>default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case handles unmatched conditions.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flow of switch statement in java">
            <a:extLst>
              <a:ext uri="{FF2B5EF4-FFF2-40B4-BE49-F238E27FC236}">
                <a16:creationId xmlns:a16="http://schemas.microsoft.com/office/drawing/2014/main" id="{6BC6E3D8-7613-8267-2417-5A4AEE562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680" y="946296"/>
            <a:ext cx="4042578" cy="41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598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29BD-0D3B-1FBB-9444-771BFAC21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Practical Examples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3C258-C97A-79E9-69B2-DBE7799B76ED}"/>
              </a:ext>
            </a:extLst>
          </p:cNvPr>
          <p:cNvSpPr txBox="1"/>
          <p:nvPr/>
        </p:nvSpPr>
        <p:spPr>
          <a:xfrm>
            <a:off x="6334221" y="3775145"/>
            <a:ext cx="20566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Output:</a:t>
            </a:r>
          </a:p>
          <a:p>
            <a:r>
              <a:rPr lang="en-IN" sz="1800" dirty="0"/>
              <a:t>Well done </a:t>
            </a:r>
          </a:p>
          <a:p>
            <a:r>
              <a:rPr lang="en-IN" sz="1800" dirty="0"/>
              <a:t>Your grade is C</a:t>
            </a:r>
            <a:endParaRPr lang="en-US" sz="18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42A9674-CD80-7890-7B61-90FEAA3C4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9564" y="258075"/>
            <a:ext cx="5084657" cy="46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66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03BD-29FA-E480-1516-8C6789C21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Loops?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B5F8A-8B7F-43FD-21F1-2876506F1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Loops are control structures that allow a block of code to execute repeatedly until a specific condition is met.</a:t>
            </a:r>
          </a:p>
          <a:p>
            <a:r>
              <a:rPr lang="en-US" sz="2000" dirty="0"/>
              <a:t>Types of Loops in Java:</a:t>
            </a:r>
          </a:p>
          <a:p>
            <a:pPr lvl="1"/>
            <a:r>
              <a:rPr lang="en-US" sz="1600" dirty="0"/>
              <a:t>for loop</a:t>
            </a:r>
          </a:p>
          <a:p>
            <a:pPr lvl="1"/>
            <a:r>
              <a:rPr lang="en-US" sz="1600" dirty="0"/>
              <a:t>while loop</a:t>
            </a:r>
          </a:p>
          <a:p>
            <a:pPr lvl="1"/>
            <a:r>
              <a:rPr lang="en-US" sz="1600" dirty="0"/>
              <a:t>do-while loop</a:t>
            </a:r>
          </a:p>
        </p:txBody>
      </p:sp>
    </p:spTree>
    <p:extLst>
      <p:ext uri="{BB962C8B-B14F-4D97-AF65-F5344CB8AC3E}">
        <p14:creationId xmlns:p14="http://schemas.microsoft.com/office/powerpoint/2010/main" val="247454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7371-BB98-3676-997B-485B6888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DF86E-694F-9D68-CE08-496374756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for loop is used when the number of iterations is known beforehand.</a:t>
            </a:r>
          </a:p>
          <a:p>
            <a:r>
              <a:rPr lang="en-US" dirty="0"/>
              <a:t>Syntax: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A6EA1-530F-F4AD-F26F-8EF25099C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1530327"/>
            <a:ext cx="4983582" cy="16281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679165-1100-ACFC-4497-703697BE52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54" t="26180" r="7254" b="23358"/>
          <a:stretch/>
        </p:blipFill>
        <p:spPr>
          <a:xfrm>
            <a:off x="2002994" y="3284756"/>
            <a:ext cx="4983582" cy="141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13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09234-F1FF-9BC1-9775-AB90375F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C5E0D-3448-850E-3010-2932B6DE5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853866"/>
          </a:xfrm>
        </p:spPr>
        <p:txBody>
          <a:bodyPr/>
          <a:lstStyle/>
          <a:p>
            <a:r>
              <a:rPr lang="en-US" dirty="0"/>
              <a:t>The while loop executes as long as the given condition is true.</a:t>
            </a:r>
          </a:p>
          <a:p>
            <a:r>
              <a:rPr lang="en-US" dirty="0"/>
              <a:t>Syntax: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CE02B4-80B0-608A-8886-71BEAB8639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52" t="22617" r="22549" b="23206"/>
          <a:stretch/>
        </p:blipFill>
        <p:spPr>
          <a:xfrm>
            <a:off x="2183732" y="1741571"/>
            <a:ext cx="3194385" cy="16603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5281B6-052E-667A-D4A3-E47FF089E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30" t="18730" r="9030" b="18731"/>
          <a:stretch/>
        </p:blipFill>
        <p:spPr>
          <a:xfrm>
            <a:off x="2183732" y="3483142"/>
            <a:ext cx="3821229" cy="166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14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EE0A8-46FC-BF1B-8B0E-3BF981C06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do-while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0C8B5-B4C8-674E-C2BB-B76FAC820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do-while loop executes at least once before checking the condition.</a:t>
            </a:r>
          </a:p>
          <a:p>
            <a:r>
              <a:rPr lang="en-US" dirty="0"/>
              <a:t>Syntax: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C37E1-DCE1-1973-8F6C-0ACBC9F772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23" t="22600" r="21929" b="21309"/>
          <a:stretch/>
        </p:blipFill>
        <p:spPr>
          <a:xfrm>
            <a:off x="2201779" y="1786690"/>
            <a:ext cx="3284621" cy="1570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3673DA-D65F-FEEB-CB02-F7DC2C5596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40" t="18188" r="9340" b="19273"/>
          <a:stretch/>
        </p:blipFill>
        <p:spPr>
          <a:xfrm>
            <a:off x="2319089" y="3342050"/>
            <a:ext cx="3961396" cy="173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2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ACE0-0EDF-70A6-8EDE-93F4A5CE4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Differences Between Loops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4D9F09-9139-0260-18BB-6641E04673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1" y="1459230"/>
          <a:ext cx="736633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129">
                  <a:extLst>
                    <a:ext uri="{9D8B030D-6E8A-4147-A177-3AD203B41FA5}">
                      <a16:colId xmlns:a16="http://schemas.microsoft.com/office/drawing/2014/main" val="2658596824"/>
                    </a:ext>
                  </a:extLst>
                </a:gridCol>
                <a:gridCol w="1552074">
                  <a:extLst>
                    <a:ext uri="{9D8B030D-6E8A-4147-A177-3AD203B41FA5}">
                      <a16:colId xmlns:a16="http://schemas.microsoft.com/office/drawing/2014/main" val="4034884318"/>
                    </a:ext>
                  </a:extLst>
                </a:gridCol>
                <a:gridCol w="1678406">
                  <a:extLst>
                    <a:ext uri="{9D8B030D-6E8A-4147-A177-3AD203B41FA5}">
                      <a16:colId xmlns:a16="http://schemas.microsoft.com/office/drawing/2014/main" val="2145779220"/>
                    </a:ext>
                  </a:extLst>
                </a:gridCol>
                <a:gridCol w="2562726">
                  <a:extLst>
                    <a:ext uri="{9D8B030D-6E8A-4147-A177-3AD203B41FA5}">
                      <a16:colId xmlns:a16="http://schemas.microsoft.com/office/drawing/2014/main" val="170747233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for Loop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while Loop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do-while Loop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6270716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dirty="0"/>
                        <a:t>Condition Check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Before execution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Before execution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After first execution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3203174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dirty="0"/>
                        <a:t>Best Used For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Known Iterations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Unknown iterations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Ensuring at least one execution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065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dirty="0"/>
                        <a:t>Example Usage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Counting, Arrays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User input, Events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Menu-driven programs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53690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911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3FC11-71B0-FC01-4D46-8735D34C4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Mistakes with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BF9B8-221F-FD52-2EDD-D0CFEDE2A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774281"/>
          </a:xfrm>
        </p:spPr>
        <p:txBody>
          <a:bodyPr/>
          <a:lstStyle/>
          <a:p>
            <a:r>
              <a:rPr lang="en-US" dirty="0"/>
              <a:t>Infinite Loops: Forgetting to update the loop variable.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Off-by-One Errors: Incorrect loop termination condition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93934-EC59-2B0A-EBE6-484327BEE4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32" t="20796" r="14809" b="18436"/>
          <a:stretch/>
        </p:blipFill>
        <p:spPr>
          <a:xfrm>
            <a:off x="3068663" y="1705837"/>
            <a:ext cx="3121057" cy="1428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0FD3AF-8FF0-69D4-EECC-5410983985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86" b="18983"/>
          <a:stretch/>
        </p:blipFill>
        <p:spPr>
          <a:xfrm>
            <a:off x="1848122" y="3256359"/>
            <a:ext cx="5829300" cy="17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70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50E2-AF82-B019-1345-3A658872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b="1" dirty="0"/>
              <a:t>break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3906D-178E-69D6-5BA0-4A6BAB584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774281"/>
          </a:xfrm>
        </p:spPr>
        <p:txBody>
          <a:bodyPr/>
          <a:lstStyle/>
          <a:p>
            <a:r>
              <a:rPr lang="en-US" dirty="0"/>
              <a:t>Used to </a:t>
            </a:r>
            <a:r>
              <a:rPr lang="en-US" b="1" dirty="0"/>
              <a:t>exit a loop immediately</a:t>
            </a:r>
            <a:r>
              <a:rPr lang="en-US" dirty="0"/>
              <a:t> when a condition is met.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 1  2  3 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D2320D-9237-DBD1-3C43-8F965D99B3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95" b="15452"/>
          <a:stretch/>
        </p:blipFill>
        <p:spPr>
          <a:xfrm>
            <a:off x="2883652" y="1775844"/>
            <a:ext cx="6164899" cy="257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857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BE205-64D2-3DFD-9BE8-19A5A3985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b="1" dirty="0"/>
              <a:t>continue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26788-8DE0-BF69-F1A2-537864AC0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774281"/>
          </a:xfrm>
        </p:spPr>
        <p:txBody>
          <a:bodyPr/>
          <a:lstStyle/>
          <a:p>
            <a:r>
              <a:rPr lang="en-US" dirty="0"/>
              <a:t>Used to </a:t>
            </a:r>
            <a:r>
              <a:rPr lang="en-US" b="1" dirty="0"/>
              <a:t>skip the current iteration</a:t>
            </a:r>
            <a:r>
              <a:rPr lang="en-US" dirty="0"/>
              <a:t> and move to the next one.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 1  2  4 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11D2E3-8BD4-CE6B-4469-A748838714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95" b="16965"/>
          <a:stretch/>
        </p:blipFill>
        <p:spPr>
          <a:xfrm>
            <a:off x="2929180" y="1733062"/>
            <a:ext cx="6149238" cy="251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87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17EA0-11FC-E58B-C347-079BC850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to use ‘break’ and ‘continue’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0F0A2B-4FEB-597C-77F0-0EF0C04E1C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698" cy="185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608">
                  <a:extLst>
                    <a:ext uri="{9D8B030D-6E8A-4147-A177-3AD203B41FA5}">
                      <a16:colId xmlns:a16="http://schemas.microsoft.com/office/drawing/2014/main" val="2777560318"/>
                    </a:ext>
                  </a:extLst>
                </a:gridCol>
                <a:gridCol w="2526632">
                  <a:extLst>
                    <a:ext uri="{9D8B030D-6E8A-4147-A177-3AD203B41FA5}">
                      <a16:colId xmlns:a16="http://schemas.microsoft.com/office/drawing/2014/main" val="2801452496"/>
                    </a:ext>
                  </a:extLst>
                </a:gridCol>
                <a:gridCol w="3985458">
                  <a:extLst>
                    <a:ext uri="{9D8B030D-6E8A-4147-A177-3AD203B41FA5}">
                      <a16:colId xmlns:a16="http://schemas.microsoft.com/office/drawing/2014/main" val="136900513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Statement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Function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Example Use Case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4300464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dirty="0"/>
                        <a:t>break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Exits the loop immediately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Exiting a loop when a condition is met (e. g., searching for an element)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79475999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en-US" sz="1800" dirty="0"/>
                        <a:t>continue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Skips the current iteration and continues to the next.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Skipping unwanted values (e.g., filtering even numbers)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94689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795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0ACB-84F0-F211-2D8A-941C913F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Loops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97840-C142-3482-F821-32127BE1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647950"/>
          </a:xfrm>
        </p:spPr>
        <p:txBody>
          <a:bodyPr/>
          <a:lstStyle/>
          <a:p>
            <a:r>
              <a:rPr lang="en-US" dirty="0"/>
              <a:t>A loop inside another loop.</a:t>
            </a:r>
          </a:p>
          <a:p>
            <a:r>
              <a:rPr lang="en-US" dirty="0"/>
              <a:t>Useful for </a:t>
            </a:r>
            <a:r>
              <a:rPr lang="en-US" b="1" dirty="0"/>
              <a:t>multi-dimensional arrays, pattern printing, and complex iteration logic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4FC96-5D23-0F39-6F33-F6EB1D8332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6" t="16395" r="4283" b="15957"/>
          <a:stretch/>
        </p:blipFill>
        <p:spPr>
          <a:xfrm>
            <a:off x="628650" y="2675710"/>
            <a:ext cx="5360069" cy="2420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BE294C-FFE4-2A15-BEE3-4E7F7AAEF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867" y="3922513"/>
            <a:ext cx="1714335" cy="7759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3C1510-11CC-1E2B-2875-6FCB9D159759}"/>
              </a:ext>
            </a:extLst>
          </p:cNvPr>
          <p:cNvSpPr txBox="1"/>
          <p:nvPr/>
        </p:nvSpPr>
        <p:spPr>
          <a:xfrm>
            <a:off x="6083161" y="354752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088843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7BA0E-43D4-C548-D0C8-6BB7B5C4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Practical Application of 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0B1F9-FBF6-EBA6-D693-F30979697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662740"/>
          </a:xfrm>
        </p:spPr>
        <p:txBody>
          <a:bodyPr/>
          <a:lstStyle/>
          <a:p>
            <a:r>
              <a:rPr lang="en-US" dirty="0"/>
              <a:t>Use Cases of Nested Loops:</a:t>
            </a:r>
          </a:p>
          <a:p>
            <a:pPr lvl="1"/>
            <a:r>
              <a:rPr lang="en-US" dirty="0"/>
              <a:t>Printing patterns</a:t>
            </a:r>
          </a:p>
          <a:p>
            <a:pPr lvl="1"/>
            <a:r>
              <a:rPr lang="en-US" dirty="0"/>
              <a:t>Processing multi-dimensional arrays</a:t>
            </a:r>
          </a:p>
          <a:p>
            <a:pPr lvl="1"/>
            <a:r>
              <a:rPr lang="en-US" dirty="0"/>
              <a:t>Creating multiplication tables</a:t>
            </a:r>
          </a:p>
          <a:p>
            <a:r>
              <a:rPr lang="en-US" b="1" dirty="0"/>
              <a:t>Example: Printing a Pattern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DF4379-E62D-5BE6-4656-B5322F3F9D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45" t="16395" r="13261" b="16965"/>
          <a:stretch/>
        </p:blipFill>
        <p:spPr>
          <a:xfrm>
            <a:off x="4265445" y="2571751"/>
            <a:ext cx="4572000" cy="25276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F3800A-46FE-A7ED-E566-9E9CDC08D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934" y="3400495"/>
            <a:ext cx="1307181" cy="13071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B4E4F7-C747-F2D5-8F9B-980C95F23192}"/>
              </a:ext>
            </a:extLst>
          </p:cNvPr>
          <p:cNvSpPr txBox="1"/>
          <p:nvPr/>
        </p:nvSpPr>
        <p:spPr>
          <a:xfrm>
            <a:off x="628651" y="3400495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801060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492C-08A2-C9ED-EAB7-7524B784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098" y="445025"/>
            <a:ext cx="7445202" cy="924194"/>
          </a:xfrm>
        </p:spPr>
        <p:txBody>
          <a:bodyPr>
            <a:normAutofit fontScale="90000"/>
          </a:bodyPr>
          <a:lstStyle/>
          <a:p>
            <a:r>
              <a:rPr lang="en-US" dirty="0"/>
              <a:t>Combining ‘break’ and ‘continue’ in 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89CB5-A0D9-A041-925C-3FA4BF05C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4397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Example:</a:t>
            </a:r>
            <a:r>
              <a:rPr lang="en-US" dirty="0"/>
              <a:t> Skipping even numbers in a multiplication table.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468418-E4D7-DAE6-A586-9225DE73AF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34" t="13760" r="6760" b="11346"/>
          <a:stretch/>
        </p:blipFill>
        <p:spPr>
          <a:xfrm>
            <a:off x="1971948" y="1808982"/>
            <a:ext cx="5200104" cy="333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16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F008F-32EA-6B88-980A-07CA3287E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72" y="445025"/>
            <a:ext cx="6755527" cy="924194"/>
          </a:xfrm>
        </p:spPr>
        <p:txBody>
          <a:bodyPr>
            <a:normAutofit fontScale="90000"/>
          </a:bodyPr>
          <a:lstStyle/>
          <a:p>
            <a:r>
              <a:rPr lang="en-US" dirty="0"/>
              <a:t>Common Mistakes with ‘break’, ‘continue’, and 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04D64-7A29-607A-740A-43F59C584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221649"/>
          </a:xfrm>
        </p:spPr>
        <p:txBody>
          <a:bodyPr/>
          <a:lstStyle/>
          <a:p>
            <a:r>
              <a:rPr lang="en-US" dirty="0"/>
              <a:t>Incorrect use of </a:t>
            </a:r>
            <a:r>
              <a:rPr lang="en-US" b="1" dirty="0"/>
              <a:t>break</a:t>
            </a:r>
            <a:r>
              <a:rPr lang="en-US" dirty="0"/>
              <a:t> leading to premature termination.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050" dirty="0"/>
          </a:p>
          <a:p>
            <a:r>
              <a:rPr lang="en-US" dirty="0"/>
              <a:t>Skipping required iterations with continue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F71B0-DF31-0B59-C96C-3B97BE64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7" t="21955" r="3974" b="20665"/>
          <a:stretch/>
        </p:blipFill>
        <p:spPr>
          <a:xfrm>
            <a:off x="3983560" y="1660915"/>
            <a:ext cx="4625749" cy="1386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EE77A9-7DF3-B19A-377C-1770C2155F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975" b="20796"/>
          <a:stretch/>
        </p:blipFill>
        <p:spPr>
          <a:xfrm>
            <a:off x="1667399" y="3338779"/>
            <a:ext cx="5338744" cy="160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79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512AE8-976F-F259-2559-95DA081A4D4F}"/>
              </a:ext>
            </a:extLst>
          </p:cNvPr>
          <p:cNvSpPr/>
          <p:nvPr/>
        </p:nvSpPr>
        <p:spPr>
          <a:xfrm>
            <a:off x="1404305" y="1848475"/>
            <a:ext cx="6335389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loo Bhaijaan" panose="03080902040302020200" pitchFamily="66" charset="-78"/>
                <a:cs typeface="Baloo Bhaijaan" panose="03080902040302020200" pitchFamily="66" charset="-78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2886</TotalTime>
  <Words>1121</Words>
  <Application>Microsoft Macintosh PowerPoint</Application>
  <PresentationFormat>On-screen Show (16:9)</PresentationFormat>
  <Paragraphs>239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.AppleSystemUIFont</vt:lpstr>
      <vt:lpstr>.AppleSystemUIFontMonospaced</vt:lpstr>
      <vt:lpstr>Arial</vt:lpstr>
      <vt:lpstr>Baloo Bhaijaan</vt:lpstr>
      <vt:lpstr>Simple Light</vt:lpstr>
      <vt:lpstr>PowerPoint Presentation</vt:lpstr>
      <vt:lpstr>Java Introduction</vt:lpstr>
      <vt:lpstr>PowerPoint Presentation</vt:lpstr>
      <vt:lpstr>Java’s Popularity</vt:lpstr>
      <vt:lpstr>PowerPoint Presentation</vt:lpstr>
      <vt:lpstr>PowerPoint Presentation</vt:lpstr>
      <vt:lpstr>OOP in Java</vt:lpstr>
      <vt:lpstr>What is JDK?</vt:lpstr>
      <vt:lpstr>Tools in JDK</vt:lpstr>
      <vt:lpstr>Installing and Setting up JDK</vt:lpstr>
      <vt:lpstr>Structure of a Java Program</vt:lpstr>
      <vt:lpstr>What is Java Byte Code?</vt:lpstr>
      <vt:lpstr>What is JDK?</vt:lpstr>
      <vt:lpstr>What is JRE?</vt:lpstr>
      <vt:lpstr>What is JVM?</vt:lpstr>
      <vt:lpstr>Key Differences</vt:lpstr>
      <vt:lpstr>What are Variables?</vt:lpstr>
      <vt:lpstr>Types of Variables</vt:lpstr>
      <vt:lpstr>Type Casting</vt:lpstr>
      <vt:lpstr>Type Casting in Action</vt:lpstr>
      <vt:lpstr>What are Operators?</vt:lpstr>
      <vt:lpstr>Types of Operators in Java</vt:lpstr>
      <vt:lpstr>Shorthand Assignment Operators</vt:lpstr>
      <vt:lpstr>Practical Example of Arithmetic Operators</vt:lpstr>
      <vt:lpstr>Practical Example of Relational Operators</vt:lpstr>
      <vt:lpstr>What are Control Statements?</vt:lpstr>
      <vt:lpstr>Types of Control Statements</vt:lpstr>
      <vt:lpstr>Nested if Statements</vt:lpstr>
      <vt:lpstr>Practical Example</vt:lpstr>
      <vt:lpstr>What is a Switch Statement?</vt:lpstr>
      <vt:lpstr>Key Features of Switch Statements</vt:lpstr>
      <vt:lpstr>Practical Examples</vt:lpstr>
      <vt:lpstr>What are Loops?</vt:lpstr>
      <vt:lpstr>The for loop</vt:lpstr>
      <vt:lpstr>The while loop</vt:lpstr>
      <vt:lpstr>The do-while Loop</vt:lpstr>
      <vt:lpstr>Differences Between Loops</vt:lpstr>
      <vt:lpstr>Common Mistakes with Loops</vt:lpstr>
      <vt:lpstr>The break Statement</vt:lpstr>
      <vt:lpstr>The continue Statement</vt:lpstr>
      <vt:lpstr>When to use ‘break’ and ‘continue’ </vt:lpstr>
      <vt:lpstr>Nested Loops in Java</vt:lpstr>
      <vt:lpstr>Practical Application of Nested Loops</vt:lpstr>
      <vt:lpstr>Combining ‘break’ and ‘continue’ in Nested Loops</vt:lpstr>
      <vt:lpstr>Common Mistakes with ‘break’, ‘continue’, and Nested Loops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12</cp:revision>
  <dcterms:modified xsi:type="dcterms:W3CDTF">2026-01-28T08:54:16Z</dcterms:modified>
</cp:coreProperties>
</file>