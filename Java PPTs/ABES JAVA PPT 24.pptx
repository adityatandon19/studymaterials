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407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7CE6A68B-12E4-6F4C-B641-7B5E887E9F39}"/>
    <pc:docChg chg="modSld">
      <pc:chgData name="Aditya Hare Krishna" userId="de62b921b3c41f8c" providerId="LiveId" clId="{7CE6A68B-12E4-6F4C-B641-7B5E887E9F39}" dt="2025-08-17T11:21:14.736" v="0"/>
      <pc:docMkLst>
        <pc:docMk/>
      </pc:docMkLst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1061080955" sldId="393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2639549977" sldId="394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2754709259" sldId="395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251053392" sldId="396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1768073027" sldId="397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3593082546" sldId="398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1578753593" sldId="399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149720901" sldId="400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2599526065" sldId="401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851774725" sldId="402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732075856" sldId="403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2903753227" sldId="404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0" sldId="406"/>
        </pc:sldMkLst>
      </pc:sldChg>
      <pc:sldChg chg="modTransition">
        <pc:chgData name="Aditya Hare Krishna" userId="de62b921b3c41f8c" providerId="LiveId" clId="{7CE6A68B-12E4-6F4C-B641-7B5E887E9F39}" dt="2025-08-17T11:21:14.736" v="0"/>
        <pc:sldMkLst>
          <pc:docMk/>
          <pc:sldMk cId="1652500050" sldId="4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5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24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/>
              <a:t>JSP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0E2B6-4656-6C50-CF0D-9DF4A53E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JSP?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EE25C-0E86-F793-52E7-A150AF2BE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JSP (Java Server Pages)</a:t>
            </a:r>
            <a:r>
              <a:rPr lang="en-IN" dirty="0"/>
              <a:t> is a technology for creating </a:t>
            </a:r>
            <a:r>
              <a:rPr lang="en-IN" b="1" dirty="0"/>
              <a:t>dynamic web pages</a:t>
            </a:r>
            <a:r>
              <a:rPr lang="en-IN" dirty="0"/>
              <a:t> using Java.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JSP file is a </a:t>
            </a:r>
            <a:r>
              <a:rPr lang="en-IN" b="1" dirty="0"/>
              <a:t>.jsp</a:t>
            </a:r>
            <a:r>
              <a:rPr lang="en-IN" dirty="0"/>
              <a:t> file containing HTML + embedded Java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JSPs are </a:t>
            </a:r>
            <a:r>
              <a:rPr lang="en-IN" b="1" dirty="0"/>
              <a:t>compiled into servlets</a:t>
            </a:r>
            <a:r>
              <a:rPr lang="en-IN" dirty="0"/>
              <a:t> behind the scenes.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Best suited for </a:t>
            </a:r>
            <a:r>
              <a:rPr lang="en-IN" b="1" dirty="0"/>
              <a:t>presentation logic</a:t>
            </a:r>
            <a:r>
              <a:rPr lang="en-IN" dirty="0"/>
              <a:t> (HTML, UI).</a:t>
            </a:r>
          </a:p>
        </p:txBody>
      </p:sp>
    </p:spTree>
    <p:extLst>
      <p:ext uri="{BB962C8B-B14F-4D97-AF65-F5344CB8AC3E}">
        <p14:creationId xmlns:p14="http://schemas.microsoft.com/office/powerpoint/2010/main" val="1061080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F3C4-3E19-E64D-BAF6-C64899ECC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JSP Architecture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81B22-D0CE-A6E3-2F93-F3330A4E1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dirty="0"/>
              <a:t>Client sends a request to a .jsp page.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JSP is compiled into a </a:t>
            </a:r>
            <a:r>
              <a:rPr lang="en-IN" b="1" dirty="0"/>
              <a:t>servlet</a:t>
            </a:r>
            <a:r>
              <a:rPr lang="en-IN" dirty="0"/>
              <a:t> by the web container.</a:t>
            </a:r>
          </a:p>
          <a:p>
            <a:pPr>
              <a:buFont typeface="+mj-lt"/>
              <a:buAutoNum type="arabicPeriod"/>
            </a:pPr>
            <a:r>
              <a:rPr lang="en-IN" dirty="0"/>
              <a:t>Servlet executes, generating </a:t>
            </a:r>
            <a:r>
              <a:rPr lang="en-IN" b="1" dirty="0"/>
              <a:t>dynamic HTML</a:t>
            </a:r>
            <a:r>
              <a:rPr lang="en-IN" dirty="0"/>
              <a:t>.</a:t>
            </a:r>
          </a:p>
          <a:p>
            <a:pPr>
              <a:buFont typeface="+mj-lt"/>
              <a:buAutoNum type="arabicPeriod"/>
            </a:pPr>
            <a:r>
              <a:rPr lang="en-IN" dirty="0"/>
              <a:t>Response is sent back to the browser.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JSP is part of the </a:t>
            </a:r>
            <a:r>
              <a:rPr lang="en-IN" b="1" dirty="0"/>
              <a:t>MVC architecture</a:t>
            </a:r>
            <a:r>
              <a:rPr lang="en-IN" dirty="0"/>
              <a:t>, typically for the </a:t>
            </a:r>
            <a:r>
              <a:rPr lang="en-IN" b="1" dirty="0"/>
              <a:t>View layer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9549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E8CE-CDE7-3774-793D-2ED5D42E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Basic Syntax of a JSP Page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EBB6E-ADAF-AB8A-ADDB-E5667130B6A3}"/>
              </a:ext>
            </a:extLst>
          </p:cNvPr>
          <p:cNvSpPr txBox="1"/>
          <p:nvPr/>
        </p:nvSpPr>
        <p:spPr>
          <a:xfrm>
            <a:off x="958468" y="4511407"/>
            <a:ext cx="520527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Combines HTML and Java code easily.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C9F17B-1985-0392-6C8C-F67FB1BCB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3393" y="841765"/>
            <a:ext cx="4760304" cy="372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0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9261-BC35-965D-1D4A-62066372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JSP Scripting Elements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33A42C-8A28-E36B-510A-685AB4B22A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882814"/>
              </p:ext>
            </p:extLst>
          </p:nvPr>
        </p:nvGraphicFramePr>
        <p:xfrm>
          <a:off x="1458277" y="1458057"/>
          <a:ext cx="6329379" cy="138572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99318">
                  <a:extLst>
                    <a:ext uri="{9D8B030D-6E8A-4147-A177-3AD203B41FA5}">
                      <a16:colId xmlns:a16="http://schemas.microsoft.com/office/drawing/2014/main" val="3053477207"/>
                    </a:ext>
                  </a:extLst>
                </a:gridCol>
                <a:gridCol w="1643301">
                  <a:extLst>
                    <a:ext uri="{9D8B030D-6E8A-4147-A177-3AD203B41FA5}">
                      <a16:colId xmlns:a16="http://schemas.microsoft.com/office/drawing/2014/main" val="2991323999"/>
                    </a:ext>
                  </a:extLst>
                </a:gridCol>
                <a:gridCol w="3286760">
                  <a:extLst>
                    <a:ext uri="{9D8B030D-6E8A-4147-A177-3AD203B41FA5}">
                      <a16:colId xmlns:a16="http://schemas.microsoft.com/office/drawing/2014/main" val="361596335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Element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Syntax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Purpose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79547806"/>
                  </a:ext>
                </a:extLst>
              </a:tr>
              <a:tr h="357027">
                <a:tc>
                  <a:txBody>
                    <a:bodyPr/>
                    <a:lstStyle/>
                    <a:p>
                      <a:r>
                        <a:rPr lang="en-US" sz="1800" b="1" dirty="0"/>
                        <a:t>Declaration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&lt;%! ... %&gt;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Declares variables or methods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2139684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Scriptlet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&lt;% ... %&gt;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Contains Java code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642584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Expression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&lt;% =... %&gt;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Outputs value to client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2719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BE91CD-0E1C-0E28-1A2F-BA137EA1433C}"/>
              </a:ext>
            </a:extLst>
          </p:cNvPr>
          <p:cNvSpPr txBox="1"/>
          <p:nvPr/>
        </p:nvSpPr>
        <p:spPr>
          <a:xfrm>
            <a:off x="1131983" y="3643829"/>
            <a:ext cx="6519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Use scriptlets </a:t>
            </a:r>
            <a:r>
              <a:rPr lang="en-IN" sz="1800" b="1" dirty="0"/>
              <a:t>sparingly</a:t>
            </a:r>
            <a:r>
              <a:rPr lang="en-IN" sz="1800" dirty="0"/>
              <a:t> – prefer JSTL/EL in modern JSPs.</a:t>
            </a:r>
          </a:p>
        </p:txBody>
      </p:sp>
    </p:spTree>
    <p:extLst>
      <p:ext uri="{BB962C8B-B14F-4D97-AF65-F5344CB8AC3E}">
        <p14:creationId xmlns:p14="http://schemas.microsoft.com/office/powerpoint/2010/main" val="25105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1056-150B-3611-1FDD-6D235C9D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Expression and Scriptlet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EC4F02-B8FC-3524-9755-41A33D732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0724" y="1088289"/>
            <a:ext cx="4502553" cy="28364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D655A2-9451-29E6-595C-1909F0D22727}"/>
              </a:ext>
            </a:extLst>
          </p:cNvPr>
          <p:cNvSpPr txBox="1"/>
          <p:nvPr/>
        </p:nvSpPr>
        <p:spPr>
          <a:xfrm>
            <a:off x="1041094" y="4346154"/>
            <a:ext cx="611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&lt;%= ... %&gt; automatically writes output to the response.</a:t>
            </a:r>
          </a:p>
        </p:txBody>
      </p:sp>
    </p:spTree>
    <p:extLst>
      <p:ext uri="{BB962C8B-B14F-4D97-AF65-F5344CB8AC3E}">
        <p14:creationId xmlns:p14="http://schemas.microsoft.com/office/powerpoint/2010/main" val="1768073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1386-5FB4-E9A4-33C6-FC409F92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JSP Directives and Include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D4247-C163-AC8F-03F6-9B0ABF5381ED}"/>
              </a:ext>
            </a:extLst>
          </p:cNvPr>
          <p:cNvSpPr txBox="1"/>
          <p:nvPr/>
        </p:nvSpPr>
        <p:spPr>
          <a:xfrm>
            <a:off x="628651" y="1402484"/>
            <a:ext cx="221645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Page Directive: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02020C-72DC-4C17-6C91-025D94E0E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490" y="1124653"/>
            <a:ext cx="5829300" cy="1593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33CBD0-E181-A12A-7F38-DBFE9C11AC1D}"/>
              </a:ext>
            </a:extLst>
          </p:cNvPr>
          <p:cNvSpPr txBox="1"/>
          <p:nvPr/>
        </p:nvSpPr>
        <p:spPr>
          <a:xfrm>
            <a:off x="627961" y="3205909"/>
            <a:ext cx="242887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Include Directive:</a:t>
            </a:r>
            <a:endParaRPr lang="en-IN" sz="2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BDCE13-4583-DE22-F1E5-32812C8D6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107" y="2920598"/>
            <a:ext cx="5829300" cy="1696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9A02F-23A3-EEE2-ADA2-A9C7906F9A02}"/>
              </a:ext>
            </a:extLst>
          </p:cNvPr>
          <p:cNvSpPr txBox="1"/>
          <p:nvPr/>
        </p:nvSpPr>
        <p:spPr>
          <a:xfrm>
            <a:off x="627961" y="4575149"/>
            <a:ext cx="698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Directives </a:t>
            </a:r>
            <a:r>
              <a:rPr lang="en-IN" sz="1800" b="1" dirty="0"/>
              <a:t>configure</a:t>
            </a:r>
            <a:r>
              <a:rPr lang="en-IN" sz="1800" dirty="0"/>
              <a:t> the JSP page or </a:t>
            </a:r>
            <a:r>
              <a:rPr lang="en-IN" sz="1800" b="1" dirty="0"/>
              <a:t>include shared content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3082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80E0-27F8-0FB1-9C3E-63DA8CE9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Session?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EC6B7-A5A6-34C5-D8B4-27F380C28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session</a:t>
            </a:r>
            <a:r>
              <a:rPr lang="en-IN" dirty="0"/>
              <a:t> represents a user’s interaction with a web application across multiple requests.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HTTP is </a:t>
            </a:r>
            <a:r>
              <a:rPr lang="en-IN" b="1" dirty="0"/>
              <a:t>stateless</a:t>
            </a:r>
            <a:r>
              <a:rPr lang="en-IN" dirty="0"/>
              <a:t>, so session tracking is needed to </a:t>
            </a:r>
            <a:r>
              <a:rPr lang="en-IN" b="1" dirty="0"/>
              <a:t>maintain continuity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JSP provides built-in support through the </a:t>
            </a:r>
            <a:r>
              <a:rPr lang="en-IN" b="1" dirty="0"/>
              <a:t>session object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✅ Each session is </a:t>
            </a:r>
            <a:r>
              <a:rPr lang="en-IN" b="1" dirty="0"/>
              <a:t>unique per user</a:t>
            </a:r>
            <a:r>
              <a:rPr lang="en-IN" dirty="0"/>
              <a:t> and managed by the server.</a:t>
            </a:r>
          </a:p>
        </p:txBody>
      </p:sp>
    </p:spTree>
    <p:extLst>
      <p:ext uri="{BB962C8B-B14F-4D97-AF65-F5344CB8AC3E}">
        <p14:creationId xmlns:p14="http://schemas.microsoft.com/office/powerpoint/2010/main" val="157875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5503-CFBE-47C8-7420-E778E5B9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Accessing the Session Object in JSP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92E3D-ECD3-3463-5C32-524A9535A3D5}"/>
              </a:ext>
            </a:extLst>
          </p:cNvPr>
          <p:cNvSpPr txBox="1"/>
          <p:nvPr/>
        </p:nvSpPr>
        <p:spPr>
          <a:xfrm>
            <a:off x="628650" y="1268016"/>
            <a:ext cx="45733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JSP provides session implicitly: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09AA7-E04F-C92C-2418-61489A4CE30A}"/>
              </a:ext>
            </a:extLst>
          </p:cNvPr>
          <p:cNvSpPr txBox="1"/>
          <p:nvPr/>
        </p:nvSpPr>
        <p:spPr>
          <a:xfrm>
            <a:off x="751901" y="4222214"/>
            <a:ext cx="78967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b="1" dirty="0"/>
              <a:t>✅ Data stored in session is available across multiple pages.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ABF978-8D2E-4943-9D45-ADD7F821E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50" y="1961430"/>
            <a:ext cx="8521700" cy="179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0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6D5C-744E-DA7F-1BF7-C88EAE73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HttpSession Methods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D7D865-A276-5696-35BD-6F394A09D2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75257" y="1443583"/>
          <a:ext cx="5976620" cy="18568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893060">
                  <a:extLst>
                    <a:ext uri="{9D8B030D-6E8A-4147-A177-3AD203B41FA5}">
                      <a16:colId xmlns:a16="http://schemas.microsoft.com/office/drawing/2014/main" val="283636731"/>
                    </a:ext>
                  </a:extLst>
                </a:gridCol>
                <a:gridCol w="3083560">
                  <a:extLst>
                    <a:ext uri="{9D8B030D-6E8A-4147-A177-3AD203B41FA5}">
                      <a16:colId xmlns:a16="http://schemas.microsoft.com/office/drawing/2014/main" val="257953522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518432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setAttribute(String, Object)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Stores data in session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59168036"/>
                  </a:ext>
                </a:extLst>
              </a:tr>
              <a:tr h="420936">
                <a:tc>
                  <a:txBody>
                    <a:bodyPr/>
                    <a:lstStyle/>
                    <a:p>
                      <a:r>
                        <a:rPr lang="en-US" sz="1800" dirty="0"/>
                        <a:t>getAttribute(String)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Retrieves data from session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54700849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r>
                        <a:rPr lang="en-US" sz="1800" dirty="0"/>
                        <a:t>removeAttribute(String)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Removes a session attribute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0939917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invalidate()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Ends the current session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641604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9FF9BB-A48D-D86B-A6EE-F2CD35D77545}"/>
              </a:ext>
            </a:extLst>
          </p:cNvPr>
          <p:cNvSpPr txBox="1"/>
          <p:nvPr/>
        </p:nvSpPr>
        <p:spPr>
          <a:xfrm>
            <a:off x="867579" y="3668617"/>
            <a:ext cx="776847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00" dirty="0"/>
              <a:t>✅ Used to manage </a:t>
            </a:r>
            <a:r>
              <a:rPr lang="en-IN" sz="2100" b="1" dirty="0"/>
              <a:t>login status, cart items, preferences</a:t>
            </a:r>
            <a:r>
              <a:rPr lang="en-IN" sz="21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599526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2A25-AFA4-09F4-17C6-D0753CDD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– Login and Welcome Pages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E8022-8F28-7D96-2F86-593DFB0F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073" y="1220197"/>
            <a:ext cx="5007855" cy="2092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C666FD-38C7-93D0-A044-DBBBE0B86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3174325"/>
            <a:ext cx="5829300" cy="12205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CF2FCF-FB4D-FE34-EA89-641A61C21BF6}"/>
              </a:ext>
            </a:extLst>
          </p:cNvPr>
          <p:cNvSpPr txBox="1"/>
          <p:nvPr/>
        </p:nvSpPr>
        <p:spPr>
          <a:xfrm>
            <a:off x="859316" y="4519670"/>
            <a:ext cx="6378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Simple demonstration of using session to track user login.</a:t>
            </a:r>
          </a:p>
        </p:txBody>
      </p:sp>
    </p:spTree>
    <p:extLst>
      <p:ext uri="{BB962C8B-B14F-4D97-AF65-F5344CB8AC3E}">
        <p14:creationId xmlns:p14="http://schemas.microsoft.com/office/powerpoint/2010/main" val="851774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0A8B-F191-53ED-EAB7-D43B6EC5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Invalidating a Session (Logout)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122666-B92C-6F48-2713-036236BC7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417" y="1030450"/>
            <a:ext cx="6986864" cy="3263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3B5226-5B4C-A594-BCFC-8EDC67F0357F}"/>
              </a:ext>
            </a:extLst>
          </p:cNvPr>
          <p:cNvSpPr txBox="1"/>
          <p:nvPr/>
        </p:nvSpPr>
        <p:spPr>
          <a:xfrm>
            <a:off x="776689" y="4511408"/>
            <a:ext cx="696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Ensures all session data is </a:t>
            </a:r>
            <a:r>
              <a:rPr lang="en-IN" sz="1800" b="1" dirty="0"/>
              <a:t>cleared</a:t>
            </a:r>
            <a:r>
              <a:rPr lang="en-IN" sz="1800" dirty="0"/>
              <a:t>, logging the user out safely.</a:t>
            </a:r>
          </a:p>
        </p:txBody>
      </p:sp>
    </p:spTree>
    <p:extLst>
      <p:ext uri="{BB962C8B-B14F-4D97-AF65-F5344CB8AC3E}">
        <p14:creationId xmlns:p14="http://schemas.microsoft.com/office/powerpoint/2010/main" val="732075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B410-15A8-441B-4539-E45BE64E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Session Timeout and Management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C6467C-EBCB-6459-5BF7-CA23B4A13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196" y="1565427"/>
            <a:ext cx="7052861" cy="27427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99117F-3493-0CC2-DD4B-2B2FB310FED1}"/>
              </a:ext>
            </a:extLst>
          </p:cNvPr>
          <p:cNvSpPr txBox="1"/>
          <p:nvPr/>
        </p:nvSpPr>
        <p:spPr>
          <a:xfrm>
            <a:off x="628650" y="1369219"/>
            <a:ext cx="688874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100" b="1" dirty="0"/>
              <a:t>Default timeout</a:t>
            </a:r>
            <a:r>
              <a:rPr lang="en-IN" sz="2100" dirty="0"/>
              <a:t>: 30 minutes (configurable in web.xml)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E963D-D07D-F462-09D3-D04184D98B2F}"/>
              </a:ext>
            </a:extLst>
          </p:cNvPr>
          <p:cNvSpPr txBox="1"/>
          <p:nvPr/>
        </p:nvSpPr>
        <p:spPr>
          <a:xfrm>
            <a:off x="628650" y="4259367"/>
            <a:ext cx="628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/>
              <a:t>✅ Timeout helps </a:t>
            </a:r>
            <a:r>
              <a:rPr lang="en-IN" sz="1800" b="1" dirty="0"/>
              <a:t>manage memory</a:t>
            </a:r>
            <a:r>
              <a:rPr lang="en-IN" sz="1800" dirty="0"/>
              <a:t> and </a:t>
            </a:r>
            <a:r>
              <a:rPr lang="en-IN" sz="1800" b="1" dirty="0"/>
              <a:t>enhance security</a:t>
            </a:r>
            <a:r>
              <a:rPr lang="en-IN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3753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2032</TotalTime>
  <Words>403</Words>
  <Application>Microsoft Macintosh PowerPoint</Application>
  <PresentationFormat>On-screen Show (16:9)</PresentationFormat>
  <Paragraphs>67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Simple Light</vt:lpstr>
      <vt:lpstr>PowerPoint Presentation</vt:lpstr>
      <vt:lpstr>What is JSP?</vt:lpstr>
      <vt:lpstr>JSP Architecture Overview</vt:lpstr>
      <vt:lpstr>Basic Syntax of a JSP Page</vt:lpstr>
      <vt:lpstr>JSP Scripting Elements</vt:lpstr>
      <vt:lpstr>Example – Expression and Scriptlet</vt:lpstr>
      <vt:lpstr>JSP Directives and Include</vt:lpstr>
      <vt:lpstr>What is a Session?</vt:lpstr>
      <vt:lpstr>Accessing the Session Object in JSP</vt:lpstr>
      <vt:lpstr>Common HttpSession Methods</vt:lpstr>
      <vt:lpstr>Example – Login and Welcome Pages</vt:lpstr>
      <vt:lpstr>Invalidating a Session (Logout)</vt:lpstr>
      <vt:lpstr>Session Timeout and Management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34</cp:revision>
  <dcterms:modified xsi:type="dcterms:W3CDTF">2026-02-03T10:14:29Z</dcterms:modified>
</cp:coreProperties>
</file>