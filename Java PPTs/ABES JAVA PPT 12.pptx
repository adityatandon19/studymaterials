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407" r:id="rId2"/>
    <p:sldId id="259" r:id="rId3"/>
    <p:sldId id="260" r:id="rId4"/>
    <p:sldId id="261" r:id="rId5"/>
    <p:sldId id="262" r:id="rId6"/>
    <p:sldId id="263" r:id="rId7"/>
    <p:sldId id="266" r:id="rId8"/>
    <p:sldId id="267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411" r:id="rId19"/>
    <p:sldId id="412" r:id="rId20"/>
    <p:sldId id="413" r:id="rId21"/>
    <p:sldId id="414" r:id="rId22"/>
    <p:sldId id="415" r:id="rId23"/>
    <p:sldId id="416" r:id="rId24"/>
    <p:sldId id="282" r:id="rId25"/>
    <p:sldId id="283" r:id="rId26"/>
    <p:sldId id="284" r:id="rId27"/>
    <p:sldId id="285" r:id="rId28"/>
    <p:sldId id="286" r:id="rId29"/>
    <p:sldId id="287" r:id="rId30"/>
    <p:sldId id="406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59"/>
            <p14:sldId id="260"/>
            <p14:sldId id="261"/>
            <p14:sldId id="262"/>
            <p14:sldId id="263"/>
            <p14:sldId id="266"/>
            <p14:sldId id="267"/>
            <p14:sldId id="264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411"/>
            <p14:sldId id="412"/>
            <p14:sldId id="413"/>
            <p14:sldId id="414"/>
            <p14:sldId id="415"/>
            <p14:sldId id="416"/>
            <p14:sldId id="282"/>
            <p14:sldId id="283"/>
            <p14:sldId id="284"/>
            <p14:sldId id="285"/>
            <p14:sldId id="286"/>
            <p14:sldId id="287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12"/>
    <p:restoredTop sz="96301"/>
  </p:normalViewPr>
  <p:slideViewPr>
    <p:cSldViewPr snapToGrid="0">
      <p:cViewPr varScale="1">
        <p:scale>
          <a:sx n="112" d="100"/>
          <a:sy n="112" d="100"/>
        </p:scale>
        <p:origin x="192" y="9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97E7-91B5-D9B8-F926-FF5340EA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FF27-F9C2-B678-3970-D9DDD1D90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54FA8-0FEA-3D3D-C83B-EDD1627E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27534-1D9A-0644-AE72-4AE0C8687666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62105-7620-840A-BC43-1F3B33B8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220A1-6876-97F5-8BEE-5D7D1308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041F-5091-7049-B813-8AF1E045D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1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2707321" y="2286848"/>
            <a:ext cx="3729358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Interfaces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6F01-FD95-ED11-CFBE-C70FE6633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an Interface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3B2B6-08C1-375A-89A2-9D1D1B6BB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994172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An </a:t>
            </a:r>
            <a:r>
              <a:rPr lang="en-IN" b="1" dirty="0"/>
              <a:t>interface</a:t>
            </a:r>
            <a:r>
              <a:rPr lang="en-IN" dirty="0"/>
              <a:t> is a blueprint for a class that defines a set of </a:t>
            </a:r>
            <a:r>
              <a:rPr lang="en-IN" b="1" dirty="0"/>
              <a:t>abstract methods</a:t>
            </a:r>
            <a:r>
              <a:rPr lang="en-IN" dirty="0"/>
              <a:t>.</a:t>
            </a:r>
          </a:p>
          <a:p>
            <a:r>
              <a:rPr lang="en-IN" dirty="0"/>
              <a:t>It provides </a:t>
            </a:r>
            <a:r>
              <a:rPr lang="en-IN" b="1" dirty="0"/>
              <a:t>complete abstraction</a:t>
            </a:r>
            <a:r>
              <a:rPr lang="en-IN" dirty="0"/>
              <a:t>—a class implementing an interface must provide concrete implementations.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10ADB-7BD2-B53D-EBCD-AD8E8876F8EF}"/>
              </a:ext>
            </a:extLst>
          </p:cNvPr>
          <p:cNvSpPr txBox="1"/>
          <p:nvPr/>
        </p:nvSpPr>
        <p:spPr>
          <a:xfrm>
            <a:off x="311700" y="2205322"/>
            <a:ext cx="5766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Key Features:</a:t>
            </a:r>
          </a:p>
          <a:p>
            <a:endParaRPr lang="en-IN" sz="1500" dirty="0"/>
          </a:p>
          <a:p>
            <a:r>
              <a:rPr lang="en-IN" sz="1500" dirty="0"/>
              <a:t>✅ Defines </a:t>
            </a:r>
            <a:r>
              <a:rPr lang="en-IN" sz="1500" b="1" dirty="0"/>
              <a:t>only method signatures</a:t>
            </a:r>
            <a:r>
              <a:rPr lang="en-IN" sz="1500" dirty="0"/>
              <a:t> (until Java 8)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Cannot contain constructors</a:t>
            </a:r>
            <a:r>
              <a:rPr lang="en-IN" sz="1500" dirty="0"/>
              <a:t> (since no object creation)</a:t>
            </a:r>
          </a:p>
          <a:p>
            <a:r>
              <a:rPr lang="en-IN" sz="1500" dirty="0"/>
              <a:t>✅ Supports </a:t>
            </a:r>
            <a:r>
              <a:rPr lang="en-IN" sz="1500" b="1" dirty="0"/>
              <a:t>multiple inheritance</a:t>
            </a:r>
            <a:endParaRPr lang="en-IN" sz="1500" dirty="0"/>
          </a:p>
          <a:p>
            <a:r>
              <a:rPr lang="en-IN" sz="1500" dirty="0"/>
              <a:t>✅ All methods are </a:t>
            </a:r>
            <a:r>
              <a:rPr lang="en-IN" sz="1500" b="1" dirty="0"/>
              <a:t>public and abstract by default</a:t>
            </a:r>
            <a:endParaRPr lang="en-IN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CAF3D-F2F6-F0D5-6BF2-C39660DB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3524580"/>
            <a:ext cx="50863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2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50E9-6A6D-2B1D-F73E-5FDE6A84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94" y="342162"/>
            <a:ext cx="2810718" cy="1043931"/>
          </a:xfrm>
        </p:spPr>
        <p:txBody>
          <a:bodyPr>
            <a:normAutofit/>
          </a:bodyPr>
          <a:lstStyle/>
          <a:p>
            <a:r>
              <a:rPr lang="en-IN" b="1" dirty="0"/>
              <a:t>Implementing an Interface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8A6BA-3A4D-DD1A-7BB7-84E1892A5FB5}"/>
              </a:ext>
            </a:extLst>
          </p:cNvPr>
          <p:cNvSpPr txBox="1"/>
          <p:nvPr/>
        </p:nvSpPr>
        <p:spPr>
          <a:xfrm>
            <a:off x="265656" y="2156252"/>
            <a:ext cx="3359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Interfaces must be implemented by a class using the implements keyword.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175B6E-E14C-00B7-4B27-192519A3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276" y="76668"/>
            <a:ext cx="5350213" cy="5066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AB46D-C5AC-DE3F-4FEB-82C6860AA914}"/>
              </a:ext>
            </a:extLst>
          </p:cNvPr>
          <p:cNvSpPr txBox="1"/>
          <p:nvPr/>
        </p:nvSpPr>
        <p:spPr>
          <a:xfrm>
            <a:off x="1823936" y="3356042"/>
            <a:ext cx="13003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Dog barks.</a:t>
            </a:r>
          </a:p>
        </p:txBody>
      </p:sp>
    </p:spTree>
    <p:extLst>
      <p:ext uri="{BB962C8B-B14F-4D97-AF65-F5344CB8AC3E}">
        <p14:creationId xmlns:p14="http://schemas.microsoft.com/office/powerpoint/2010/main" val="3679224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624A-AB02-DC37-CD22-D0925F25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968" y="273844"/>
            <a:ext cx="3672994" cy="1216218"/>
          </a:xfrm>
        </p:spPr>
        <p:txBody>
          <a:bodyPr>
            <a:normAutofit/>
          </a:bodyPr>
          <a:lstStyle/>
          <a:p>
            <a:r>
              <a:rPr lang="en-IN" b="1" dirty="0"/>
              <a:t>Interface with Multiple Methods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D8BEB-153F-9FE2-86F3-F868CAD0B8EB}"/>
              </a:ext>
            </a:extLst>
          </p:cNvPr>
          <p:cNvSpPr txBox="1"/>
          <p:nvPr/>
        </p:nvSpPr>
        <p:spPr>
          <a:xfrm>
            <a:off x="628650" y="1490062"/>
            <a:ext cx="4175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A class must implement all interface methods unless it is abstract.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BBE90-5945-2916-913D-E3E3CE19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186" y="0"/>
            <a:ext cx="4175312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DA08EF-E8CF-157A-4E8D-4E47CD75727B}"/>
              </a:ext>
            </a:extLst>
          </p:cNvPr>
          <p:cNvSpPr txBox="1"/>
          <p:nvPr/>
        </p:nvSpPr>
        <p:spPr>
          <a:xfrm>
            <a:off x="2553511" y="3166353"/>
            <a:ext cx="13773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Car starts.  </a:t>
            </a:r>
          </a:p>
          <a:p>
            <a:r>
              <a:rPr lang="en-US" sz="1800" dirty="0"/>
              <a:t>Car stops. </a:t>
            </a:r>
          </a:p>
        </p:txBody>
      </p:sp>
    </p:spTree>
    <p:extLst>
      <p:ext uri="{BB962C8B-B14F-4D97-AF65-F5344CB8AC3E}">
        <p14:creationId xmlns:p14="http://schemas.microsoft.com/office/powerpoint/2010/main" val="1746356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D092-A481-C1BC-0873-BEAFAB3F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Interfaces?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E5BE-A443-9836-E3CE-DB9C4837D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06" y="1630002"/>
            <a:ext cx="8520600" cy="1624704"/>
          </a:xfrm>
        </p:spPr>
        <p:txBody>
          <a:bodyPr>
            <a:normAutofit/>
          </a:bodyPr>
          <a:lstStyle/>
          <a:p>
            <a:pPr marL="285750" indent="-285750">
              <a:buFont typeface="System Font Regular"/>
              <a:buChar char="✅"/>
            </a:pPr>
            <a:r>
              <a:rPr lang="en-IN" sz="1600" b="1" dirty="0"/>
              <a:t>Supports Multiple Inheritance:</a:t>
            </a:r>
            <a:r>
              <a:rPr lang="en-IN" sz="1600" dirty="0"/>
              <a:t> Java does not allow multiple inheritance with classes, but interfaces make it possible.</a:t>
            </a:r>
          </a:p>
          <a:p>
            <a:pPr marL="285750" indent="-285750">
              <a:buFont typeface="System Font Regular"/>
              <a:buChar char="✅"/>
            </a:pPr>
            <a:r>
              <a:rPr lang="en-IN" sz="1600" b="1" dirty="0"/>
              <a:t>Encapsulation of Behavior:</a:t>
            </a:r>
            <a:r>
              <a:rPr lang="en-IN" sz="1600" dirty="0"/>
              <a:t> Interfaces define behavior without dictating implementation.</a:t>
            </a:r>
          </a:p>
          <a:p>
            <a:pPr marL="285750" indent="-285750">
              <a:buFont typeface="System Font Regular"/>
              <a:buChar char="✅"/>
            </a:pPr>
            <a:r>
              <a:rPr lang="en-IN" sz="1600" b="1" dirty="0"/>
              <a:t>Loose Coupling:</a:t>
            </a:r>
            <a:r>
              <a:rPr lang="en-IN" sz="1600" dirty="0"/>
              <a:t> Code is more flexible since implementations can be changed easily.</a:t>
            </a:r>
          </a:p>
          <a:p>
            <a:pPr marL="285750" indent="-285750">
              <a:buSzPct val="100000"/>
              <a:buFont typeface="System Font Regular"/>
              <a:buChar char="✅"/>
            </a:pPr>
            <a:r>
              <a:rPr lang="en-IN" sz="1600" b="1" dirty="0"/>
              <a:t>Code Standardization:</a:t>
            </a:r>
            <a:r>
              <a:rPr lang="en-IN" sz="1600" dirty="0"/>
              <a:t> Ensures that different classes follow the same structure.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1C6DF-3BED-9CF4-7488-5D25E2BC893C}"/>
              </a:ext>
            </a:extLst>
          </p:cNvPr>
          <p:cNvSpPr txBox="1"/>
          <p:nvPr/>
        </p:nvSpPr>
        <p:spPr>
          <a:xfrm>
            <a:off x="244406" y="3866984"/>
            <a:ext cx="515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Multiple Devices Using the Same Interface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5657-3802-D318-EA6D-52BB39E24D66}"/>
              </a:ext>
            </a:extLst>
          </p:cNvPr>
          <p:cNvSpPr txBox="1"/>
          <p:nvPr/>
        </p:nvSpPr>
        <p:spPr>
          <a:xfrm>
            <a:off x="412209" y="4143983"/>
            <a:ext cx="3695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(Interface) → Mobile, Laptop, Tablet </a:t>
            </a:r>
          </a:p>
        </p:txBody>
      </p:sp>
    </p:spTree>
    <p:extLst>
      <p:ext uri="{BB962C8B-B14F-4D97-AF65-F5344CB8AC3E}">
        <p14:creationId xmlns:p14="http://schemas.microsoft.com/office/powerpoint/2010/main" val="367443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A246-71F4-0A50-F458-10F2DE9D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8301341" cy="994172"/>
          </a:xfrm>
        </p:spPr>
        <p:txBody>
          <a:bodyPr>
            <a:normAutofit/>
          </a:bodyPr>
          <a:lstStyle/>
          <a:p>
            <a:r>
              <a:rPr lang="en-IN" b="1" dirty="0"/>
              <a:t>Default and Static Methods in Interfaces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A1666-349E-44DA-1998-F8C5BC50D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08" y="1268016"/>
            <a:ext cx="3048405" cy="2020874"/>
          </a:xfrm>
        </p:spPr>
        <p:txBody>
          <a:bodyPr>
            <a:normAutofit/>
          </a:bodyPr>
          <a:lstStyle/>
          <a:p>
            <a:r>
              <a:rPr lang="en-IN" sz="1500" b="1" dirty="0"/>
              <a:t>Java 8 introduced default and static methods in interfaces.</a:t>
            </a:r>
            <a:endParaRPr lang="en-IN" sz="1500" dirty="0"/>
          </a:p>
          <a:p>
            <a:r>
              <a:rPr lang="en-IN" sz="1500" b="1" dirty="0"/>
              <a:t>Default Method:</a:t>
            </a:r>
            <a:r>
              <a:rPr lang="en-IN" sz="1500" dirty="0"/>
              <a:t> A method with a body inside an interface.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A15F9-BC0A-1C81-ACE6-3EE4844A3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055" y="1090889"/>
            <a:ext cx="5466945" cy="40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01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7008-4CA0-A406-49FF-85207CB6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0CF8-C759-6240-2693-3DCE71B2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242976" cy="1145882"/>
          </a:xfrm>
        </p:spPr>
        <p:txBody>
          <a:bodyPr>
            <a:normAutofit/>
          </a:bodyPr>
          <a:lstStyle/>
          <a:p>
            <a:r>
              <a:rPr lang="en-IN" b="1" dirty="0"/>
              <a:t>Default and Static Methods in Interfaces (Contd.)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A345E8-4935-D3D4-66D0-04B49777D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889" y="1558978"/>
            <a:ext cx="6211111" cy="35845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103A56-9E6F-C350-3ACF-240FDF4CC443}"/>
              </a:ext>
            </a:extLst>
          </p:cNvPr>
          <p:cNvSpPr txBox="1"/>
          <p:nvPr/>
        </p:nvSpPr>
        <p:spPr>
          <a:xfrm>
            <a:off x="414123" y="1686907"/>
            <a:ext cx="1778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Static Method: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2D011-EE23-4FC2-FE96-345F26BDAC82}"/>
              </a:ext>
            </a:extLst>
          </p:cNvPr>
          <p:cNvSpPr txBox="1"/>
          <p:nvPr/>
        </p:nvSpPr>
        <p:spPr>
          <a:xfrm>
            <a:off x="414122" y="3456593"/>
            <a:ext cx="26468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This is a utility interface.</a:t>
            </a:r>
          </a:p>
        </p:txBody>
      </p:sp>
    </p:spTree>
    <p:extLst>
      <p:ext uri="{BB962C8B-B14F-4D97-AF65-F5344CB8AC3E}">
        <p14:creationId xmlns:p14="http://schemas.microsoft.com/office/powerpoint/2010/main" val="312443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29A3-68CB-4CEA-6C0E-E9AB7E6F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16237"/>
          </a:xfrm>
        </p:spPr>
        <p:txBody>
          <a:bodyPr/>
          <a:lstStyle/>
          <a:p>
            <a:r>
              <a:rPr lang="en-IN" b="1" dirty="0"/>
              <a:t>Common Mistakes with 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1F6EE-E892-A9D3-5D1F-E5DBDCE46D12}"/>
              </a:ext>
            </a:extLst>
          </p:cNvPr>
          <p:cNvSpPr txBox="1"/>
          <p:nvPr/>
        </p:nvSpPr>
        <p:spPr>
          <a:xfrm>
            <a:off x="142267" y="1072875"/>
            <a:ext cx="457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❌ </a:t>
            </a:r>
            <a:r>
              <a:rPr lang="en-IN" sz="1200" b="1" dirty="0"/>
              <a:t>Forgetting to Implement All Methods in a Class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FBF90-1CBD-07D6-BE6B-313E7CA95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67" y="1326791"/>
            <a:ext cx="5829300" cy="1892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82E676-5DBC-27B7-78CD-FACB34C0A2DB}"/>
              </a:ext>
            </a:extLst>
          </p:cNvPr>
          <p:cNvSpPr txBox="1"/>
          <p:nvPr/>
        </p:nvSpPr>
        <p:spPr>
          <a:xfrm>
            <a:off x="1076632" y="3473337"/>
            <a:ext cx="3373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Solution:</a:t>
            </a:r>
            <a:r>
              <a:rPr lang="en-IN" sz="1200" dirty="0"/>
              <a:t> Implement all interface methods.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220534-1C04-9248-BC10-7BC7218F0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3084042"/>
            <a:ext cx="49053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62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45B0-0076-07FC-FEDE-56BF2071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Interfaces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36D88-5D52-66AB-8B86-A516CAFA7856}"/>
              </a:ext>
            </a:extLst>
          </p:cNvPr>
          <p:cNvSpPr txBox="1"/>
          <p:nvPr/>
        </p:nvSpPr>
        <p:spPr>
          <a:xfrm>
            <a:off x="434097" y="1169524"/>
            <a:ext cx="457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❌ </a:t>
            </a:r>
            <a:r>
              <a:rPr lang="en-IN" sz="1200" b="1" dirty="0"/>
              <a:t>Trying to Create an Object of an Interface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52B9C-49AE-17C4-899C-C5379D74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7" y="1446523"/>
            <a:ext cx="7656325" cy="1646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451E22-A9C3-2B91-FA57-EDE752E75754}"/>
              </a:ext>
            </a:extLst>
          </p:cNvPr>
          <p:cNvSpPr txBox="1"/>
          <p:nvPr/>
        </p:nvSpPr>
        <p:spPr>
          <a:xfrm>
            <a:off x="434097" y="3133403"/>
            <a:ext cx="457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Solution:</a:t>
            </a:r>
            <a:r>
              <a:rPr lang="en-IN" sz="1200" dirty="0"/>
              <a:t> Use a class that implements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426341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7165-1BE7-4AE6-2F34-F7E4BA60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Interfaces?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1E31-1364-4304-9B9E-94DB3831F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04" y="1222798"/>
            <a:ext cx="8404698" cy="3124960"/>
          </a:xfrm>
        </p:spPr>
        <p:txBody>
          <a:bodyPr>
            <a:normAutofit/>
          </a:bodyPr>
          <a:lstStyle/>
          <a:p>
            <a:r>
              <a:rPr lang="en-IN" dirty="0"/>
              <a:t>✅ </a:t>
            </a:r>
            <a:r>
              <a:rPr lang="en-IN" b="1" dirty="0"/>
              <a:t>Use an Interface When:</a:t>
            </a:r>
            <a:endParaRPr lang="en-IN" dirty="0"/>
          </a:p>
          <a:p>
            <a:pPr lvl="1"/>
            <a:r>
              <a:rPr lang="en-IN" dirty="0"/>
              <a:t>You want to define </a:t>
            </a:r>
            <a:r>
              <a:rPr lang="en-IN" b="1" dirty="0"/>
              <a:t>a common behavior</a:t>
            </a:r>
            <a:r>
              <a:rPr lang="en-IN" dirty="0"/>
              <a:t> that multiple classes should implement.</a:t>
            </a:r>
          </a:p>
          <a:p>
            <a:pPr lvl="1"/>
            <a:r>
              <a:rPr lang="en-IN" dirty="0"/>
              <a:t>You need </a:t>
            </a:r>
            <a:r>
              <a:rPr lang="en-IN" b="1" dirty="0"/>
              <a:t>multiple inheritance support</a:t>
            </a:r>
            <a:r>
              <a:rPr lang="en-IN" dirty="0"/>
              <a:t> in Java.</a:t>
            </a:r>
          </a:p>
          <a:p>
            <a:pPr lvl="1"/>
            <a:r>
              <a:rPr lang="en-IN" dirty="0"/>
              <a:t>You want to create a </a:t>
            </a:r>
            <a:r>
              <a:rPr lang="en-IN" b="1" dirty="0"/>
              <a:t>loosely coupled system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Use Abstract Classes When:</a:t>
            </a:r>
            <a:endParaRPr lang="en-IN" dirty="0"/>
          </a:p>
          <a:p>
            <a:pPr lvl="1"/>
            <a:r>
              <a:rPr lang="en-IN" dirty="0"/>
              <a:t>You need </a:t>
            </a:r>
            <a:r>
              <a:rPr lang="en-IN" b="1" dirty="0"/>
              <a:t>partial implementation</a:t>
            </a:r>
            <a:r>
              <a:rPr lang="en-IN" dirty="0"/>
              <a:t> (some methods implemented, some abstract).</a:t>
            </a:r>
          </a:p>
          <a:p>
            <a:pPr lvl="1"/>
            <a:r>
              <a:rPr lang="en-IN" dirty="0"/>
              <a:t>You require </a:t>
            </a:r>
            <a:r>
              <a:rPr lang="en-IN" b="1" dirty="0"/>
              <a:t>constructors, instance variables, or concrete methods</a:t>
            </a: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D50E0-9948-730F-7F61-52A690C7ED5F}"/>
              </a:ext>
            </a:extLst>
          </p:cNvPr>
          <p:cNvSpPr txBox="1"/>
          <p:nvPr/>
        </p:nvSpPr>
        <p:spPr>
          <a:xfrm>
            <a:off x="335604" y="4523408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Example: Drivable (Interface) → Implemented by Car, Bike, Bus </a:t>
            </a:r>
          </a:p>
        </p:txBody>
      </p:sp>
    </p:spTree>
    <p:extLst>
      <p:ext uri="{BB962C8B-B14F-4D97-AF65-F5344CB8AC3E}">
        <p14:creationId xmlns:p14="http://schemas.microsoft.com/office/powerpoint/2010/main" val="1204376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4D5F-4DFC-6014-EC32-EC9470C0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Multiple Interfaces?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F2AC6-7217-BAEE-253F-5727BCE77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774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Java does not support multiple inheritance with classes</a:t>
            </a:r>
            <a:r>
              <a:rPr lang="en-IN" dirty="0"/>
              <a:t>, but </a:t>
            </a:r>
            <a:r>
              <a:rPr lang="en-IN" b="1" dirty="0"/>
              <a:t>interfaces allow a class to implement multiple behaviours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Benefits: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Encourages </a:t>
            </a:r>
            <a:r>
              <a:rPr lang="en-IN" b="1" dirty="0"/>
              <a:t>modularity and flexibility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✅ Allows </a:t>
            </a:r>
            <a:r>
              <a:rPr lang="en-IN" b="1" dirty="0"/>
              <a:t>different functionalities to be combined</a:t>
            </a:r>
            <a:r>
              <a:rPr lang="en-IN" dirty="0"/>
              <a:t> in a class.</a:t>
            </a:r>
          </a:p>
          <a:p>
            <a:pPr marL="0" indent="0">
              <a:buNone/>
            </a:pPr>
            <a:r>
              <a:rPr lang="en-IN" dirty="0"/>
              <a:t>✅ Supports </a:t>
            </a:r>
            <a:r>
              <a:rPr lang="en-IN" b="1" dirty="0"/>
              <a:t>loose coupling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 Use Case:</a:t>
            </a:r>
          </a:p>
          <a:p>
            <a:pPr marL="0" indent="0">
              <a:buNone/>
            </a:pPr>
            <a:r>
              <a:rPr lang="en-IN" dirty="0"/>
              <a:t>Flyable (Interface) → Bird, Airplane  </a:t>
            </a:r>
          </a:p>
          <a:p>
            <a:pPr marL="0" indent="0">
              <a:buNone/>
            </a:pPr>
            <a:r>
              <a:rPr lang="en-IN" dirty="0"/>
              <a:t>Swimmable (Interface) → Fish, Duck </a:t>
            </a:r>
          </a:p>
        </p:txBody>
      </p:sp>
    </p:spTree>
    <p:extLst>
      <p:ext uri="{BB962C8B-B14F-4D97-AF65-F5344CB8AC3E}">
        <p14:creationId xmlns:p14="http://schemas.microsoft.com/office/powerpoint/2010/main" val="266913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BE86-EE84-6B20-AD34-A872D8BC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442" y="126888"/>
            <a:ext cx="3260558" cy="1918480"/>
          </a:xfrm>
        </p:spPr>
        <p:txBody>
          <a:bodyPr>
            <a:normAutofit/>
          </a:bodyPr>
          <a:lstStyle/>
          <a:p>
            <a:r>
              <a:rPr lang="en-IN" b="1" dirty="0"/>
              <a:t>Implementing Multiple Interfaces (Syntax)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CC58B-C99B-23D1-406A-C32308241503}"/>
              </a:ext>
            </a:extLst>
          </p:cNvPr>
          <p:cNvSpPr txBox="1"/>
          <p:nvPr/>
        </p:nvSpPr>
        <p:spPr>
          <a:xfrm>
            <a:off x="302079" y="1921689"/>
            <a:ext cx="379639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A class can implement multiple interfaces using a comma-separated list.</a:t>
            </a:r>
            <a:endParaRPr lang="en-IN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2972F-5EAE-D8CE-4887-8C4480B5A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515" y="0"/>
            <a:ext cx="4686485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3D8212-B7C8-03BB-29F3-298CD2A3BA1C}"/>
              </a:ext>
            </a:extLst>
          </p:cNvPr>
          <p:cNvSpPr txBox="1"/>
          <p:nvPr/>
        </p:nvSpPr>
        <p:spPr>
          <a:xfrm>
            <a:off x="302079" y="2829396"/>
            <a:ext cx="24032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Printing document...  </a:t>
            </a:r>
          </a:p>
          <a:p>
            <a:r>
              <a:rPr lang="en-US" sz="1800" dirty="0"/>
              <a:t>Showing document... </a:t>
            </a:r>
          </a:p>
        </p:txBody>
      </p:sp>
    </p:spTree>
    <p:extLst>
      <p:ext uri="{BB962C8B-B14F-4D97-AF65-F5344CB8AC3E}">
        <p14:creationId xmlns:p14="http://schemas.microsoft.com/office/powerpoint/2010/main" val="3065906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DA0E-C3D5-4764-2526-20785302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474" y="0"/>
            <a:ext cx="7667908" cy="1091759"/>
          </a:xfrm>
        </p:spPr>
        <p:txBody>
          <a:bodyPr>
            <a:normAutofit fontScale="90000"/>
          </a:bodyPr>
          <a:lstStyle/>
          <a:p>
            <a:r>
              <a:rPr lang="en-IN" sz="3000" dirty="0"/>
              <a:t>Resolving Conflicts When Two Interfaces Have the Same Method</a:t>
            </a:r>
            <a:endParaRPr lang="en-US" sz="3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C6E1FC-EC51-4A2D-5E4C-5A261069C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0015" y="957782"/>
            <a:ext cx="5611367" cy="3627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55DC0-1E42-371D-2E2E-D7751ACC0ED9}"/>
              </a:ext>
            </a:extLst>
          </p:cNvPr>
          <p:cNvSpPr txBox="1"/>
          <p:nvPr/>
        </p:nvSpPr>
        <p:spPr>
          <a:xfrm>
            <a:off x="152619" y="4238732"/>
            <a:ext cx="44454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Output:</a:t>
            </a:r>
          </a:p>
          <a:p>
            <a:endParaRPr lang="en-US" sz="1600" dirty="0"/>
          </a:p>
          <a:p>
            <a:r>
              <a:rPr lang="en-US" sz="1600" dirty="0"/>
              <a:t>Resolving conflict by providing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579253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8DAE-DE79-ECB5-388E-EA73E44D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658" y="137251"/>
            <a:ext cx="7531768" cy="67796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Default Methods in Multiple Interfaces (Java 8+)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B3B21-535C-9699-D358-DF84945EEA3F}"/>
              </a:ext>
            </a:extLst>
          </p:cNvPr>
          <p:cNvSpPr txBox="1"/>
          <p:nvPr/>
        </p:nvSpPr>
        <p:spPr>
          <a:xfrm>
            <a:off x="302079" y="1447630"/>
            <a:ext cx="292281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If two interfaces have the same default method, the implementing class must override it.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45BCB9-91A5-D896-336D-4AFC1D30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228" y="887029"/>
            <a:ext cx="5327198" cy="42564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4EA53-1778-20A0-E347-944436A73D95}"/>
              </a:ext>
            </a:extLst>
          </p:cNvPr>
          <p:cNvSpPr txBox="1"/>
          <p:nvPr/>
        </p:nvSpPr>
        <p:spPr>
          <a:xfrm>
            <a:off x="293329" y="2657125"/>
            <a:ext cx="285366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Overriding default method to resolve conflict.</a:t>
            </a:r>
          </a:p>
        </p:txBody>
      </p:sp>
    </p:spTree>
    <p:extLst>
      <p:ext uri="{BB962C8B-B14F-4D97-AF65-F5344CB8AC3E}">
        <p14:creationId xmlns:p14="http://schemas.microsoft.com/office/powerpoint/2010/main" val="3459508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5A52-AB61-B871-7655-A0AD2FA6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221" y="147639"/>
            <a:ext cx="3731695" cy="141646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Using super to Call Default Methods from 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23698-22B3-438A-22D7-78C33B989274}"/>
              </a:ext>
            </a:extLst>
          </p:cNvPr>
          <p:cNvSpPr txBox="1"/>
          <p:nvPr/>
        </p:nvSpPr>
        <p:spPr>
          <a:xfrm>
            <a:off x="211384" y="1851601"/>
            <a:ext cx="39737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If required, super can be used to call a specific interface’s default method.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7465B5-D7C5-A880-3988-AAA9B782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916" y="0"/>
            <a:ext cx="4185084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DF7FBF-1011-106F-6468-FE99BDDD63D8}"/>
              </a:ext>
            </a:extLst>
          </p:cNvPr>
          <p:cNvSpPr txBox="1"/>
          <p:nvPr/>
        </p:nvSpPr>
        <p:spPr>
          <a:xfrm>
            <a:off x="563840" y="2976889"/>
            <a:ext cx="1933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A's show method</a:t>
            </a:r>
          </a:p>
        </p:txBody>
      </p:sp>
    </p:spTree>
    <p:extLst>
      <p:ext uri="{BB962C8B-B14F-4D97-AF65-F5344CB8AC3E}">
        <p14:creationId xmlns:p14="http://schemas.microsoft.com/office/powerpoint/2010/main" val="224421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BBF1-934F-6035-9FC6-3DF8064C3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8" y="228600"/>
            <a:ext cx="7711422" cy="68484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Multiple Interfaces vs. Multiple Inheritance in C++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18BEB1-F0EF-86A5-1698-D37EFFE88B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8" cy="139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4936">
                  <a:extLst>
                    <a:ext uri="{9D8B030D-6E8A-4147-A177-3AD203B41FA5}">
                      <a16:colId xmlns:a16="http://schemas.microsoft.com/office/drawing/2014/main" val="614137542"/>
                    </a:ext>
                  </a:extLst>
                </a:gridCol>
                <a:gridCol w="3322863">
                  <a:extLst>
                    <a:ext uri="{9D8B030D-6E8A-4147-A177-3AD203B41FA5}">
                      <a16:colId xmlns:a16="http://schemas.microsoft.com/office/drawing/2014/main" val="1031907746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99442887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Multiple Interfaces (Java)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Multiple Inheritance (C++)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04095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Supported?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886475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Resolves Ambiguity?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 (Single Implementation required)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 (Diamond problem)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006149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Implements </a:t>
                      </a:r>
                      <a:r>
                        <a:rPr lang="en-US" sz="1100" dirty="0" err="1"/>
                        <a:t>Behaviour</a:t>
                      </a:r>
                      <a:r>
                        <a:rPr lang="en-US" sz="11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838639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Inherits Properties?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170673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CA151A-2ACE-93FE-35B7-3511796171F7}"/>
              </a:ext>
            </a:extLst>
          </p:cNvPr>
          <p:cNvSpPr txBox="1"/>
          <p:nvPr/>
        </p:nvSpPr>
        <p:spPr>
          <a:xfrm>
            <a:off x="489857" y="3215641"/>
            <a:ext cx="7200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Why Java Uses Interfaces Instead of Multiple Inheritance?</a:t>
            </a:r>
            <a:endParaRPr lang="en-IN" sz="1800" dirty="0"/>
          </a:p>
          <a:p>
            <a:r>
              <a:rPr lang="en-IN" sz="1800" dirty="0"/>
              <a:t>✅ </a:t>
            </a:r>
            <a:r>
              <a:rPr lang="en-IN" sz="1800" b="1" dirty="0"/>
              <a:t>Avoids ambiguity</a:t>
            </a:r>
            <a:r>
              <a:rPr lang="en-IN" sz="1800" dirty="0"/>
              <a:t> (diamond problem).</a:t>
            </a:r>
          </a:p>
          <a:p>
            <a:r>
              <a:rPr lang="en-IN" sz="1800" dirty="0"/>
              <a:t>✅ </a:t>
            </a:r>
            <a:r>
              <a:rPr lang="en-IN" sz="1800" b="1" dirty="0"/>
              <a:t>Ensures better design</a:t>
            </a:r>
            <a:r>
              <a:rPr lang="en-IN" sz="1800" dirty="0"/>
              <a:t> by separating behaviours.</a:t>
            </a:r>
          </a:p>
        </p:txBody>
      </p:sp>
    </p:spTree>
    <p:extLst>
      <p:ext uri="{BB962C8B-B14F-4D97-AF65-F5344CB8AC3E}">
        <p14:creationId xmlns:p14="http://schemas.microsoft.com/office/powerpoint/2010/main" val="2936520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09D7-29C8-47CE-5A02-871ED0A8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Multiple 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06B02-8734-8DC5-3259-67E643D55D81}"/>
              </a:ext>
            </a:extLst>
          </p:cNvPr>
          <p:cNvSpPr txBox="1"/>
          <p:nvPr/>
        </p:nvSpPr>
        <p:spPr>
          <a:xfrm>
            <a:off x="326571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Implement All Methods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28B90-B237-1C8D-42EA-02E287807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1281679"/>
            <a:ext cx="5829300" cy="16840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7DAB6-3BB9-E969-1BC6-1A10653DF308}"/>
              </a:ext>
            </a:extLst>
          </p:cNvPr>
          <p:cNvSpPr txBox="1"/>
          <p:nvPr/>
        </p:nvSpPr>
        <p:spPr>
          <a:xfrm>
            <a:off x="326571" y="2965699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Implement the missing method.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9382B6-51BD-AAD7-DB64-5C7DADAE6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181350"/>
            <a:ext cx="516255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20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FC4C5-D0B6-3A6E-8869-568CA49C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94D8-891F-2164-5A76-141436AD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42" y="351702"/>
            <a:ext cx="7749458" cy="93485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Common Mistakes with Multiple Interfaces (Contd.)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36A30-20BE-7176-2AFA-87EF9DC8CB24}"/>
              </a:ext>
            </a:extLst>
          </p:cNvPr>
          <p:cNvSpPr txBox="1"/>
          <p:nvPr/>
        </p:nvSpPr>
        <p:spPr>
          <a:xfrm>
            <a:off x="473529" y="1265453"/>
            <a:ext cx="39841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Conflicts with Default Methods in Interfaces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18B8E-0187-12F0-38AD-81FCE7BF4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8" y="1540478"/>
            <a:ext cx="6253844" cy="29974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E51100-6114-C8EF-AB8C-F48B9CDF4131}"/>
              </a:ext>
            </a:extLst>
          </p:cNvPr>
          <p:cNvSpPr txBox="1"/>
          <p:nvPr/>
        </p:nvSpPr>
        <p:spPr>
          <a:xfrm>
            <a:off x="473528" y="453788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Override display() in class Z.</a:t>
            </a:r>
          </a:p>
        </p:txBody>
      </p:sp>
    </p:spTree>
    <p:extLst>
      <p:ext uri="{BB962C8B-B14F-4D97-AF65-F5344CB8AC3E}">
        <p14:creationId xmlns:p14="http://schemas.microsoft.com/office/powerpoint/2010/main" val="345717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923D-0802-61B8-B457-218B5588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Are Variables Allowed in Interfaces?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FEB33-F8B5-11CF-2424-2F2BB8BF7723}"/>
              </a:ext>
            </a:extLst>
          </p:cNvPr>
          <p:cNvSpPr txBox="1"/>
          <p:nvPr/>
        </p:nvSpPr>
        <p:spPr>
          <a:xfrm>
            <a:off x="311700" y="1186755"/>
            <a:ext cx="55800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Yes, but with restrictions!</a:t>
            </a:r>
            <a:endParaRPr lang="en-IN" dirty="0"/>
          </a:p>
          <a:p>
            <a:r>
              <a:rPr lang="en-IN" b="1" dirty="0"/>
              <a:t>Rules for Variables in Interfaces:</a:t>
            </a:r>
          </a:p>
          <a:p>
            <a:endParaRPr lang="en-IN" dirty="0"/>
          </a:p>
          <a:p>
            <a:r>
              <a:rPr lang="en-IN" dirty="0"/>
              <a:t>✅ All variables are </a:t>
            </a:r>
            <a:r>
              <a:rPr lang="en-IN" b="1" dirty="0"/>
              <a:t>implicitly public, static, and final</a:t>
            </a:r>
            <a:r>
              <a:rPr lang="en-IN" dirty="0"/>
              <a:t>.</a:t>
            </a:r>
          </a:p>
          <a:p>
            <a:r>
              <a:rPr lang="en-IN" dirty="0"/>
              <a:t>✅ </a:t>
            </a:r>
            <a:r>
              <a:rPr lang="en-IN" b="1" dirty="0"/>
              <a:t>No instance variables</a:t>
            </a:r>
            <a:r>
              <a:rPr lang="en-IN" dirty="0"/>
              <a:t> (since interfaces cannot have state).</a:t>
            </a:r>
          </a:p>
          <a:p>
            <a:r>
              <a:rPr lang="en-IN" dirty="0"/>
              <a:t>✅ </a:t>
            </a:r>
            <a:r>
              <a:rPr lang="en-IN" b="1" dirty="0"/>
              <a:t>Must be initialized</a:t>
            </a:r>
            <a:r>
              <a:rPr lang="en-IN" dirty="0"/>
              <a:t> when declared.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1A146-0E45-3323-04A7-269BB696F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381" y="2333898"/>
            <a:ext cx="5766619" cy="28096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909CEF-EBBE-67C4-1298-875ACEEA50A6}"/>
              </a:ext>
            </a:extLst>
          </p:cNvPr>
          <p:cNvSpPr txBox="1"/>
          <p:nvPr/>
        </p:nvSpPr>
        <p:spPr>
          <a:xfrm>
            <a:off x="1663528" y="3959811"/>
            <a:ext cx="14382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Max Users: 100</a:t>
            </a:r>
          </a:p>
        </p:txBody>
      </p:sp>
    </p:spTree>
    <p:extLst>
      <p:ext uri="{BB962C8B-B14F-4D97-AF65-F5344CB8AC3E}">
        <p14:creationId xmlns:p14="http://schemas.microsoft.com/office/powerpoint/2010/main" val="3367427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5B15A-61A7-6978-7F5D-115E4140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public static final Behavior in Interface Variables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0068D-81D9-C55D-2997-D0A1F9622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1" y="1369219"/>
          <a:ext cx="447120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4059">
                  <a:extLst>
                    <a:ext uri="{9D8B030D-6E8A-4147-A177-3AD203B41FA5}">
                      <a16:colId xmlns:a16="http://schemas.microsoft.com/office/drawing/2014/main" val="76155827"/>
                    </a:ext>
                  </a:extLst>
                </a:gridCol>
                <a:gridCol w="3167150">
                  <a:extLst>
                    <a:ext uri="{9D8B030D-6E8A-4147-A177-3AD203B41FA5}">
                      <a16:colId xmlns:a16="http://schemas.microsoft.com/office/drawing/2014/main" val="20395976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Behavior in Interfaces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528279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Public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Accessible everywhere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44833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Static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Belongs to the interface (not instances)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9735377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final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Cannot be modified after assignment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653549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0E8EBE-E80C-1B2D-2E53-7019F3EC6C88}"/>
              </a:ext>
            </a:extLst>
          </p:cNvPr>
          <p:cNvSpPr txBox="1"/>
          <p:nvPr/>
        </p:nvSpPr>
        <p:spPr>
          <a:xfrm>
            <a:off x="0" y="3159581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Compilation Error:</a:t>
            </a:r>
          </a:p>
          <a:p>
            <a:endParaRPr lang="en-US" sz="1200" dirty="0"/>
          </a:p>
          <a:p>
            <a:r>
              <a:rPr lang="en-US" sz="1200" dirty="0"/>
              <a:t>Cannot assign a value to final variable 'TIMEOUT'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0ED6B-23A7-8602-3ED8-503D6869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597" y="2526310"/>
            <a:ext cx="5829300" cy="255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78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EC4B-5589-7634-D14D-3085A7D7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04" y="1009069"/>
            <a:ext cx="3099608" cy="2120222"/>
          </a:xfrm>
        </p:spPr>
        <p:txBody>
          <a:bodyPr>
            <a:normAutofit/>
          </a:bodyPr>
          <a:lstStyle/>
          <a:p>
            <a:r>
              <a:rPr lang="en-IN" sz="2400" b="1" dirty="0"/>
              <a:t>Using Interface Constants in Implementing Classes</a:t>
            </a:r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0F0A2C-8B7F-78F7-C291-48E70A182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012" y="74815"/>
            <a:ext cx="5821988" cy="4869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C81E29-F466-7216-905F-09F31FE6789F}"/>
              </a:ext>
            </a:extLst>
          </p:cNvPr>
          <p:cNvSpPr txBox="1"/>
          <p:nvPr/>
        </p:nvSpPr>
        <p:spPr>
          <a:xfrm>
            <a:off x="628651" y="2749436"/>
            <a:ext cx="20088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Max Level: 10  </a:t>
            </a:r>
          </a:p>
          <a:p>
            <a:r>
              <a:rPr lang="en-US" sz="2100" dirty="0"/>
              <a:t>Min Level: 1</a:t>
            </a:r>
          </a:p>
        </p:txBody>
      </p:sp>
    </p:spTree>
    <p:extLst>
      <p:ext uri="{BB962C8B-B14F-4D97-AF65-F5344CB8AC3E}">
        <p14:creationId xmlns:p14="http://schemas.microsoft.com/office/powerpoint/2010/main" val="2710067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0885-A92F-F44E-FE95-817FC175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How Interface Constants Differ from Class Variables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3EFBE4-2C88-3CDF-62FF-E2761E635F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392803"/>
          <a:ext cx="5672138" cy="14609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3076794814"/>
                    </a:ext>
                  </a:extLst>
                </a:gridCol>
                <a:gridCol w="2128838">
                  <a:extLst>
                    <a:ext uri="{9D8B030D-6E8A-4147-A177-3AD203B41FA5}">
                      <a16:colId xmlns:a16="http://schemas.microsoft.com/office/drawing/2014/main" val="2521580834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419040478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sz="12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Interface Constants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Class Variables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87106430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r>
                        <a:rPr lang="en-US" sz="1200" b="1" dirty="0"/>
                        <a:t>Declaration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public static final (default)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 be any access level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11337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r>
                        <a:rPr lang="en-US" sz="1200" b="1" dirty="0"/>
                        <a:t>Initialization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Required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required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9100303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r>
                        <a:rPr lang="en-US" sz="1200" b="1" dirty="0"/>
                        <a:t>Modification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allowed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Allowed (unless final)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00595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b="1" dirty="0"/>
                        <a:t>Memory 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Stored in constant pool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Stored per object (unless static)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62221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A88680-F9C6-A5AC-5157-C36073DDBD34}"/>
              </a:ext>
            </a:extLst>
          </p:cNvPr>
          <p:cNvSpPr txBox="1"/>
          <p:nvPr/>
        </p:nvSpPr>
        <p:spPr>
          <a:xfrm>
            <a:off x="100013" y="281488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Example (Class Variable vs. Interface Constant):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323279-38A7-387F-4EA8-E89F799F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2971957"/>
            <a:ext cx="6200775" cy="217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39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EC48-0231-AF15-BA00-F3E06D2C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43875" cy="713188"/>
          </a:xfrm>
        </p:spPr>
        <p:txBody>
          <a:bodyPr>
            <a:normAutofit/>
          </a:bodyPr>
          <a:lstStyle/>
          <a:p>
            <a:r>
              <a:rPr lang="en-IN" sz="2400" b="1" dirty="0"/>
              <a:t>Best Practices for Using Interface Constants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3E511-F4D0-FF26-ABC8-C41E2A23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32" y="973161"/>
            <a:ext cx="8379619" cy="83938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350" dirty="0"/>
              <a:t>✅ </a:t>
            </a:r>
            <a:r>
              <a:rPr lang="en-IN" sz="1350" b="1" dirty="0"/>
              <a:t>Use interface constants for shared configurations and settings.</a:t>
            </a:r>
            <a:endParaRPr lang="en-IN" sz="1350" dirty="0"/>
          </a:p>
          <a:p>
            <a:pPr marL="0" indent="0">
              <a:buNone/>
            </a:pPr>
            <a:r>
              <a:rPr lang="en-IN" sz="1350" dirty="0"/>
              <a:t>✅ </a:t>
            </a:r>
            <a:r>
              <a:rPr lang="en-IN" sz="1350" b="1" dirty="0"/>
              <a:t>Use meaningful names in uppercase (e.g., MAX_USERS).</a:t>
            </a:r>
            <a:endParaRPr lang="en-IN" sz="1350" dirty="0"/>
          </a:p>
          <a:p>
            <a:pPr marL="0" indent="0">
              <a:buNone/>
            </a:pPr>
            <a:r>
              <a:rPr lang="en-IN" sz="1350" dirty="0"/>
              <a:t>✅ </a:t>
            </a:r>
            <a:r>
              <a:rPr lang="en-IN" sz="1350" b="1" dirty="0"/>
              <a:t>Use class constants instead of interface constants where possible (to avoid unintended coupling).</a:t>
            </a:r>
            <a:endParaRPr lang="en-IN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3C349-B1F8-007E-E1A2-186EA681AB07}"/>
              </a:ext>
            </a:extLst>
          </p:cNvPr>
          <p:cNvSpPr txBox="1"/>
          <p:nvPr/>
        </p:nvSpPr>
        <p:spPr>
          <a:xfrm>
            <a:off x="135732" y="1906334"/>
            <a:ext cx="372575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Bad Practice (Implementing an Interface Just for Constants):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D5A704-7F7C-977C-4798-98D27AEBD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218" y="1686348"/>
            <a:ext cx="5146783" cy="160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CF4F92-2102-45D3-BB4E-CBC4394F5765}"/>
              </a:ext>
            </a:extLst>
          </p:cNvPr>
          <p:cNvSpPr txBox="1"/>
          <p:nvPr/>
        </p:nvSpPr>
        <p:spPr>
          <a:xfrm>
            <a:off x="4572000" y="3504879"/>
            <a:ext cx="28607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Better Approach (Use static Access Instead)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24098A-0EFC-9680-308C-BFDCC661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3" y="3114676"/>
            <a:ext cx="4682981" cy="199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6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5468-A142-9F3F-8D40-00FBF073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Interface Variables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3FADB-CFA3-BCFE-9AD3-61684A6EC72B}"/>
              </a:ext>
            </a:extLst>
          </p:cNvPr>
          <p:cNvSpPr txBox="1"/>
          <p:nvPr/>
        </p:nvSpPr>
        <p:spPr>
          <a:xfrm>
            <a:off x="371475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Modify an Interface Variable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9C4F6D-9E35-3391-F3A7-78A82BDF2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7" y="935890"/>
            <a:ext cx="5586413" cy="2308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E5474-597E-97D5-7C48-42CECC6BEB91}"/>
              </a:ext>
            </a:extLst>
          </p:cNvPr>
          <p:cNvSpPr txBox="1"/>
          <p:nvPr/>
        </p:nvSpPr>
        <p:spPr>
          <a:xfrm>
            <a:off x="335622" y="1634038"/>
            <a:ext cx="322196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Define a new variable inside the class instead.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352C5-A930-2557-7050-117960FC6A0C}"/>
              </a:ext>
            </a:extLst>
          </p:cNvPr>
          <p:cNvSpPr txBox="1"/>
          <p:nvPr/>
        </p:nvSpPr>
        <p:spPr>
          <a:xfrm>
            <a:off x="5067372" y="3421935"/>
            <a:ext cx="38968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Using an Interface Just to Store Constants (Anti-Pattern)</a:t>
            </a:r>
            <a:endParaRPr lang="en-IN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7C04D2-E6A6-8098-94EB-83E843278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" y="3244637"/>
            <a:ext cx="5058744" cy="179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955015-ABF8-DA8C-D0EE-C566F8726DBF}"/>
              </a:ext>
            </a:extLst>
          </p:cNvPr>
          <p:cNvSpPr txBox="1"/>
          <p:nvPr/>
        </p:nvSpPr>
        <p:spPr>
          <a:xfrm>
            <a:off x="5067372" y="3965236"/>
            <a:ext cx="38968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a class with static final variables instead.</a:t>
            </a:r>
          </a:p>
        </p:txBody>
      </p:sp>
    </p:spTree>
    <p:extLst>
      <p:ext uri="{BB962C8B-B14F-4D97-AF65-F5344CB8AC3E}">
        <p14:creationId xmlns:p14="http://schemas.microsoft.com/office/powerpoint/2010/main" val="2771780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959A-70BE-CAF6-4A92-5D400318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Interface Constants?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694E3-2550-9450-19FE-314856C031CE}"/>
              </a:ext>
            </a:extLst>
          </p:cNvPr>
          <p:cNvSpPr txBox="1"/>
          <p:nvPr/>
        </p:nvSpPr>
        <p:spPr>
          <a:xfrm>
            <a:off x="203798" y="1268016"/>
            <a:ext cx="68066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Use Interface Constants When:</a:t>
            </a:r>
            <a:endParaRPr lang="en-IN" dirty="0"/>
          </a:p>
          <a:p>
            <a:r>
              <a:rPr lang="en-IN" dirty="0"/>
              <a:t>• Defining </a:t>
            </a:r>
            <a:r>
              <a:rPr lang="en-IN" b="1" dirty="0"/>
              <a:t>global constants</a:t>
            </a:r>
            <a:r>
              <a:rPr lang="en-IN" dirty="0"/>
              <a:t> that are truly related to the interface.</a:t>
            </a:r>
          </a:p>
          <a:p>
            <a:r>
              <a:rPr lang="en-IN" dirty="0"/>
              <a:t>• Providing </a:t>
            </a:r>
            <a:r>
              <a:rPr lang="en-IN" b="1" dirty="0"/>
              <a:t>configuration values</a:t>
            </a:r>
            <a:r>
              <a:rPr lang="en-IN" dirty="0"/>
              <a:t> that apply to multiple implementing classes.</a:t>
            </a:r>
          </a:p>
          <a:p>
            <a:br>
              <a:rPr lang="en-IN" dirty="0"/>
            </a:br>
            <a:r>
              <a:rPr lang="en-IN" dirty="0"/>
              <a:t>❌ </a:t>
            </a:r>
            <a:r>
              <a:rPr lang="en-IN" b="1" dirty="0"/>
              <a:t>Avoid Interface Constants When:</a:t>
            </a:r>
            <a:endParaRPr lang="en-IN" dirty="0"/>
          </a:p>
          <a:p>
            <a:r>
              <a:rPr lang="en-IN" dirty="0"/>
              <a:t>• The constants are </a:t>
            </a:r>
            <a:r>
              <a:rPr lang="en-IN" b="1" dirty="0"/>
              <a:t>not strongly related</a:t>
            </a:r>
            <a:r>
              <a:rPr lang="en-IN" dirty="0"/>
              <a:t> to the interface functionality.</a:t>
            </a:r>
          </a:p>
          <a:p>
            <a:r>
              <a:rPr lang="en-IN" dirty="0"/>
              <a:t>• You are just using the interface as a </a:t>
            </a:r>
            <a:r>
              <a:rPr lang="en-IN" b="1" dirty="0"/>
              <a:t>global constant holder</a:t>
            </a:r>
            <a:r>
              <a:rPr lang="en-IN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D9B08-16B1-C18B-BC7B-C592408A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55" y="2819119"/>
            <a:ext cx="6905445" cy="232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86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5A7E-9388-53CC-E40F-0E5CEE44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an Abstract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5186B-45CE-B729-4543-D62A7792D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27" y="1268016"/>
            <a:ext cx="3128342" cy="228341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 class that </a:t>
            </a:r>
            <a:r>
              <a:rPr lang="en-IN" b="1" dirty="0"/>
              <a:t>cannot be instantiated</a:t>
            </a:r>
            <a:r>
              <a:rPr lang="en-IN" dirty="0"/>
              <a:t> and may contain </a:t>
            </a:r>
            <a:r>
              <a:rPr lang="en-IN" b="1" dirty="0"/>
              <a:t>both abstract and concrete methods</a:t>
            </a:r>
            <a:r>
              <a:rPr lang="en-IN" dirty="0"/>
              <a:t>.</a:t>
            </a:r>
          </a:p>
          <a:p>
            <a:r>
              <a:rPr lang="en-IN" dirty="0"/>
              <a:t>Provides </a:t>
            </a:r>
            <a:r>
              <a:rPr lang="en-IN" b="1" dirty="0"/>
              <a:t>partial abstraction</a:t>
            </a:r>
            <a:r>
              <a:rPr lang="en-IN" dirty="0"/>
              <a:t>—some methods can have implementation.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6C9A4-F5D4-7C09-CFE9-46676C69A7E8}"/>
              </a:ext>
            </a:extLst>
          </p:cNvPr>
          <p:cNvSpPr txBox="1"/>
          <p:nvPr/>
        </p:nvSpPr>
        <p:spPr>
          <a:xfrm>
            <a:off x="0" y="3875485"/>
            <a:ext cx="38128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Key Features:</a:t>
            </a:r>
            <a:endParaRPr lang="en-IN" sz="1200" dirty="0"/>
          </a:p>
          <a:p>
            <a:r>
              <a:rPr lang="en-IN" sz="1200" dirty="0"/>
              <a:t>✅ Can have </a:t>
            </a:r>
            <a:r>
              <a:rPr lang="en-IN" sz="1200" b="1" dirty="0"/>
              <a:t>constructors</a:t>
            </a:r>
            <a:endParaRPr lang="en-IN" sz="1200" dirty="0"/>
          </a:p>
          <a:p>
            <a:r>
              <a:rPr lang="en-IN" sz="1200" dirty="0"/>
              <a:t>✅ Can contain </a:t>
            </a:r>
            <a:r>
              <a:rPr lang="en-IN" sz="1200" b="1" dirty="0"/>
              <a:t>instance variables</a:t>
            </a:r>
            <a:endParaRPr lang="en-IN" sz="1200" dirty="0"/>
          </a:p>
          <a:p>
            <a:r>
              <a:rPr lang="en-IN" sz="1200" dirty="0"/>
              <a:t>✅ Can have </a:t>
            </a:r>
            <a:r>
              <a:rPr lang="en-IN" sz="1200" b="1" dirty="0"/>
              <a:t>concrete (implemented) methods</a:t>
            </a:r>
            <a:endParaRPr lang="en-IN" sz="1200" dirty="0"/>
          </a:p>
          <a:p>
            <a:r>
              <a:rPr lang="en-IN" sz="1200" dirty="0"/>
              <a:t>✅ Supports </a:t>
            </a:r>
            <a:r>
              <a:rPr lang="en-IN" sz="1200" b="1" dirty="0"/>
              <a:t>single inheritance only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B3496D-16AA-FDD5-1E9E-9DAF34014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02" y="927270"/>
            <a:ext cx="5829300" cy="42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09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D3D4-C836-EEE4-2800-F4D8B4F1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Differences Between Interfaces and Abstract Classes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5BB547-D963-A2BB-F437-469B9DBB5E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8212206" cy="2602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1832">
                  <a:extLst>
                    <a:ext uri="{9D8B030D-6E8A-4147-A177-3AD203B41FA5}">
                      <a16:colId xmlns:a16="http://schemas.microsoft.com/office/drawing/2014/main" val="2150720263"/>
                    </a:ext>
                  </a:extLst>
                </a:gridCol>
                <a:gridCol w="3515966">
                  <a:extLst>
                    <a:ext uri="{9D8B030D-6E8A-4147-A177-3AD203B41FA5}">
                      <a16:colId xmlns:a16="http://schemas.microsoft.com/office/drawing/2014/main" val="759889152"/>
                    </a:ext>
                  </a:extLst>
                </a:gridCol>
                <a:gridCol w="2954408">
                  <a:extLst>
                    <a:ext uri="{9D8B030D-6E8A-4147-A177-3AD203B41FA5}">
                      <a16:colId xmlns:a16="http://schemas.microsoft.com/office/drawing/2014/main" val="11466233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Abstract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77575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Abstraction Level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100% (Until Java 8)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Partial (Can have concrete methods)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791857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Method Implementation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Cannot have concrete methods (Before Java 8)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have both abstract and concrete methods.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330225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Constructors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 constructors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Can have constructors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801193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Variables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public static final (constants only)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have instance variables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0216675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b="1" dirty="0"/>
                        <a:t>Access Modifiers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All methods are public.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Methods can have private, protected, or public access.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2400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Multiple Inheritance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Allowed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Not allowed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0304989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b="1" dirty="0"/>
                        <a:t>Use Case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Defines a contract that multiple classes must follow.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Defines a base class with some shared behavior.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15051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334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78C0-94DE-A523-6C90-6F576DF8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Choosing Between Interface and Abstract Class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DED9E-BA28-222D-2AFA-14719534E92E}"/>
              </a:ext>
            </a:extLst>
          </p:cNvPr>
          <p:cNvSpPr txBox="1"/>
          <p:nvPr/>
        </p:nvSpPr>
        <p:spPr>
          <a:xfrm>
            <a:off x="628650" y="1233436"/>
            <a:ext cx="8083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✅ </a:t>
            </a:r>
            <a:r>
              <a:rPr lang="en-IN" sz="1600" b="1" dirty="0"/>
              <a:t>Use an Interface When:</a:t>
            </a:r>
            <a:endParaRPr lang="en-IN" sz="1600" dirty="0"/>
          </a:p>
          <a:p>
            <a:r>
              <a:rPr lang="en-IN" sz="1600" dirty="0"/>
              <a:t>• You need to define </a:t>
            </a:r>
            <a:r>
              <a:rPr lang="en-IN" sz="1600" b="1" dirty="0"/>
              <a:t>behavior that multiple unrelated classes should follow</a:t>
            </a:r>
            <a:r>
              <a:rPr lang="en-IN" sz="1600" dirty="0"/>
              <a:t>.</a:t>
            </a:r>
          </a:p>
          <a:p>
            <a:r>
              <a:rPr lang="en-IN" sz="1600" dirty="0"/>
              <a:t>• You require </a:t>
            </a:r>
            <a:r>
              <a:rPr lang="en-IN" sz="1600" b="1" dirty="0"/>
              <a:t>multiple inheritance support</a:t>
            </a:r>
            <a:r>
              <a:rPr lang="en-IN" sz="1600" dirty="0"/>
              <a:t>.</a:t>
            </a:r>
          </a:p>
          <a:p>
            <a:r>
              <a:rPr lang="en-IN" sz="1600" dirty="0"/>
              <a:t>• You want to define </a:t>
            </a:r>
            <a:r>
              <a:rPr lang="en-IN" sz="1600" b="1" dirty="0"/>
              <a:t>constants</a:t>
            </a:r>
            <a:r>
              <a:rPr lang="en-IN" sz="1600" dirty="0"/>
              <a:t>.</a:t>
            </a:r>
          </a:p>
          <a:p>
            <a:br>
              <a:rPr lang="en-IN" sz="1600" dirty="0"/>
            </a:br>
            <a:r>
              <a:rPr lang="en-IN" sz="1600" dirty="0"/>
              <a:t>✅ </a:t>
            </a:r>
            <a:r>
              <a:rPr lang="en-IN" sz="1600" b="1" dirty="0"/>
              <a:t>Use an Abstract Class When:</a:t>
            </a:r>
            <a:endParaRPr lang="en-IN" sz="1600" dirty="0"/>
          </a:p>
          <a:p>
            <a:r>
              <a:rPr lang="en-IN" sz="1600" dirty="0"/>
              <a:t>• You need to </a:t>
            </a:r>
            <a:r>
              <a:rPr lang="en-IN" sz="1600" b="1" dirty="0"/>
              <a:t>partially implement</a:t>
            </a:r>
            <a:r>
              <a:rPr lang="en-IN" sz="1600" dirty="0"/>
              <a:t> some methods.</a:t>
            </a:r>
          </a:p>
          <a:p>
            <a:r>
              <a:rPr lang="en-IN" sz="1600" dirty="0"/>
              <a:t>• You want to provide </a:t>
            </a:r>
            <a:r>
              <a:rPr lang="en-IN" sz="1600" b="1" dirty="0"/>
              <a:t>common fields</a:t>
            </a:r>
            <a:r>
              <a:rPr lang="en-IN" sz="1600" dirty="0"/>
              <a:t> for all subclasses.</a:t>
            </a:r>
          </a:p>
          <a:p>
            <a:r>
              <a:rPr lang="en-IN" sz="1600" dirty="0"/>
              <a:t>• You expect subclasses to </a:t>
            </a:r>
            <a:r>
              <a:rPr lang="en-IN" sz="1600" b="1" dirty="0"/>
              <a:t>share code</a:t>
            </a:r>
            <a:r>
              <a:rPr lang="en-IN" sz="16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26D35-EBF2-9747-14AC-05D585E0D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541760"/>
            <a:ext cx="5829300" cy="168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DC53-3DE0-BB3A-02A1-9ACA0293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53" y="382014"/>
            <a:ext cx="3396698" cy="1989514"/>
          </a:xfrm>
        </p:spPr>
        <p:txBody>
          <a:bodyPr>
            <a:normAutofit/>
          </a:bodyPr>
          <a:lstStyle/>
          <a:p>
            <a:r>
              <a:rPr lang="en-IN" b="1" dirty="0"/>
              <a:t>Multiple Inheritance with Interfaces (Java Limitation)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03821-3209-2FB2-ECD4-293EA2994C49}"/>
              </a:ext>
            </a:extLst>
          </p:cNvPr>
          <p:cNvSpPr txBox="1"/>
          <p:nvPr/>
        </p:nvSpPr>
        <p:spPr>
          <a:xfrm>
            <a:off x="166479" y="2546039"/>
            <a:ext cx="32774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Java does not allow multiple inheritance of classes but allows multiple interfaces.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6EFCC-F06E-2532-C923-08A44BAA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97" y="149087"/>
            <a:ext cx="552260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6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1294</Words>
  <Application>Microsoft Macintosh PowerPoint</Application>
  <PresentationFormat>On-screen Show (16:9)</PresentationFormat>
  <Paragraphs>215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System Font Regular</vt:lpstr>
      <vt:lpstr>Simple Light</vt:lpstr>
      <vt:lpstr>PowerPoint Presentation</vt:lpstr>
      <vt:lpstr>What is an Interface in Java?</vt:lpstr>
      <vt:lpstr>Implementing an Interface</vt:lpstr>
      <vt:lpstr>Interface with Multiple Methods</vt:lpstr>
      <vt:lpstr>Why Use Interfaces?</vt:lpstr>
      <vt:lpstr>Default and Static Methods in Interfaces</vt:lpstr>
      <vt:lpstr>Default and Static Methods in Interfaces (Contd.)</vt:lpstr>
      <vt:lpstr>Common Mistakes with Interfaces</vt:lpstr>
      <vt:lpstr>Common Mistakes with Interfaces (Contd.)</vt:lpstr>
      <vt:lpstr>When to Use Interfaces?</vt:lpstr>
      <vt:lpstr>Why Use Multiple Interfaces?</vt:lpstr>
      <vt:lpstr>Implementing Multiple Interfaces (Syntax)</vt:lpstr>
      <vt:lpstr>Resolving Conflicts When Two Interfaces Have the Same Method</vt:lpstr>
      <vt:lpstr>Default Methods in Multiple Interfaces (Java 8+)</vt:lpstr>
      <vt:lpstr>Using super to Call Default Methods from Interfaces</vt:lpstr>
      <vt:lpstr>Multiple Interfaces vs. Multiple Inheritance in C++</vt:lpstr>
      <vt:lpstr>Common Mistakes with Multiple Interfaces</vt:lpstr>
      <vt:lpstr>Common Mistakes with Multiple Interfaces (Contd.)</vt:lpstr>
      <vt:lpstr>Are Variables Allowed in Interfaces?</vt:lpstr>
      <vt:lpstr>public static final Behavior in Interface Variables</vt:lpstr>
      <vt:lpstr>Using Interface Constants in Implementing Classes</vt:lpstr>
      <vt:lpstr>How Interface Constants Differ from Class Variables</vt:lpstr>
      <vt:lpstr>Best Practices for Using Interface Constants</vt:lpstr>
      <vt:lpstr>Common Mistakes with Interface Variables</vt:lpstr>
      <vt:lpstr>When to Use Interface Constants?</vt:lpstr>
      <vt:lpstr>What is an Abstract Class?</vt:lpstr>
      <vt:lpstr>Key Differences Between Interfaces and Abstract Classes</vt:lpstr>
      <vt:lpstr>Choosing Between Interface and Abstract Class</vt:lpstr>
      <vt:lpstr>Multiple Inheritance with Interfaces (Java Limitation)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27</cp:revision>
  <dcterms:modified xsi:type="dcterms:W3CDTF">2026-02-03T09:59:47Z</dcterms:modified>
</cp:coreProperties>
</file>