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407" r:id="rId2"/>
    <p:sldId id="344" r:id="rId3"/>
    <p:sldId id="345" r:id="rId4"/>
    <p:sldId id="346" r:id="rId5"/>
    <p:sldId id="267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40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44"/>
            <p14:sldId id="345"/>
            <p14:sldId id="346"/>
            <p14:sldId id="267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7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21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JAVA Collections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244C-71A1-66DB-6C40-A8563A4A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the Java Collections Framework?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25ED1-715A-4D5F-21D3-0E7277726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6433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• A </a:t>
            </a:r>
            <a:r>
              <a:rPr lang="en-IN" b="1" dirty="0"/>
              <a:t>unified architecture</a:t>
            </a:r>
            <a:r>
              <a:rPr lang="en-IN" dirty="0"/>
              <a:t> for storing and manipulating groups of objects.</a:t>
            </a:r>
          </a:p>
          <a:p>
            <a:pPr>
              <a:buNone/>
            </a:pPr>
            <a:r>
              <a:rPr lang="en-IN" dirty="0"/>
              <a:t>• Includes:</a:t>
            </a:r>
          </a:p>
          <a:p>
            <a:pPr>
              <a:buNone/>
            </a:pPr>
            <a:r>
              <a:rPr lang="en-IN" dirty="0"/>
              <a:t>✅ Interfaces (e.g., List, Set, Map)</a:t>
            </a:r>
          </a:p>
          <a:p>
            <a:pPr>
              <a:buNone/>
            </a:pPr>
            <a:r>
              <a:rPr lang="en-IN" dirty="0"/>
              <a:t>✅ Implementations (e.g., ArrayList, HashSet, HashMap)</a:t>
            </a:r>
          </a:p>
          <a:p>
            <a:pPr>
              <a:buNone/>
            </a:pPr>
            <a:r>
              <a:rPr lang="en-IN" dirty="0"/>
              <a:t>✅ Algorithms (e.g., sort(), shuffle(), </a:t>
            </a:r>
            <a:r>
              <a:rPr lang="en-IN" dirty="0" err="1"/>
              <a:t>binarySearch</a:t>
            </a:r>
            <a:r>
              <a:rPr lang="en-IN" dirty="0"/>
              <a:t>())</a:t>
            </a:r>
          </a:p>
          <a:p>
            <a:pPr>
              <a:buNone/>
            </a:pPr>
            <a:r>
              <a:rPr lang="en-IN" dirty="0"/>
              <a:t>✅ Utilities (e.g., Collections class)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Part of java.util package.</a:t>
            </a:r>
          </a:p>
        </p:txBody>
      </p:sp>
    </p:spTree>
    <p:extLst>
      <p:ext uri="{BB962C8B-B14F-4D97-AF65-F5344CB8AC3E}">
        <p14:creationId xmlns:p14="http://schemas.microsoft.com/office/powerpoint/2010/main" val="128049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3415-BA0D-7B22-0121-0B1B10C2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Advantages of Using Collections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192A8-3FFC-58D2-22CC-AB2B54EF5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✅ Reduces need for custom data structures.</a:t>
            </a:r>
          </a:p>
          <a:p>
            <a:pPr>
              <a:buNone/>
            </a:pPr>
            <a:r>
              <a:rPr lang="en-IN" dirty="0"/>
              <a:t>✅ Improves </a:t>
            </a:r>
            <a:r>
              <a:rPr lang="en-IN" b="1" dirty="0"/>
              <a:t>code readability and maintainability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✅ Built-in </a:t>
            </a:r>
            <a:r>
              <a:rPr lang="en-IN" b="1" dirty="0"/>
              <a:t>type safety with generics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✅ Performance-optimized implementations.</a:t>
            </a:r>
          </a:p>
          <a:p>
            <a:pPr>
              <a:buNone/>
            </a:pPr>
            <a:r>
              <a:rPr lang="en-IN" dirty="0"/>
              <a:t>✅ Standardized APIs with rich methods.</a:t>
            </a:r>
          </a:p>
        </p:txBody>
      </p:sp>
    </p:spTree>
    <p:extLst>
      <p:ext uri="{BB962C8B-B14F-4D97-AF65-F5344CB8AC3E}">
        <p14:creationId xmlns:p14="http://schemas.microsoft.com/office/powerpoint/2010/main" val="419670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2207-E892-2B76-D81B-5F9678EE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Core Interfaces in the Collections Framework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B7D759-D787-EFCE-CC08-555B1F8B2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621920"/>
              </p:ext>
            </p:extLst>
          </p:nvPr>
        </p:nvGraphicFramePr>
        <p:xfrm>
          <a:off x="1701252" y="1535474"/>
          <a:ext cx="5741496" cy="1691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65835">
                  <a:extLst>
                    <a:ext uri="{9D8B030D-6E8A-4147-A177-3AD203B41FA5}">
                      <a16:colId xmlns:a16="http://schemas.microsoft.com/office/drawing/2014/main" val="3753298071"/>
                    </a:ext>
                  </a:extLst>
                </a:gridCol>
                <a:gridCol w="4775661">
                  <a:extLst>
                    <a:ext uri="{9D8B030D-6E8A-4147-A177-3AD203B41FA5}">
                      <a16:colId xmlns:a16="http://schemas.microsoft.com/office/drawing/2014/main" val="258330632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9639507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Collection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Root interface (parent of List, Set, Queue)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894844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List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Ordered collection with duplicates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906196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Unordered collection with no duplicates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5370763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Queue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Supports FIFO structure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596097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Map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Key-value pair collection (not part of Collection hierarchy)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4966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64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16DB-07F4-0C25-790C-E5C455AB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54F8-0682-C367-E698-29DF65B1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Implementations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AE9DA5-C581-0EA2-867D-0FAB2A4A4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579029"/>
              </p:ext>
            </p:extLst>
          </p:nvPr>
        </p:nvGraphicFramePr>
        <p:xfrm>
          <a:off x="1987782" y="1268016"/>
          <a:ext cx="4378325" cy="19735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3753298071"/>
                    </a:ext>
                  </a:extLst>
                </a:gridCol>
                <a:gridCol w="984885">
                  <a:extLst>
                    <a:ext uri="{9D8B030D-6E8A-4147-A177-3AD203B41FA5}">
                      <a16:colId xmlns:a16="http://schemas.microsoft.com/office/drawing/2014/main" val="3053240998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58330632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96395073"/>
                  </a:ext>
                </a:extLst>
              </a:tr>
              <a:tr h="278130"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List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ArrayList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Resizable array, fast access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189484403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LinkedList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Doubly-linked list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619619"/>
                  </a:ext>
                </a:extLst>
              </a:tr>
              <a:tr h="278130"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Set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HashSet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duplicates, unordered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53707637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TreeSet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Sorted set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60973"/>
                  </a:ext>
                </a:extLst>
              </a:tr>
              <a:tr h="278130"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Map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HashMap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Unordered key-value storage</a:t>
                      </a:r>
                    </a:p>
                  </a:txBody>
                  <a:tcPr marL="68580" marR="68580" marT="34290" marB="3429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4966450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TreeMap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Sorted key-value storage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1211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57CD01-EE72-B1D8-0FBD-4D853C8FC86A}"/>
              </a:ext>
            </a:extLst>
          </p:cNvPr>
          <p:cNvSpPr txBox="1"/>
          <p:nvPr/>
        </p:nvSpPr>
        <p:spPr>
          <a:xfrm>
            <a:off x="938300" y="3724350"/>
            <a:ext cx="56578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You choose based on need: order, performance, or duplication rules.</a:t>
            </a:r>
          </a:p>
        </p:txBody>
      </p:sp>
    </p:spTree>
    <p:extLst>
      <p:ext uri="{BB962C8B-B14F-4D97-AF65-F5344CB8AC3E}">
        <p14:creationId xmlns:p14="http://schemas.microsoft.com/office/powerpoint/2010/main" val="308052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0E45-380D-FA4E-B760-B248E3FD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3153"/>
            <a:ext cx="8520600" cy="56704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 – Using a List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3B24B-6758-3DDE-D99B-2E59FFC42BC3}"/>
              </a:ext>
            </a:extLst>
          </p:cNvPr>
          <p:cNvSpPr txBox="1"/>
          <p:nvPr/>
        </p:nvSpPr>
        <p:spPr>
          <a:xfrm>
            <a:off x="5487753" y="1569482"/>
            <a:ext cx="2994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ArrayList maintains insertion order and allows duplicates.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9D7176-D328-FF32-8289-27243D874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3816" y="422668"/>
            <a:ext cx="4673937" cy="464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3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C618A-9BDB-4BC4-72D1-A334A8074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Collection Utilities – Collections Class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FE0DB-E4E6-8F4D-8855-4BEC81D33A72}"/>
              </a:ext>
            </a:extLst>
          </p:cNvPr>
          <p:cNvSpPr txBox="1"/>
          <p:nvPr/>
        </p:nvSpPr>
        <p:spPr>
          <a:xfrm>
            <a:off x="628650" y="1268016"/>
            <a:ext cx="45699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050" dirty="0"/>
              <a:t>Provides </a:t>
            </a:r>
            <a:r>
              <a:rPr lang="en-IN" sz="1050" b="1" dirty="0"/>
              <a:t>static utility methods</a:t>
            </a:r>
            <a:r>
              <a:rPr lang="en-IN" sz="1050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D192E-DB27-0ED7-0777-3D40A4ECC8F9}"/>
              </a:ext>
            </a:extLst>
          </p:cNvPr>
          <p:cNvSpPr txBox="1"/>
          <p:nvPr/>
        </p:nvSpPr>
        <p:spPr>
          <a:xfrm>
            <a:off x="628651" y="4189614"/>
            <a:ext cx="4870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✅ Used for sorting, searching, reversing, finding max/min, and more.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7C3053-87A8-1F52-23FE-7BE8D008F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445" y="1505172"/>
            <a:ext cx="4719899" cy="268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37ED-D4BC-657D-BDDD-9B89EEB2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 Which Collection?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D768D7-0C01-FC61-0592-7FB7D506FF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24694" y="1268016"/>
          <a:ext cx="4100715" cy="2057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91460">
                  <a:extLst>
                    <a:ext uri="{9D8B030D-6E8A-4147-A177-3AD203B41FA5}">
                      <a16:colId xmlns:a16="http://schemas.microsoft.com/office/drawing/2014/main" val="3207719849"/>
                    </a:ext>
                  </a:extLst>
                </a:gridCol>
                <a:gridCol w="1309255">
                  <a:extLst>
                    <a:ext uri="{9D8B030D-6E8A-4147-A177-3AD203B41FA5}">
                      <a16:colId xmlns:a16="http://schemas.microsoft.com/office/drawing/2014/main" val="125118032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Scenario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13719349"/>
                  </a:ext>
                </a:extLst>
              </a:tr>
              <a:tr h="319484">
                <a:tc>
                  <a:txBody>
                    <a:bodyPr/>
                    <a:lstStyle/>
                    <a:p>
                      <a:r>
                        <a:rPr lang="en-US" sz="1800" dirty="0"/>
                        <a:t>Need fast random access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ArrayList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414552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Need unique items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HashSet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40086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Need sorted keys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TreeMap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302139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FIFO processing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Queue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6363772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Lookup by key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HashMap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400996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87E48C-3327-E668-D8EA-0151801B7348}"/>
              </a:ext>
            </a:extLst>
          </p:cNvPr>
          <p:cNvSpPr txBox="1"/>
          <p:nvPr/>
        </p:nvSpPr>
        <p:spPr>
          <a:xfrm>
            <a:off x="602866" y="3937152"/>
            <a:ext cx="45699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Choose based on use case</a:t>
            </a:r>
            <a:r>
              <a:rPr lang="en-IN" dirty="0"/>
              <a:t> for best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11863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BEAD-9831-DB3A-F85F-B62F5D87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Core Collection Interfaces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6AECF6-EC89-9BF6-2F26-CBC5595754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810" y="1405890"/>
          <a:ext cx="7224984" cy="211624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03024">
                  <a:extLst>
                    <a:ext uri="{9D8B030D-6E8A-4147-A177-3AD203B41FA5}">
                      <a16:colId xmlns:a16="http://schemas.microsoft.com/office/drawing/2014/main" val="3648720545"/>
                    </a:ext>
                  </a:extLst>
                </a:gridCol>
                <a:gridCol w="5521960">
                  <a:extLst>
                    <a:ext uri="{9D8B030D-6E8A-4147-A177-3AD203B41FA5}">
                      <a16:colId xmlns:a16="http://schemas.microsoft.com/office/drawing/2014/main" val="196083384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5689318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Collection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Root interface for all collections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95003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List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Ordered collection with duplicates allowed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148321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Set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Unordered, no duplicates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855708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Queue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For FIFO-style processing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11191003"/>
                  </a:ext>
                </a:extLst>
              </a:tr>
              <a:tr h="401743">
                <a:tc>
                  <a:txBody>
                    <a:bodyPr/>
                    <a:lstStyle/>
                    <a:p>
                      <a:r>
                        <a:rPr lang="en-US" sz="1800" dirty="0"/>
                        <a:t>Deque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Double-ended queue (insert/remove from both ends)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678627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817609-4230-9C8B-B575-8A138BA0A978}"/>
              </a:ext>
            </a:extLst>
          </p:cNvPr>
          <p:cNvSpPr txBox="1"/>
          <p:nvPr/>
        </p:nvSpPr>
        <p:spPr>
          <a:xfrm>
            <a:off x="885825" y="3901485"/>
            <a:ext cx="737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✅ These interfaces define the </a:t>
            </a:r>
            <a:r>
              <a:rPr lang="en-IN" sz="1800" b="1" dirty="0"/>
              <a:t>basic behavior</a:t>
            </a:r>
            <a:r>
              <a:rPr lang="en-IN" sz="1800" dirty="0"/>
              <a:t> collections must support.</a:t>
            </a:r>
          </a:p>
        </p:txBody>
      </p:sp>
    </p:spTree>
    <p:extLst>
      <p:ext uri="{BB962C8B-B14F-4D97-AF65-F5344CB8AC3E}">
        <p14:creationId xmlns:p14="http://schemas.microsoft.com/office/powerpoint/2010/main" val="47989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3FEC-2B4B-ACD2-A159-E8575906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Map Interface (Key-Value Storage)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AC3A5-A12F-BD41-714E-7CCEB11BE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Map&lt;K, V&gt;</a:t>
            </a:r>
            <a:r>
              <a:rPr lang="en-IN" dirty="0"/>
              <a:t> is a separate hierarchy for key-value pairs.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Does not extend Collection.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Allows </a:t>
            </a:r>
            <a:r>
              <a:rPr lang="en-IN" b="1" dirty="0"/>
              <a:t>fast lookup by key</a:t>
            </a:r>
            <a:r>
              <a:rPr lang="en-IN" dirty="0"/>
              <a:t>, no duplicate keys.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Common methods: put(), get(), remove(), containsKey()</a:t>
            </a:r>
          </a:p>
        </p:txBody>
      </p:sp>
    </p:spTree>
    <p:extLst>
      <p:ext uri="{BB962C8B-B14F-4D97-AF65-F5344CB8AC3E}">
        <p14:creationId xmlns:p14="http://schemas.microsoft.com/office/powerpoint/2010/main" val="1694317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1F07-A9F6-A14B-8558-57837AB9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Common Implementing Classes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E0A02E-9749-E4FE-B66C-BD88CE5530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4973066"/>
              </p:ext>
            </p:extLst>
          </p:nvPr>
        </p:nvGraphicFramePr>
        <p:xfrm>
          <a:off x="1858010" y="1371600"/>
          <a:ext cx="5427980" cy="24003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53160">
                  <a:extLst>
                    <a:ext uri="{9D8B030D-6E8A-4147-A177-3AD203B41FA5}">
                      <a16:colId xmlns:a16="http://schemas.microsoft.com/office/drawing/2014/main" val="1276003421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654765128"/>
                    </a:ext>
                  </a:extLst>
                </a:gridCol>
                <a:gridCol w="3045460">
                  <a:extLst>
                    <a:ext uri="{9D8B030D-6E8A-4147-A177-3AD203B41FA5}">
                      <a16:colId xmlns:a16="http://schemas.microsoft.com/office/drawing/2014/main" val="172451478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Key Feature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05132837"/>
                  </a:ext>
                </a:extLst>
              </a:tr>
              <a:tr h="342900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List</a:t>
                      </a:r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ArrayList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Fast access, resizable array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00544435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LinkedList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Fast insertion / removal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19720277"/>
                  </a:ext>
                </a:extLst>
              </a:tr>
              <a:tr h="342900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Set</a:t>
                      </a: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HashSet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 order, no duplicates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3013593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TreeSet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Sorted elements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3314891"/>
                  </a:ext>
                </a:extLst>
              </a:tr>
              <a:tr h="342900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Map</a:t>
                      </a: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HashMap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Fast lookup, no order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69977269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TreeMap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Sorted by key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243541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20E0C7-8DE0-0391-6655-213A9ADE6232}"/>
              </a:ext>
            </a:extLst>
          </p:cNvPr>
          <p:cNvSpPr txBox="1"/>
          <p:nvPr/>
        </p:nvSpPr>
        <p:spPr>
          <a:xfrm>
            <a:off x="705123" y="4114801"/>
            <a:ext cx="8084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Select implementation based on </a:t>
            </a:r>
            <a:r>
              <a:rPr lang="en-IN" sz="1800" b="1" dirty="0"/>
              <a:t>order, sorting, and performance</a:t>
            </a:r>
            <a:r>
              <a:rPr lang="en-IN" sz="1800" dirty="0"/>
              <a:t> needs.</a:t>
            </a:r>
          </a:p>
        </p:txBody>
      </p:sp>
    </p:spTree>
    <p:extLst>
      <p:ext uri="{BB962C8B-B14F-4D97-AF65-F5344CB8AC3E}">
        <p14:creationId xmlns:p14="http://schemas.microsoft.com/office/powerpoint/2010/main" val="3596404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0862-C92A-2645-45CF-731894C0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Using a Set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1328CD-3FC7-D162-223B-97481B180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9354" y="795528"/>
            <a:ext cx="5524406" cy="39332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83B67D-B56E-D222-289B-7348C00949E1}"/>
              </a:ext>
            </a:extLst>
          </p:cNvPr>
          <p:cNvSpPr txBox="1"/>
          <p:nvPr/>
        </p:nvSpPr>
        <p:spPr>
          <a:xfrm>
            <a:off x="871780" y="4696532"/>
            <a:ext cx="6936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Output: abc@example.com, </a:t>
            </a:r>
            <a:r>
              <a:rPr lang="en-IN" sz="1800" dirty="0" err="1"/>
              <a:t>xyz@example.com</a:t>
            </a:r>
            <a:r>
              <a:rPr lang="en-IN" sz="1800" dirty="0"/>
              <a:t> (no duplicates)</a:t>
            </a:r>
          </a:p>
        </p:txBody>
      </p:sp>
    </p:spTree>
    <p:extLst>
      <p:ext uri="{BB962C8B-B14F-4D97-AF65-F5344CB8AC3E}">
        <p14:creationId xmlns:p14="http://schemas.microsoft.com/office/powerpoint/2010/main" val="1315748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D34B-BD29-66A7-6B83-A98F9480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82296"/>
            <a:ext cx="8520600" cy="679255"/>
          </a:xfrm>
        </p:spPr>
        <p:txBody>
          <a:bodyPr>
            <a:normAutofit/>
          </a:bodyPr>
          <a:lstStyle/>
          <a:p>
            <a:r>
              <a:rPr lang="en-IN" b="1" dirty="0"/>
              <a:t>Example – Using a Map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95745-A46F-297D-C1EC-870FE50983EF}"/>
              </a:ext>
            </a:extLst>
          </p:cNvPr>
          <p:cNvSpPr txBox="1"/>
          <p:nvPr/>
        </p:nvSpPr>
        <p:spPr>
          <a:xfrm>
            <a:off x="0" y="4804946"/>
            <a:ext cx="3751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✅ Maps allow quick lookup using keys.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4AFE89D-ACD5-0A28-462C-3482C0CC1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32" y="521208"/>
            <a:ext cx="6412730" cy="428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59E1-5B3C-A100-651A-5C564E2B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Differences Between List, Set, and Map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238763-DD63-9F5F-7890-0747A45EB5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395" y="1611752"/>
          <a:ext cx="8214905" cy="141084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92671">
                  <a:extLst>
                    <a:ext uri="{9D8B030D-6E8A-4147-A177-3AD203B41FA5}">
                      <a16:colId xmlns:a16="http://schemas.microsoft.com/office/drawing/2014/main" val="932611017"/>
                    </a:ext>
                  </a:extLst>
                </a:gridCol>
                <a:gridCol w="767835">
                  <a:extLst>
                    <a:ext uri="{9D8B030D-6E8A-4147-A177-3AD203B41FA5}">
                      <a16:colId xmlns:a16="http://schemas.microsoft.com/office/drawing/2014/main" val="3317484258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1801583807"/>
                    </a:ext>
                  </a:extLst>
                </a:gridCol>
                <a:gridCol w="4215539">
                  <a:extLst>
                    <a:ext uri="{9D8B030D-6E8A-4147-A177-3AD203B41FA5}">
                      <a16:colId xmlns:a16="http://schemas.microsoft.com/office/drawing/2014/main" val="92044181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458773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Order maintained?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Keys: No (HashMap), Yes (TreeMap)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511455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Duplicates allowed?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Keys: No, Values: 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92116470"/>
                  </a:ext>
                </a:extLst>
              </a:tr>
              <a:tr h="382148">
                <a:tc>
                  <a:txBody>
                    <a:bodyPr/>
                    <a:lstStyle/>
                    <a:p>
                      <a:r>
                        <a:rPr lang="en-US" sz="1800" dirty="0"/>
                        <a:t>Access 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Index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Element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Key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124736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E7B670-606A-A6C1-68B3-AABCBC007E30}"/>
              </a:ext>
            </a:extLst>
          </p:cNvPr>
          <p:cNvSpPr txBox="1"/>
          <p:nvPr/>
        </p:nvSpPr>
        <p:spPr>
          <a:xfrm>
            <a:off x="1348353" y="3370881"/>
            <a:ext cx="632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Understanding these helps select the right data structure.</a:t>
            </a:r>
          </a:p>
        </p:txBody>
      </p:sp>
    </p:spTree>
    <p:extLst>
      <p:ext uri="{BB962C8B-B14F-4D97-AF65-F5344CB8AC3E}">
        <p14:creationId xmlns:p14="http://schemas.microsoft.com/office/powerpoint/2010/main" val="2114302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2002</TotalTime>
  <Words>535</Words>
  <Application>Microsoft Macintosh PowerPoint</Application>
  <PresentationFormat>On-screen Show (16:9)</PresentationFormat>
  <Paragraphs>132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PowerPoint Presentation</vt:lpstr>
      <vt:lpstr>What is the Java Collections Framework?</vt:lpstr>
      <vt:lpstr>Advantages of Using Collections</vt:lpstr>
      <vt:lpstr>Core Interfaces in the Collections Framework</vt:lpstr>
      <vt:lpstr>Common Implementations</vt:lpstr>
      <vt:lpstr>Example – Using a List</vt:lpstr>
      <vt:lpstr>Collection Utilities – Collections Class</vt:lpstr>
      <vt:lpstr>When to Use Which Collection?</vt:lpstr>
      <vt:lpstr>Core Collection Interfaces</vt:lpstr>
      <vt:lpstr>Map Interface (Key-Value Storage)</vt:lpstr>
      <vt:lpstr>Common Implementing Classes</vt:lpstr>
      <vt:lpstr>Example – Using a Set</vt:lpstr>
      <vt:lpstr>Example – Using a Map</vt:lpstr>
      <vt:lpstr>Differences Between List, Set, and Map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31</cp:revision>
  <dcterms:modified xsi:type="dcterms:W3CDTF">2026-02-03T10:12:46Z</dcterms:modified>
</cp:coreProperties>
</file>