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61"/>
  </p:notesMasterIdLst>
  <p:sldIdLst>
    <p:sldId id="407" r:id="rId2"/>
    <p:sldId id="315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406" r:id="rId6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15"/>
          </p14:sldIdLst>
        </p14:section>
        <p14:section name="JDBC Overview and Driver Types" id="{AEDA79FA-0F76-814D-AC05-3E6D76C57B2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stablishing Database Connections in Java" id="{0D72B5C8-5C77-8F47-AA88-C8C84BC240D0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Statement Objects and ResultSet Processing" id="{4DE153FB-7D90-A440-9D34-F60D33DD912E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Metadata in JDBC" id="{B014A0DF-16A2-514D-81BD-A4BFBA86F4D6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Transaction Management in Java" id="{7C6A73C8-BD64-8B45-BD51-17B48EBC1817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Data Types in JDBC" id="{9E8EA5C3-75DC-DF4B-9F34-5D9EADCDBEAE}">
          <p14:sldIdLst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Handling JDBC Exceptions" id="{C477F727-4C12-2D43-B211-2238D2E49D4B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D0326B05-AE01-FE46-9D34-94745073C268}"/>
    <pc:docChg chg="modSld">
      <pc:chgData name="Aditya Hare Krishna" userId="de62b921b3c41f8c" providerId="LiveId" clId="{D0326B05-AE01-FE46-9D34-94745073C268}" dt="2025-08-17T12:31:09.399" v="0"/>
      <pc:docMkLst>
        <pc:docMk/>
      </pc:docMkLst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4166165209" sldId="259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900326103" sldId="260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743295870" sldId="261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4251579264" sldId="262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148802273" sldId="263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962628846" sldId="264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592147584" sldId="265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290322002" sldId="266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584780200" sldId="267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714436661" sldId="268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4167344177" sldId="269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497784590" sldId="270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949849993" sldId="271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032342822" sldId="272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778596769" sldId="273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978897896" sldId="274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052573666" sldId="275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572604411" sldId="276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788140491" sldId="277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000018744" sldId="278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761822805" sldId="279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4268779141" sldId="280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996376949" sldId="281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945451882" sldId="282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787283017" sldId="283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211095026" sldId="284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110746491" sldId="285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645191392" sldId="286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749524574" sldId="287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764666238" sldId="288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744434504" sldId="289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338447044" sldId="290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788471922" sldId="291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482172385" sldId="292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251490410" sldId="293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317356895" sldId="294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419977815" sldId="295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792421761" sldId="296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446327391" sldId="297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713787471" sldId="298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569065032" sldId="299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89500739" sldId="300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496490531" sldId="301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727459064" sldId="302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554406860" sldId="303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703621463" sldId="304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224216536" sldId="305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871050702" sldId="306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20825936" sldId="307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074996334" sldId="308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2996961086" sldId="309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3102656122" sldId="310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339277740" sldId="311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857390649" sldId="312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876226180" sldId="313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799396146" sldId="314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763543130" sldId="315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0" sldId="406"/>
        </pc:sldMkLst>
      </pc:sldChg>
      <pc:sldChg chg="modTransition">
        <pc:chgData name="Aditya Hare Krishna" userId="de62b921b3c41f8c" providerId="LiveId" clId="{D0326B05-AE01-FE46-9D34-94745073C268}" dt="2025-08-17T12:31:09.399" v="0"/>
        <pc:sldMkLst>
          <pc:docMk/>
          <pc:sldMk cId="1652500050" sldId="4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C3EC-531C-9B2A-EEBD-F77303D6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8F14-1D13-2886-C785-24DAF693B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12D26-F81B-3E4A-8589-FFBAA6916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9176E-2516-D946-B436-C3986A248302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235D1-8CEE-1114-22F8-B1AB3B5A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3E75C-950C-3478-D519-64508891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5A4-BDB8-194D-98E5-EF1D2AA0F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0.png"/><Relationship Id="rId18" Type="http://schemas.openxmlformats.org/officeDocument/2006/relationships/slide" Target="slide43.xml"/><Relationship Id="rId3" Type="http://schemas.openxmlformats.org/officeDocument/2006/relationships/slide" Target="slide3.xml"/><Relationship Id="rId21" Type="http://schemas.openxmlformats.org/officeDocument/2006/relationships/slide" Target="slide51.xml"/><Relationship Id="rId7" Type="http://schemas.openxmlformats.org/officeDocument/2006/relationships/image" Target="../media/image310.png"/><Relationship Id="rId12" Type="http://schemas.openxmlformats.org/officeDocument/2006/relationships/slide" Target="slide27.xml"/><Relationship Id="rId17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60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11" Type="http://schemas.openxmlformats.org/officeDocument/2006/relationships/image" Target="../media/image5.png"/><Relationship Id="rId5" Type="http://schemas.openxmlformats.org/officeDocument/2006/relationships/image" Target="../media/image3.png"/><Relationship Id="rId15" Type="http://schemas.openxmlformats.org/officeDocument/2006/relationships/slide" Target="slide35.xml"/><Relationship Id="rId10" Type="http://schemas.openxmlformats.org/officeDocument/2006/relationships/image" Target="../media/image42.png"/><Relationship Id="rId19" Type="http://schemas.openxmlformats.org/officeDocument/2006/relationships/image" Target="../media/image70.png"/><Relationship Id="rId4" Type="http://schemas.openxmlformats.org/officeDocument/2006/relationships/image" Target="../media/image210.png"/><Relationship Id="rId9" Type="http://schemas.openxmlformats.org/officeDocument/2006/relationships/slide" Target="slide19.xml"/><Relationship Id="rId14" Type="http://schemas.openxmlformats.org/officeDocument/2006/relationships/image" Target="../media/image6.png"/><Relationship Id="rId22" Type="http://schemas.openxmlformats.org/officeDocument/2006/relationships/image" Target="../media/image8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25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JDBC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68C9B-27E2-5EC9-B4DC-4EA7EFCF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" name="Section Zoom 2">
                <a:extLst>
                  <a:ext uri="{FF2B5EF4-FFF2-40B4-BE49-F238E27FC236}">
                    <a16:creationId xmlns:a16="http://schemas.microsoft.com/office/drawing/2014/main" id="{E379C386-434B-F830-FC21-CB23B1154D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6148637"/>
                  </p:ext>
                </p:extLst>
              </p:nvPr>
            </p:nvGraphicFramePr>
            <p:xfrm>
              <a:off x="3514343" y="387764"/>
              <a:ext cx="2560825" cy="1440464"/>
            </p:xfrm>
            <a:graphic>
              <a:graphicData uri="http://schemas.microsoft.com/office/powerpoint/2016/sectionzoom">
                <psez:sectionZm>
                  <psez:sectionZmObj sectionId="{AEDA79FA-0F76-814D-AC05-3E6D76C57B27}">
                    <psez:zmPr id="{6AC6B95C-5F1F-6B45-84C0-D5625C39E3E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825" cy="1440464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" name="Section Zoom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379C386-434B-F830-FC21-CB23B1154D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4343" y="387764"/>
                <a:ext cx="2560825" cy="144046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8C6A8462-D2B2-B0D3-36D0-556BF453561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1535364"/>
                  </p:ext>
                </p:extLst>
              </p:nvPr>
            </p:nvGraphicFramePr>
            <p:xfrm>
              <a:off x="673606" y="1956246"/>
              <a:ext cx="2560825" cy="1440464"/>
            </p:xfrm>
            <a:graphic>
              <a:graphicData uri="http://schemas.microsoft.com/office/powerpoint/2016/sectionzoom">
                <psez:sectionZm>
                  <psez:sectionZmObj sectionId="{0D72B5C8-5C77-8F47-AA88-C8C84BC240D0}">
                    <psez:zmPr id="{CFCB7D41-0B4E-A149-9C97-95BD2E11C77E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825" cy="1440464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Section Zoom 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8C6A8462-D2B2-B0D3-36D0-556BF45356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606" y="1956246"/>
                <a:ext cx="2560825" cy="144046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Section Zoom 8">
                <a:extLst>
                  <a:ext uri="{FF2B5EF4-FFF2-40B4-BE49-F238E27FC236}">
                    <a16:creationId xmlns:a16="http://schemas.microsoft.com/office/drawing/2014/main" id="{AEFB42AC-EC62-86D7-688D-B288D2D516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7906722"/>
                  </p:ext>
                </p:extLst>
              </p:nvPr>
            </p:nvGraphicFramePr>
            <p:xfrm>
              <a:off x="3514343" y="1956246"/>
              <a:ext cx="2560825" cy="1440464"/>
            </p:xfrm>
            <a:graphic>
              <a:graphicData uri="http://schemas.microsoft.com/office/powerpoint/2016/sectionzoom">
                <psez:sectionZm>
                  <psez:sectionZmObj sectionId="{4DE153FB-7D90-A440-9D34-F60D33DD912E}">
                    <psez:zmPr id="{22823723-65C5-7141-8CD4-A35735456997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825" cy="1440464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Section Zoom 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AEFB42AC-EC62-86D7-688D-B288D2D516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14343" y="1956246"/>
                <a:ext cx="2560825" cy="144046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3" name="Section Zoom 12">
                <a:extLst>
                  <a:ext uri="{FF2B5EF4-FFF2-40B4-BE49-F238E27FC236}">
                    <a16:creationId xmlns:a16="http://schemas.microsoft.com/office/drawing/2014/main" id="{FC20FBD5-48AE-4DAA-E359-2217621773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8717826"/>
                  </p:ext>
                </p:extLst>
              </p:nvPr>
            </p:nvGraphicFramePr>
            <p:xfrm>
              <a:off x="6355079" y="1956246"/>
              <a:ext cx="2560825" cy="1440464"/>
            </p:xfrm>
            <a:graphic>
              <a:graphicData uri="http://schemas.microsoft.com/office/powerpoint/2016/sectionzoom">
                <psez:sectionZm>
                  <psez:sectionZmObj sectionId="{B014A0DF-16A2-514D-81BD-A4BFBA86F4D6}">
                    <psez:zmPr id="{455C79D3-329A-EF40-BB09-DFDAD59CB450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825" cy="1440464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3" name="Section Zoom 12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FC20FBD5-48AE-4DAA-E359-221762177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55079" y="1956246"/>
                <a:ext cx="2560825" cy="144046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7" name="Section Zoom 16">
                <a:extLst>
                  <a:ext uri="{FF2B5EF4-FFF2-40B4-BE49-F238E27FC236}">
                    <a16:creationId xmlns:a16="http://schemas.microsoft.com/office/drawing/2014/main" id="{CD11C40C-D2C7-D934-5D7F-E717C889B2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67095443"/>
                  </p:ext>
                </p:extLst>
              </p:nvPr>
            </p:nvGraphicFramePr>
            <p:xfrm>
              <a:off x="673606" y="3524728"/>
              <a:ext cx="2560825" cy="1440464"/>
            </p:xfrm>
            <a:graphic>
              <a:graphicData uri="http://schemas.microsoft.com/office/powerpoint/2016/sectionzoom">
                <psez:sectionZm>
                  <psez:sectionZmObj sectionId="{7C6A73C8-BD64-8B45-BD51-17B48EBC1817}">
                    <psez:zmPr id="{A6196AFF-424E-B24E-A871-5A3AB67048FA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825" cy="1440464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7" name="Section Zoom 1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CD11C40C-D2C7-D934-5D7F-E717C889B2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3606" y="3524728"/>
                <a:ext cx="2560825" cy="144046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313BFF95-5CC4-7C7F-8547-4DE2AC7D8A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2175547"/>
                  </p:ext>
                </p:extLst>
              </p:nvPr>
            </p:nvGraphicFramePr>
            <p:xfrm>
              <a:off x="3514343" y="3524728"/>
              <a:ext cx="2560825" cy="1440464"/>
            </p:xfrm>
            <a:graphic>
              <a:graphicData uri="http://schemas.microsoft.com/office/powerpoint/2016/sectionzoom">
                <psez:sectionZm>
                  <psez:sectionZmObj sectionId="{9E8EA5C3-75DC-DF4B-9F34-5D9EADCDBEAE}">
                    <psez:zmPr id="{98FAE996-C304-7A44-9EB8-D846A2934237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825" cy="1440464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313BFF95-5CC4-7C7F-8547-4DE2AC7D8A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14343" y="3524728"/>
                <a:ext cx="2560825" cy="144046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77E0F990-4097-E519-0044-817E7BFD86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83754334"/>
                  </p:ext>
                </p:extLst>
              </p:nvPr>
            </p:nvGraphicFramePr>
            <p:xfrm>
              <a:off x="6355080" y="3524728"/>
              <a:ext cx="2560825" cy="1440464"/>
            </p:xfrm>
            <a:graphic>
              <a:graphicData uri="http://schemas.microsoft.com/office/powerpoint/2016/sectionzoom">
                <psez:sectionZm>
                  <psez:sectionZmObj sectionId="{C477F727-4C12-2D43-B211-2238D2E49D4B}">
                    <psez:zmPr id="{473A5755-AB50-E44C-863A-A99958994C0C}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60825" cy="1440464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77E0F990-4097-E519-0044-817E7BFD86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55080" y="3524728"/>
                <a:ext cx="2560825" cy="144046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3543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C019E-AE2D-12A7-C5E6-EE44763B6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545450"/>
            <a:ext cx="8520600" cy="2052600"/>
          </a:xfrm>
        </p:spPr>
        <p:txBody>
          <a:bodyPr>
            <a:normAutofit/>
          </a:bodyPr>
          <a:lstStyle/>
          <a:p>
            <a:r>
              <a:rPr lang="en-IN" dirty="0"/>
              <a:t>JDBC Overview and Driver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16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6246-A816-E529-2B7B-94DD781B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JDBC?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4868F-9A21-596E-D046-391684CD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JDBC</a:t>
            </a:r>
            <a:r>
              <a:rPr lang="en-IN" dirty="0"/>
              <a:t> is an API in Java to </a:t>
            </a:r>
            <a:r>
              <a:rPr lang="en-IN" b="1" dirty="0"/>
              <a:t>interact with relational databases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Allows:</a:t>
            </a:r>
          </a:p>
          <a:p>
            <a:pPr marL="0" indent="0">
              <a:buNone/>
            </a:pPr>
            <a:r>
              <a:rPr lang="en-IN" dirty="0"/>
              <a:t>✅ Connecting to a database</a:t>
            </a:r>
          </a:p>
          <a:p>
            <a:pPr marL="0" indent="0">
              <a:buNone/>
            </a:pPr>
            <a:r>
              <a:rPr lang="en-IN" dirty="0"/>
              <a:t>✅ Executing SQL queries</a:t>
            </a:r>
          </a:p>
          <a:p>
            <a:pPr marL="0" indent="0">
              <a:buNone/>
            </a:pPr>
            <a:r>
              <a:rPr lang="en-IN" dirty="0"/>
              <a:t>✅ Processing results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Part of the java.sql package.</a:t>
            </a:r>
          </a:p>
        </p:txBody>
      </p:sp>
    </p:spTree>
    <p:extLst>
      <p:ext uri="{BB962C8B-B14F-4D97-AF65-F5344CB8AC3E}">
        <p14:creationId xmlns:p14="http://schemas.microsoft.com/office/powerpoint/2010/main" val="3900326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6CC9-DF89-F188-31BE-5A061333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Basic JDBC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BAE4-C6B1-B702-5CF9-08715FBE8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50043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dirty="0"/>
              <a:t>Load JDBC Driver</a:t>
            </a:r>
          </a:p>
          <a:p>
            <a:pPr>
              <a:buFont typeface="+mj-lt"/>
              <a:buAutoNum type="arabicPeriod"/>
            </a:pPr>
            <a:r>
              <a:rPr lang="en-IN" dirty="0"/>
              <a:t>Establish a Connection</a:t>
            </a:r>
          </a:p>
          <a:p>
            <a:pPr>
              <a:buFont typeface="+mj-lt"/>
              <a:buAutoNum type="arabicPeriod"/>
            </a:pPr>
            <a:r>
              <a:rPr lang="en-IN" dirty="0"/>
              <a:t>Create Statement</a:t>
            </a:r>
          </a:p>
          <a:p>
            <a:pPr>
              <a:buFont typeface="+mj-lt"/>
              <a:buAutoNum type="arabicPeriod"/>
            </a:pPr>
            <a:r>
              <a:rPr lang="en-IN" dirty="0"/>
              <a:t>Execute Query</a:t>
            </a:r>
          </a:p>
          <a:p>
            <a:pPr>
              <a:buFont typeface="+mj-lt"/>
              <a:buAutoNum type="arabicPeriod"/>
            </a:pPr>
            <a:r>
              <a:rPr lang="en-IN" dirty="0"/>
              <a:t>Process Result</a:t>
            </a:r>
          </a:p>
          <a:p>
            <a:pPr>
              <a:buFont typeface="+mj-lt"/>
              <a:buAutoNum type="arabicPeriod"/>
            </a:pPr>
            <a:r>
              <a:rPr lang="en-IN" dirty="0"/>
              <a:t>Close Connection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Standard pattern followed for </a:t>
            </a:r>
            <a:r>
              <a:rPr lang="en-IN" b="1" dirty="0"/>
              <a:t>database interaction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3295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AFAF-7709-18F8-BD8D-DC41AAD1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Basic JDBC Steps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9E0C11-1F59-F723-B18E-B5AA842DF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18" y="1140247"/>
            <a:ext cx="8837999" cy="2660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0BC46-0281-25E4-4824-AFF20FC637B7}"/>
              </a:ext>
            </a:extLst>
          </p:cNvPr>
          <p:cNvSpPr txBox="1"/>
          <p:nvPr/>
        </p:nvSpPr>
        <p:spPr>
          <a:xfrm>
            <a:off x="628651" y="3957809"/>
            <a:ext cx="519244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A simple MySQL example using JDBC.</a:t>
            </a:r>
          </a:p>
        </p:txBody>
      </p:sp>
    </p:spTree>
    <p:extLst>
      <p:ext uri="{BB962C8B-B14F-4D97-AF65-F5344CB8AC3E}">
        <p14:creationId xmlns:p14="http://schemas.microsoft.com/office/powerpoint/2010/main" val="4251579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2EA2-D983-1C8D-4C3F-EB8EE486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Types of JDBC Drivers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4F797D-CFD9-58DC-462A-689349E7A2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87245" y="1295448"/>
          <a:ext cx="4969510" cy="209697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26160">
                  <a:extLst>
                    <a:ext uri="{9D8B030D-6E8A-4147-A177-3AD203B41FA5}">
                      <a16:colId xmlns:a16="http://schemas.microsoft.com/office/drawing/2014/main" val="21907782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92462509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2100" dirty="0"/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16361233"/>
                  </a:ext>
                </a:extLst>
              </a:tr>
              <a:tr h="409908">
                <a:tc>
                  <a:txBody>
                    <a:bodyPr/>
                    <a:lstStyle/>
                    <a:p>
                      <a:r>
                        <a:rPr lang="en-US" sz="2100" dirty="0"/>
                        <a:t>Type 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JDBC-ODBC Bridge (Legacy)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0388956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lang="en-US" sz="2100" dirty="0"/>
                        <a:t>Type 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Native API Driver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066037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lang="en-US" sz="2100" dirty="0"/>
                        <a:t>Type 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Network Protocol Driver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5613323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lang="en-US" sz="2100" dirty="0"/>
                        <a:t>Type 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Thin Driver (Pure Java)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71569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A570A8-0E62-3786-4706-6A65887EB5EE}"/>
              </a:ext>
            </a:extLst>
          </p:cNvPr>
          <p:cNvSpPr txBox="1"/>
          <p:nvPr/>
        </p:nvSpPr>
        <p:spPr>
          <a:xfrm>
            <a:off x="1288974" y="3718192"/>
            <a:ext cx="504497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Type 4 is most commonly used today.</a:t>
            </a:r>
          </a:p>
        </p:txBody>
      </p:sp>
    </p:spTree>
    <p:extLst>
      <p:ext uri="{BB962C8B-B14F-4D97-AF65-F5344CB8AC3E}">
        <p14:creationId xmlns:p14="http://schemas.microsoft.com/office/powerpoint/2010/main" val="3148802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CD4E-3023-F37D-0D78-519A8824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Type 1 – JDBC-ODBC Bridge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BBD6D-A4C9-2547-55A8-286F1CAD2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993" y="1352694"/>
            <a:ext cx="5510500" cy="17127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ODBC driver to connect.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Platform-dependent, requires native setup.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 Deprecated since Java 8.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CEECED4-0654-8E53-85A7-B13A2F428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772" y="2073121"/>
            <a:ext cx="3534236" cy="299188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628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90419-253B-6465-4002-8A832EFC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Type 4 – Thin Driver (Pure Java)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4BC61E-C9C8-A9DE-C6C8-E1EA03DC69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985" y="1798876"/>
            <a:ext cx="3562550" cy="326350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4BC2BE-EF32-8DCD-2BB6-61BC8A518422}"/>
              </a:ext>
            </a:extLst>
          </p:cNvPr>
          <p:cNvSpPr txBox="1"/>
          <p:nvPr/>
        </p:nvSpPr>
        <p:spPr>
          <a:xfrm>
            <a:off x="562017" y="1268017"/>
            <a:ext cx="755880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Communicates directly with DB server using native protocol.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No native libraries required.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IN" sz="2100" dirty="0"/>
          </a:p>
          <a:p>
            <a:r>
              <a:rPr lang="en-IN" sz="2100" dirty="0"/>
              <a:t>✅ </a:t>
            </a:r>
            <a:r>
              <a:rPr lang="en-IN" sz="2100" b="1" dirty="0"/>
              <a:t>Best choice for web applications</a:t>
            </a:r>
            <a:r>
              <a:rPr lang="en-IN" sz="21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9C5BD-8707-33C4-C26D-C03D2E2D7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65" y="2926751"/>
            <a:ext cx="5043230" cy="69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47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947BC-849B-A0C1-4BB5-AAFBDDF6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with JDBC Drivers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63B5-6F15-69F3-B16B-DF915FF96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✅ Always close Connection, Statement, and ResultSet.</a:t>
            </a:r>
          </a:p>
          <a:p>
            <a:pPr>
              <a:buNone/>
            </a:pPr>
            <a:r>
              <a:rPr lang="en-IN" dirty="0"/>
              <a:t>✅ Prefer </a:t>
            </a:r>
            <a:r>
              <a:rPr lang="en-IN" b="1" dirty="0"/>
              <a:t>Type 4</a:t>
            </a:r>
            <a:r>
              <a:rPr lang="en-IN" dirty="0"/>
              <a:t> drivers for modern applications.</a:t>
            </a:r>
          </a:p>
          <a:p>
            <a:pPr>
              <a:buNone/>
            </a:pPr>
            <a:r>
              <a:rPr lang="en-IN" dirty="0"/>
              <a:t>✅ Use </a:t>
            </a:r>
            <a:r>
              <a:rPr lang="en-IN" b="1" dirty="0"/>
              <a:t>connection pooling</a:t>
            </a:r>
            <a:r>
              <a:rPr lang="en-IN" dirty="0"/>
              <a:t> for better performance.</a:t>
            </a:r>
          </a:p>
          <a:p>
            <a:pPr>
              <a:buNone/>
            </a:pPr>
            <a:r>
              <a:rPr lang="en-IN" dirty="0"/>
              <a:t>✅ Handle exceptions with meaningful 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2290322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589D-93BC-59FD-C701-5949F9A31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545450"/>
            <a:ext cx="8520600" cy="2052600"/>
          </a:xfrm>
        </p:spPr>
        <p:txBody>
          <a:bodyPr>
            <a:normAutofit/>
          </a:bodyPr>
          <a:lstStyle/>
          <a:p>
            <a:r>
              <a:rPr lang="en-IN" dirty="0"/>
              <a:t>Establishing Database Connections in 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780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84C8-5F88-E331-1DAA-C7C855CE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Required Libraries for JDBC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E710D5-42CF-F520-679A-8B48EFC92BC0}"/>
              </a:ext>
            </a:extLst>
          </p:cNvPr>
          <p:cNvSpPr txBox="1"/>
          <p:nvPr/>
        </p:nvSpPr>
        <p:spPr>
          <a:xfrm>
            <a:off x="628650" y="1268016"/>
            <a:ext cx="820102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dirty="0"/>
              <a:t>✅ JDBC API is built-in with JDK.</a:t>
            </a:r>
          </a:p>
          <a:p>
            <a:pPr>
              <a:buNone/>
            </a:pPr>
            <a:r>
              <a:rPr lang="en-IN" sz="2100" dirty="0"/>
              <a:t>✅ You also need a </a:t>
            </a:r>
            <a:r>
              <a:rPr lang="en-IN" sz="2100" b="1" dirty="0"/>
              <a:t>driver JAR file</a:t>
            </a:r>
            <a:r>
              <a:rPr lang="en-IN" sz="2100" dirty="0"/>
              <a:t> (like </a:t>
            </a:r>
            <a:r>
              <a:rPr lang="en-IN" sz="2100" dirty="0" err="1"/>
              <a:t>mysql</a:t>
            </a:r>
            <a:r>
              <a:rPr lang="en-IN" sz="2100" dirty="0"/>
              <a:t>-connector-java-</a:t>
            </a:r>
            <a:r>
              <a:rPr lang="en-IN" sz="2100" dirty="0" err="1"/>
              <a:t>x.x.xx.jar</a:t>
            </a:r>
            <a:r>
              <a:rPr lang="en-IN" sz="2100" dirty="0"/>
              <a:t>) for external databases.</a:t>
            </a:r>
          </a:p>
          <a:p>
            <a:pPr>
              <a:buNone/>
            </a:pPr>
            <a:br>
              <a:rPr lang="en-IN" sz="2100" dirty="0"/>
            </a:br>
            <a:r>
              <a:rPr lang="en-IN" sz="2100" b="1" dirty="0"/>
              <a:t>Example (MySQL):</a:t>
            </a:r>
            <a:endParaRPr lang="en-IN" sz="21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23E4694-4C3A-F924-8C51-6CD967022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4867" y="2181880"/>
            <a:ext cx="5959930" cy="154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95C5D9-F7F1-9680-7787-8224F893F3BF}"/>
              </a:ext>
            </a:extLst>
          </p:cNvPr>
          <p:cNvSpPr txBox="1"/>
          <p:nvPr/>
        </p:nvSpPr>
        <p:spPr>
          <a:xfrm>
            <a:off x="628650" y="3947265"/>
            <a:ext cx="44005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Required to use </a:t>
            </a:r>
            <a:r>
              <a:rPr lang="en-IN" sz="2100" b="1" dirty="0"/>
              <a:t>Type 4 drivers</a:t>
            </a:r>
            <a:r>
              <a:rPr lang="en-IN" sz="2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443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DCF08-ACBC-A78C-018A-7C23B56E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Loading the JDBC Driver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02E424-8711-66F8-EE1B-5BE857A88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92925"/>
            <a:ext cx="7886700" cy="19179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E75007-55F8-6900-16CF-9AB1DEE45A61}"/>
              </a:ext>
            </a:extLst>
          </p:cNvPr>
          <p:cNvSpPr txBox="1"/>
          <p:nvPr/>
        </p:nvSpPr>
        <p:spPr>
          <a:xfrm>
            <a:off x="628650" y="3588205"/>
            <a:ext cx="820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1800" dirty="0"/>
              <a:t>✅ Dynamically loads the driver class.</a:t>
            </a:r>
          </a:p>
          <a:p>
            <a:r>
              <a:rPr lang="en-IN" sz="1800" dirty="0"/>
              <a:t>✅ This step is optional in JDBC 4.0+, but still commonly used for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4167344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AF995-1482-8F8C-C3D6-84905A93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Establishing a Connection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D91A01-A05F-0E0D-6CD3-8728984E3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68167"/>
            <a:ext cx="7886700" cy="1710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A31C96-126A-9A93-B952-C3A9DB24F8C7}"/>
              </a:ext>
            </a:extLst>
          </p:cNvPr>
          <p:cNvSpPr txBox="1"/>
          <p:nvPr/>
        </p:nvSpPr>
        <p:spPr>
          <a:xfrm>
            <a:off x="628650" y="277840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URL Format: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768D6A-F55F-B79A-7E3A-F849B1807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716" y="2494483"/>
            <a:ext cx="5829300" cy="1469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96372C-A97E-45EB-6DAA-DFD29E21C078}"/>
              </a:ext>
            </a:extLst>
          </p:cNvPr>
          <p:cNvSpPr txBox="1"/>
          <p:nvPr/>
        </p:nvSpPr>
        <p:spPr>
          <a:xfrm>
            <a:off x="710293" y="4249511"/>
            <a:ext cx="631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Replace mydb, root, and password with your own values.</a:t>
            </a:r>
          </a:p>
        </p:txBody>
      </p:sp>
    </p:spTree>
    <p:extLst>
      <p:ext uri="{BB962C8B-B14F-4D97-AF65-F5344CB8AC3E}">
        <p14:creationId xmlns:p14="http://schemas.microsoft.com/office/powerpoint/2010/main" val="1497784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6460-8A92-C6C4-74C0-AE473D69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Complete Example – Connection Setup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319BDB-AB90-9F85-F02E-5D0950C0B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979" y="1026319"/>
            <a:ext cx="6608042" cy="32635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4BDB2D-D65F-487D-E31A-EFD89AC4A6A8}"/>
              </a:ext>
            </a:extLst>
          </p:cNvPr>
          <p:cNvSpPr txBox="1"/>
          <p:nvPr/>
        </p:nvSpPr>
        <p:spPr>
          <a:xfrm>
            <a:off x="1225591" y="4403572"/>
            <a:ext cx="4788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1800" dirty="0"/>
              <a:t>✅ Successful connection prints confirmation.</a:t>
            </a:r>
          </a:p>
          <a:p>
            <a:r>
              <a:rPr lang="en-IN" sz="1800" dirty="0"/>
              <a:t>✅ Always close the connection after use.</a:t>
            </a:r>
          </a:p>
        </p:txBody>
      </p:sp>
    </p:spTree>
    <p:extLst>
      <p:ext uri="{BB962C8B-B14F-4D97-AF65-F5344CB8AC3E}">
        <p14:creationId xmlns:p14="http://schemas.microsoft.com/office/powerpoint/2010/main" val="2949849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6DF0-BE34-17AE-E44B-8F38A9FF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Connection Exceptions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04B9B5-5E95-E259-9C8A-F9FB9B621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52064"/>
            <a:ext cx="7886700" cy="2639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5F8871-BD57-1CB9-BCBD-6FFDA34291DA}"/>
              </a:ext>
            </a:extLst>
          </p:cNvPr>
          <p:cNvSpPr txBox="1"/>
          <p:nvPr/>
        </p:nvSpPr>
        <p:spPr>
          <a:xfrm>
            <a:off x="308164" y="4114800"/>
            <a:ext cx="900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Catch </a:t>
            </a:r>
            <a:r>
              <a:rPr lang="en-IN" sz="1800" i="1" dirty="0"/>
              <a:t>SQLException</a:t>
            </a:r>
            <a:r>
              <a:rPr lang="en-IN" sz="1800" dirty="0"/>
              <a:t> to handle </a:t>
            </a:r>
            <a:r>
              <a:rPr lang="en-IN" sz="1800" b="1" dirty="0"/>
              <a:t>invalid credentials, wrong URL</a:t>
            </a:r>
            <a:r>
              <a:rPr lang="en-IN" sz="1800" dirty="0"/>
              <a:t>, or network errors.</a:t>
            </a:r>
          </a:p>
        </p:txBody>
      </p:sp>
    </p:spTree>
    <p:extLst>
      <p:ext uri="{BB962C8B-B14F-4D97-AF65-F5344CB8AC3E}">
        <p14:creationId xmlns:p14="http://schemas.microsoft.com/office/powerpoint/2010/main" val="2032342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650B-22D9-4087-C892-778D0296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Connection Properties (Optional)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714108-9A72-8AA0-0343-280C1D611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585" y="1259904"/>
            <a:ext cx="6876831" cy="30420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CBDE97-9B03-D9F9-D821-BF5779438245}"/>
              </a:ext>
            </a:extLst>
          </p:cNvPr>
          <p:cNvSpPr txBox="1"/>
          <p:nvPr/>
        </p:nvSpPr>
        <p:spPr>
          <a:xfrm>
            <a:off x="942975" y="4301991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Use Properties for cleaner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778596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C264-2BBF-AB1B-A7EE-2660DDF2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for Database Connections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81954-E17B-2C6B-FA6B-3C8522E52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>
                <a:solidFill>
                  <a:schemeClr val="tx1"/>
                </a:solidFill>
              </a:rPr>
              <a:t>✅ Always close Connection inside finally or use </a:t>
            </a:r>
            <a:r>
              <a:rPr lang="en-IN" b="1" dirty="0">
                <a:solidFill>
                  <a:schemeClr val="tx1"/>
                </a:solidFill>
              </a:rPr>
              <a:t>try-with-resources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</a:rPr>
              <a:t>✅ Never hardcode credentials – use config files or environment variables.</a:t>
            </a: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</a:rPr>
              <a:t>✅ Use </a:t>
            </a:r>
            <a:r>
              <a:rPr lang="en-IN" b="1" dirty="0">
                <a:solidFill>
                  <a:schemeClr val="tx1"/>
                </a:solidFill>
              </a:rPr>
              <a:t>connection pools</a:t>
            </a:r>
            <a:r>
              <a:rPr lang="en-IN" dirty="0">
                <a:solidFill>
                  <a:schemeClr val="tx1"/>
                </a:solidFill>
              </a:rPr>
              <a:t> (e.g., HikariCP) in production.</a:t>
            </a: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</a:rPr>
              <a:t>✅ Validate connection with con.isValid(5) before use.</a:t>
            </a:r>
          </a:p>
        </p:txBody>
      </p:sp>
    </p:spTree>
    <p:extLst>
      <p:ext uri="{BB962C8B-B14F-4D97-AF65-F5344CB8AC3E}">
        <p14:creationId xmlns:p14="http://schemas.microsoft.com/office/powerpoint/2010/main" val="2978897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1F2E-251E-8302-4213-BDD0F0ACE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234554"/>
            <a:ext cx="8520600" cy="2052600"/>
          </a:xfrm>
        </p:spPr>
        <p:txBody>
          <a:bodyPr>
            <a:normAutofit/>
          </a:bodyPr>
          <a:lstStyle/>
          <a:p>
            <a:r>
              <a:rPr lang="en-IN" dirty="0"/>
              <a:t>Statement Objects and ResultSet 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573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DA5F-E16D-925A-703C-47929559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Statement in JDBC?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044B1-1B3F-26AC-49C6-637EB701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Statement</a:t>
            </a:r>
            <a:r>
              <a:rPr lang="en-IN" dirty="0"/>
              <a:t> is used to </a:t>
            </a:r>
            <a:r>
              <a:rPr lang="en-IN" b="1" dirty="0"/>
              <a:t>send SQL queries</a:t>
            </a:r>
            <a:r>
              <a:rPr lang="en-IN" dirty="0"/>
              <a:t> to the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Three types: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i="1" dirty="0"/>
              <a:t>Statement</a:t>
            </a:r>
            <a:r>
              <a:rPr lang="en-IN" dirty="0"/>
              <a:t> – for simple SQL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i="1" dirty="0"/>
              <a:t>PreparedStatement</a:t>
            </a:r>
            <a:r>
              <a:rPr lang="en-IN" dirty="0"/>
              <a:t> – for parameterized queries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i="1" dirty="0"/>
              <a:t>CallableStatement</a:t>
            </a:r>
            <a:r>
              <a:rPr lang="en-IN" dirty="0"/>
              <a:t> – for stored procedures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All extend the </a:t>
            </a:r>
            <a:r>
              <a:rPr lang="en-IN" b="1" dirty="0" err="1"/>
              <a:t>java.sql.Statement</a:t>
            </a:r>
            <a:r>
              <a:rPr lang="en-IN" dirty="0"/>
              <a:t> interface.</a:t>
            </a:r>
          </a:p>
        </p:txBody>
      </p:sp>
    </p:spTree>
    <p:extLst>
      <p:ext uri="{BB962C8B-B14F-4D97-AF65-F5344CB8AC3E}">
        <p14:creationId xmlns:p14="http://schemas.microsoft.com/office/powerpoint/2010/main" val="1572604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F7B7-DB07-BD96-B208-BE86DE76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and Using a Statement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5627A5-3BFB-4E88-DC56-B6DA2C861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68017"/>
            <a:ext cx="7886700" cy="1763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2D61B4-7B95-E580-9058-3966423C37FF}"/>
              </a:ext>
            </a:extLst>
          </p:cNvPr>
          <p:cNvSpPr txBox="1"/>
          <p:nvPr/>
        </p:nvSpPr>
        <p:spPr>
          <a:xfrm>
            <a:off x="881743" y="3429001"/>
            <a:ext cx="77044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i="1" dirty="0"/>
              <a:t>executeQuery()</a:t>
            </a:r>
            <a:r>
              <a:rPr lang="en-IN" sz="2100" dirty="0"/>
              <a:t> – for SELECT statements</a:t>
            </a:r>
          </a:p>
          <a:p>
            <a:r>
              <a:rPr lang="en-IN" sz="2100" i="1" dirty="0"/>
              <a:t>executeUpdate()</a:t>
            </a:r>
            <a:r>
              <a:rPr lang="en-IN" sz="2100" dirty="0"/>
              <a:t> – for INSERT, UPDATE, DELETE</a:t>
            </a:r>
          </a:p>
          <a:p>
            <a:pPr>
              <a:buNone/>
            </a:pPr>
            <a:endParaRPr lang="en-IN" sz="2100" dirty="0"/>
          </a:p>
          <a:p>
            <a:r>
              <a:rPr lang="en-IN" sz="2100" dirty="0"/>
              <a:t>✅ Statements are created </a:t>
            </a:r>
            <a:r>
              <a:rPr lang="en-IN" sz="2100" b="1" dirty="0"/>
              <a:t>from a Connection</a:t>
            </a:r>
            <a:r>
              <a:rPr lang="en-IN" sz="2100" dirty="0"/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2788140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2589-73E6-5B66-1AF5-2F0CCB3E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ResultSet?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385B4A-6428-D3C2-9CEA-2D1E5C80B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372" y="1870063"/>
            <a:ext cx="7119257" cy="2377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5A24B3-DE85-FDFD-F589-AEBFB625C858}"/>
              </a:ext>
            </a:extLst>
          </p:cNvPr>
          <p:cNvSpPr txBox="1"/>
          <p:nvPr/>
        </p:nvSpPr>
        <p:spPr>
          <a:xfrm>
            <a:off x="628650" y="1369219"/>
            <a:ext cx="78867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ResultSet holds the </a:t>
            </a:r>
            <a:r>
              <a:rPr lang="en-IN" sz="2100" b="1" dirty="0"/>
              <a:t>result of a query</a:t>
            </a:r>
            <a:r>
              <a:rPr lang="en-IN" sz="2100" dirty="0"/>
              <a:t> (like a cursor).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Use next() to move row by row.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0F92C-DB08-0D45-49F7-5DA455E83521}"/>
              </a:ext>
            </a:extLst>
          </p:cNvPr>
          <p:cNvSpPr txBox="1"/>
          <p:nvPr/>
        </p:nvSpPr>
        <p:spPr>
          <a:xfrm>
            <a:off x="832757" y="4384222"/>
            <a:ext cx="6853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Can use </a:t>
            </a:r>
            <a:r>
              <a:rPr lang="en-IN" sz="1800" i="1" dirty="0"/>
              <a:t>getInt()</a:t>
            </a:r>
            <a:r>
              <a:rPr lang="en-IN" sz="1800" dirty="0"/>
              <a:t>, </a:t>
            </a:r>
            <a:r>
              <a:rPr lang="en-IN" sz="1800" i="1" dirty="0"/>
              <a:t>getString()</a:t>
            </a:r>
            <a:r>
              <a:rPr lang="en-IN" sz="1800" dirty="0"/>
              <a:t>, </a:t>
            </a:r>
            <a:r>
              <a:rPr lang="en-IN" sz="1800" i="1" dirty="0"/>
              <a:t>getDate()</a:t>
            </a:r>
            <a:r>
              <a:rPr lang="en-IN" sz="1800" dirty="0"/>
              <a:t> for different data types.</a:t>
            </a:r>
          </a:p>
        </p:txBody>
      </p:sp>
    </p:spTree>
    <p:extLst>
      <p:ext uri="{BB962C8B-B14F-4D97-AF65-F5344CB8AC3E}">
        <p14:creationId xmlns:p14="http://schemas.microsoft.com/office/powerpoint/2010/main" val="3000018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2730-07D8-687E-E899-713DAEA4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Column Access with ResultSet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C440D3-A0DF-CDB5-E6C0-FFEB31E69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41107"/>
            <a:ext cx="7886700" cy="1797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03016-6393-597A-E0C0-1E1BE549FB90}"/>
              </a:ext>
            </a:extLst>
          </p:cNvPr>
          <p:cNvSpPr txBox="1"/>
          <p:nvPr/>
        </p:nvSpPr>
        <p:spPr>
          <a:xfrm>
            <a:off x="942975" y="3624943"/>
            <a:ext cx="56268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2100" dirty="0"/>
              <a:t>✅ Column index starts from </a:t>
            </a:r>
            <a:r>
              <a:rPr lang="en-IN" sz="2100" b="1" dirty="0"/>
              <a:t>1</a:t>
            </a:r>
            <a:r>
              <a:rPr lang="en-IN" sz="2100" dirty="0"/>
              <a:t>, not 0.</a:t>
            </a:r>
          </a:p>
          <a:p>
            <a:r>
              <a:rPr lang="en-IN" sz="2100" dirty="0"/>
              <a:t>✅ Using names is </a:t>
            </a:r>
            <a:r>
              <a:rPr lang="en-IN" sz="2100" b="1" dirty="0"/>
              <a:t>safer and more readable</a:t>
            </a:r>
            <a:r>
              <a:rPr lang="en-IN" sz="2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1822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9A5A-CF1E-2E43-95D2-97345325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PreparedStatement (Better Practice)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A97B89-F8DB-116E-BEC5-DF0E7B4B9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343" y="1268017"/>
            <a:ext cx="6923315" cy="26036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C91DDC-9404-622C-DE84-CF46090B1736}"/>
              </a:ext>
            </a:extLst>
          </p:cNvPr>
          <p:cNvSpPr txBox="1"/>
          <p:nvPr/>
        </p:nvSpPr>
        <p:spPr>
          <a:xfrm>
            <a:off x="979714" y="3953624"/>
            <a:ext cx="57438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2100" dirty="0"/>
              <a:t>✅ Prevents </a:t>
            </a:r>
            <a:r>
              <a:rPr lang="en-IN" sz="2100" b="1" dirty="0"/>
              <a:t>SQL injection</a:t>
            </a:r>
            <a:endParaRPr lang="en-IN" sz="2100" dirty="0"/>
          </a:p>
          <a:p>
            <a:r>
              <a:rPr lang="en-IN" sz="2100" dirty="0"/>
              <a:t>✅ Used for queries with </a:t>
            </a:r>
            <a:r>
              <a:rPr lang="en-IN" sz="2100" b="1" dirty="0"/>
              <a:t>dynamic parameters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4268779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FAB2F-50EC-BF72-DBC8-EAFE8576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Inserting Data Using executeUpdate()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5C5079-82C9-2BBE-E3D7-5C8D23748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427" y="939998"/>
            <a:ext cx="7653146" cy="326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1FD7AB-38BA-6304-D696-F13BCCEB3051}"/>
              </a:ext>
            </a:extLst>
          </p:cNvPr>
          <p:cNvSpPr txBox="1"/>
          <p:nvPr/>
        </p:nvSpPr>
        <p:spPr>
          <a:xfrm>
            <a:off x="745427" y="4371974"/>
            <a:ext cx="691247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</a:t>
            </a:r>
            <a:r>
              <a:rPr lang="en-IN" sz="2100" i="1" dirty="0"/>
              <a:t>executeUpdate()</a:t>
            </a:r>
            <a:r>
              <a:rPr lang="en-IN" sz="2100" dirty="0"/>
              <a:t> returns the number of affected rows.</a:t>
            </a:r>
          </a:p>
        </p:txBody>
      </p:sp>
    </p:spTree>
    <p:extLst>
      <p:ext uri="{BB962C8B-B14F-4D97-AF65-F5344CB8AC3E}">
        <p14:creationId xmlns:p14="http://schemas.microsoft.com/office/powerpoint/2010/main" val="996376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92ACA-6097-CBDD-3963-8C1168C8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A0393-D226-34C5-2F71-D6D7845E8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790360"/>
          </a:xfrm>
        </p:spPr>
        <p:txBody>
          <a:bodyPr/>
          <a:lstStyle/>
          <a:p>
            <a:pPr>
              <a:buNone/>
            </a:pPr>
            <a:r>
              <a:rPr lang="en-IN" dirty="0">
                <a:solidFill>
                  <a:schemeClr val="tx1"/>
                </a:solidFill>
              </a:rPr>
              <a:t>✅ Always close </a:t>
            </a:r>
            <a:r>
              <a:rPr lang="en-IN" i="1" dirty="0">
                <a:solidFill>
                  <a:schemeClr val="tx1"/>
                </a:solidFill>
              </a:rPr>
              <a:t>Statement</a:t>
            </a:r>
            <a:r>
              <a:rPr lang="en-IN" dirty="0">
                <a:solidFill>
                  <a:schemeClr val="tx1"/>
                </a:solidFill>
              </a:rPr>
              <a:t> and </a:t>
            </a:r>
            <a:r>
              <a:rPr lang="en-IN" i="1" dirty="0">
                <a:solidFill>
                  <a:schemeClr val="tx1"/>
                </a:solidFill>
              </a:rPr>
              <a:t>ResultSet</a:t>
            </a:r>
            <a:r>
              <a:rPr lang="en-IN" dirty="0">
                <a:solidFill>
                  <a:schemeClr val="tx1"/>
                </a:solidFill>
              </a:rPr>
              <a:t> after use.</a:t>
            </a: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</a:rPr>
              <a:t>✅ Use </a:t>
            </a:r>
            <a:r>
              <a:rPr lang="en-IN" i="1" dirty="0">
                <a:solidFill>
                  <a:schemeClr val="tx1"/>
                </a:solidFill>
              </a:rPr>
              <a:t>PreparedStatement</a:t>
            </a:r>
            <a:r>
              <a:rPr lang="en-IN" dirty="0">
                <a:solidFill>
                  <a:schemeClr val="tx1"/>
                </a:solidFill>
              </a:rPr>
              <a:t> over </a:t>
            </a:r>
            <a:r>
              <a:rPr lang="en-IN" i="1" dirty="0">
                <a:solidFill>
                  <a:schemeClr val="tx1"/>
                </a:solidFill>
              </a:rPr>
              <a:t>Statement</a:t>
            </a:r>
            <a:r>
              <a:rPr lang="en-IN" dirty="0">
                <a:solidFill>
                  <a:schemeClr val="tx1"/>
                </a:solidFill>
              </a:rPr>
              <a:t> for dynamic values.</a:t>
            </a: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</a:rPr>
              <a:t>✅ Avoid </a:t>
            </a:r>
            <a:r>
              <a:rPr lang="en-IN" i="1" dirty="0">
                <a:solidFill>
                  <a:schemeClr val="tx1"/>
                </a:solidFill>
              </a:rPr>
              <a:t>SELECT *</a:t>
            </a:r>
            <a:r>
              <a:rPr lang="en-IN" dirty="0">
                <a:solidFill>
                  <a:schemeClr val="tx1"/>
                </a:solidFill>
              </a:rPr>
              <a:t> in production code.</a:t>
            </a: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</a:rPr>
              <a:t>✅ Catch and log SQL exceptions properly.</a:t>
            </a:r>
          </a:p>
        </p:txBody>
      </p:sp>
    </p:spTree>
    <p:extLst>
      <p:ext uri="{BB962C8B-B14F-4D97-AF65-F5344CB8AC3E}">
        <p14:creationId xmlns:p14="http://schemas.microsoft.com/office/powerpoint/2010/main" val="3945451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5CD8-7AFD-B9CF-E7F7-07D6BED3D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2023555"/>
            <a:ext cx="8520600" cy="1096390"/>
          </a:xfrm>
        </p:spPr>
        <p:txBody>
          <a:bodyPr>
            <a:normAutofit/>
          </a:bodyPr>
          <a:lstStyle/>
          <a:p>
            <a:r>
              <a:rPr lang="en-IN" dirty="0"/>
              <a:t>Metadata in JDBC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83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C83D-89BC-4F5E-ABA4-225BDBDE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Metadata in JDBC?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AF0A6-94C2-4BE2-BDD1-D7F8F91AB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5004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Metadata</a:t>
            </a:r>
            <a:r>
              <a:rPr lang="en-IN" dirty="0"/>
              <a:t> refers to </a:t>
            </a:r>
            <a:r>
              <a:rPr lang="en-IN" b="1" dirty="0"/>
              <a:t>data about data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JDBC provides metadata to help programs dynamically understand:</a:t>
            </a:r>
          </a:p>
          <a:p>
            <a:pPr marL="0" indent="0">
              <a:buNone/>
            </a:pPr>
            <a:r>
              <a:rPr lang="en-IN" dirty="0"/>
              <a:t>✅ Database properties</a:t>
            </a:r>
          </a:p>
          <a:p>
            <a:pPr marL="0" indent="0">
              <a:buNone/>
            </a:pPr>
            <a:r>
              <a:rPr lang="en-IN" dirty="0"/>
              <a:t>✅ Tables and columns</a:t>
            </a:r>
          </a:p>
          <a:p>
            <a:pPr marL="0" indent="0">
              <a:buNone/>
            </a:pPr>
            <a:r>
              <a:rPr lang="en-IN" dirty="0"/>
              <a:t>✅ Result set structure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Helpful for </a:t>
            </a:r>
            <a:r>
              <a:rPr lang="en-IN" b="1" dirty="0"/>
              <a:t>building generic or reusable JDBC utilities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1095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95CF6-2B59-87CA-B39C-BB2BD5BA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DatabaseMetaData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58F8D9-3C31-EE6F-6907-13164B94B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56644"/>
            <a:ext cx="7886700" cy="2830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7D0D02-7486-AB99-B5C3-E93A93DE7581}"/>
              </a:ext>
            </a:extLst>
          </p:cNvPr>
          <p:cNvSpPr txBox="1"/>
          <p:nvPr/>
        </p:nvSpPr>
        <p:spPr>
          <a:xfrm>
            <a:off x="628651" y="4184543"/>
            <a:ext cx="7237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Provides information about </a:t>
            </a:r>
            <a:r>
              <a:rPr lang="en-IN" sz="1800" b="1" dirty="0"/>
              <a:t>database version, driver, tables</a:t>
            </a:r>
            <a:r>
              <a:rPr lang="en-IN" sz="18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11074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B47F-24AA-F8FC-478F-6E99EB4A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Listing All Tables in a Database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0189F6-49A8-DDC6-29FC-8A9668F1F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466" y="1268017"/>
            <a:ext cx="6623068" cy="2822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E67463-92C1-AE25-351D-E98AD5286EB2}"/>
              </a:ext>
            </a:extLst>
          </p:cNvPr>
          <p:cNvSpPr txBox="1"/>
          <p:nvPr/>
        </p:nvSpPr>
        <p:spPr>
          <a:xfrm>
            <a:off x="953146" y="4242661"/>
            <a:ext cx="6237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Use </a:t>
            </a:r>
            <a:r>
              <a:rPr lang="en-IN" sz="1800" i="1" dirty="0"/>
              <a:t>getTables()</a:t>
            </a:r>
            <a:r>
              <a:rPr lang="en-IN" sz="1800" dirty="0"/>
              <a:t> to list all </a:t>
            </a:r>
            <a:r>
              <a:rPr lang="en-IN" sz="1800" b="1" dirty="0"/>
              <a:t>tables</a:t>
            </a:r>
            <a:r>
              <a:rPr lang="en-IN" sz="1800" dirty="0"/>
              <a:t> in the current database.</a:t>
            </a:r>
          </a:p>
        </p:txBody>
      </p:sp>
    </p:spTree>
    <p:extLst>
      <p:ext uri="{BB962C8B-B14F-4D97-AF65-F5344CB8AC3E}">
        <p14:creationId xmlns:p14="http://schemas.microsoft.com/office/powerpoint/2010/main" val="2645191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A526-8B99-2388-221B-6B90D2D9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ResultSetMetaData?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10E133-3F4A-CCB5-D4DD-59238432F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09729"/>
            <a:ext cx="7886700" cy="21824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F7CAD0-EB56-E673-892B-45A68DAEC7A3}"/>
              </a:ext>
            </a:extLst>
          </p:cNvPr>
          <p:cNvSpPr txBox="1"/>
          <p:nvPr/>
        </p:nvSpPr>
        <p:spPr>
          <a:xfrm>
            <a:off x="628650" y="1268016"/>
            <a:ext cx="68695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Gives </a:t>
            </a:r>
            <a:r>
              <a:rPr lang="en-IN" sz="2100" b="1" dirty="0"/>
              <a:t>information about the columns</a:t>
            </a:r>
            <a:r>
              <a:rPr lang="en-IN" sz="2100" dirty="0"/>
              <a:t> in a result set.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Useful when structure is </a:t>
            </a:r>
            <a:r>
              <a:rPr lang="en-IN" sz="2100" b="1" dirty="0"/>
              <a:t>not known at compile time</a:t>
            </a:r>
            <a:r>
              <a:rPr lang="en-IN" sz="21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4DF0B-72F0-0180-66E2-EC83C2641D78}"/>
              </a:ext>
            </a:extLst>
          </p:cNvPr>
          <p:cNvSpPr txBox="1"/>
          <p:nvPr/>
        </p:nvSpPr>
        <p:spPr>
          <a:xfrm>
            <a:off x="441702" y="4242661"/>
            <a:ext cx="81852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Use it when building </a:t>
            </a:r>
            <a:r>
              <a:rPr lang="en-IN" sz="2100" b="1" dirty="0"/>
              <a:t>generic table display or dynamic reports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1749524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5A02-9B7E-AD29-7F5A-8B172F42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911" y="273844"/>
            <a:ext cx="7403231" cy="5786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Accessing Column Info with ResultSetMetaData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22153A-158C-FF0D-541E-A8BE28E6F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68016"/>
            <a:ext cx="7886700" cy="2281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10F15D-91B3-B58C-3661-EC22C76C5FC4}"/>
              </a:ext>
            </a:extLst>
          </p:cNvPr>
          <p:cNvSpPr txBox="1"/>
          <p:nvPr/>
        </p:nvSpPr>
        <p:spPr>
          <a:xfrm>
            <a:off x="628651" y="3875484"/>
            <a:ext cx="73484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Helps you understand </a:t>
            </a:r>
            <a:r>
              <a:rPr lang="en-IN" sz="2100" b="1" dirty="0"/>
              <a:t>column names, types, sizes</a:t>
            </a:r>
            <a:r>
              <a:rPr lang="en-IN" sz="21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76466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F51D-1BC6-1712-0141-6126BD53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Practical Use Cases of Metadata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C1430-B719-D336-E8E4-4233B979E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768829"/>
          </a:xfrm>
        </p:spPr>
        <p:txBody>
          <a:bodyPr/>
          <a:lstStyle/>
          <a:p>
            <a:pPr>
              <a:buNone/>
            </a:pPr>
            <a:r>
              <a:rPr lang="en-IN" dirty="0"/>
              <a:t>✅ Auto-generating forms or tables</a:t>
            </a:r>
          </a:p>
          <a:p>
            <a:pPr>
              <a:buNone/>
            </a:pPr>
            <a:r>
              <a:rPr lang="en-IN" dirty="0"/>
              <a:t>✅ Creating dynamic SQL queries</a:t>
            </a:r>
          </a:p>
          <a:p>
            <a:pPr>
              <a:buNone/>
            </a:pPr>
            <a:r>
              <a:rPr lang="en-IN" dirty="0"/>
              <a:t>✅ Debugging database structure</a:t>
            </a:r>
          </a:p>
          <a:p>
            <a:pPr>
              <a:buNone/>
            </a:pPr>
            <a:r>
              <a:rPr lang="en-IN" dirty="0"/>
              <a:t>✅ Data migration or sync tools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Used in </a:t>
            </a:r>
            <a:r>
              <a:rPr lang="en-IN" b="1" dirty="0"/>
              <a:t>frameworks, libraries</a:t>
            </a:r>
            <a:r>
              <a:rPr lang="en-IN" dirty="0"/>
              <a:t>, and enterprise-level tools.</a:t>
            </a:r>
          </a:p>
        </p:txBody>
      </p:sp>
    </p:spTree>
    <p:extLst>
      <p:ext uri="{BB962C8B-B14F-4D97-AF65-F5344CB8AC3E}">
        <p14:creationId xmlns:p14="http://schemas.microsoft.com/office/powerpoint/2010/main" val="744434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5AFD-3FE7-EA98-5CD4-E17027AE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with Metadata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3AA8D-5A4C-4A53-ABF8-E7F8C5C45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✅ Use only when dynamic structure is needed.</a:t>
            </a:r>
          </a:p>
          <a:p>
            <a:pPr>
              <a:buNone/>
            </a:pPr>
            <a:r>
              <a:rPr lang="en-IN" dirty="0"/>
              <a:t>✅ Close </a:t>
            </a:r>
            <a:r>
              <a:rPr lang="en-IN" i="1" dirty="0"/>
              <a:t>ResultSet</a:t>
            </a:r>
            <a:r>
              <a:rPr lang="en-IN" dirty="0"/>
              <a:t> after using metadata.</a:t>
            </a:r>
          </a:p>
          <a:p>
            <a:pPr>
              <a:buNone/>
            </a:pPr>
            <a:r>
              <a:rPr lang="en-IN" dirty="0"/>
              <a:t>✅ Don’t rely on metadata in high-performance queries.</a:t>
            </a:r>
          </a:p>
          <a:p>
            <a:pPr>
              <a:buNone/>
            </a:pPr>
            <a:r>
              <a:rPr lang="en-IN" dirty="0"/>
              <a:t>✅ Cache metadata info if repeatedly used.</a:t>
            </a:r>
          </a:p>
        </p:txBody>
      </p:sp>
    </p:spTree>
    <p:extLst>
      <p:ext uri="{BB962C8B-B14F-4D97-AF65-F5344CB8AC3E}">
        <p14:creationId xmlns:p14="http://schemas.microsoft.com/office/powerpoint/2010/main" val="2338447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BAD77-1D98-0C6B-8B1E-E2259DAC4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412087"/>
            <a:ext cx="8520600" cy="2052600"/>
          </a:xfrm>
        </p:spPr>
        <p:txBody>
          <a:bodyPr>
            <a:normAutofit/>
          </a:bodyPr>
          <a:lstStyle/>
          <a:p>
            <a:r>
              <a:rPr lang="en-IN" dirty="0"/>
              <a:t>Transaction Management in 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47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6563-2087-F85D-7DA0-4F3BAFF9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Transaction?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0242E-5260-8683-18A8-F8B32B885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5004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transaction</a:t>
            </a:r>
            <a:r>
              <a:rPr lang="en-IN" dirty="0"/>
              <a:t> is a </a:t>
            </a:r>
            <a:r>
              <a:rPr lang="en-IN" b="1" dirty="0"/>
              <a:t>logical unit of work</a:t>
            </a:r>
            <a:r>
              <a:rPr lang="en-IN" dirty="0"/>
              <a:t> that must be completed entirely or not at 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Follows the </a:t>
            </a:r>
            <a:r>
              <a:rPr lang="en-IN" b="1" dirty="0"/>
              <a:t>ACID</a:t>
            </a:r>
            <a:r>
              <a:rPr lang="en-IN" dirty="0"/>
              <a:t> properties: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Atomicity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Consistency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Isolation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Durability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Used to prevent </a:t>
            </a:r>
            <a:r>
              <a:rPr lang="en-IN" b="1" dirty="0"/>
              <a:t>partial updates</a:t>
            </a:r>
            <a:r>
              <a:rPr lang="en-IN" dirty="0"/>
              <a:t> or inconsistent data.</a:t>
            </a:r>
          </a:p>
        </p:txBody>
      </p:sp>
    </p:spTree>
    <p:extLst>
      <p:ext uri="{BB962C8B-B14F-4D97-AF65-F5344CB8AC3E}">
        <p14:creationId xmlns:p14="http://schemas.microsoft.com/office/powerpoint/2010/main" val="3482172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1C219-3A9E-766B-0DB3-673F41C4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Default Behavior in JDBC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28F9E9-62B0-7438-635A-99390A62E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306762"/>
            <a:ext cx="7886700" cy="2224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641F4E-8591-30A4-039E-1222D31BF2F4}"/>
              </a:ext>
            </a:extLst>
          </p:cNvPr>
          <p:cNvSpPr txBox="1"/>
          <p:nvPr/>
        </p:nvSpPr>
        <p:spPr>
          <a:xfrm>
            <a:off x="792218" y="1268016"/>
            <a:ext cx="677901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JDBC runs in </a:t>
            </a:r>
            <a:r>
              <a:rPr lang="en-IN" sz="2100" b="1" dirty="0"/>
              <a:t>auto-commit mode</a:t>
            </a:r>
            <a:r>
              <a:rPr lang="en-IN" sz="2100" dirty="0"/>
              <a:t> by default:</a:t>
            </a:r>
          </a:p>
          <a:p>
            <a:r>
              <a:rPr lang="en-IN" sz="2100" dirty="0"/>
              <a:t>✅ Each SQL statement is </a:t>
            </a:r>
            <a:r>
              <a:rPr lang="en-IN" sz="2100" b="1" dirty="0"/>
              <a:t>committed automatically</a:t>
            </a:r>
            <a:r>
              <a:rPr lang="en-IN" sz="2100" dirty="0"/>
              <a:t>.</a:t>
            </a:r>
          </a:p>
          <a:p>
            <a:r>
              <a:rPr lang="en-IN" sz="2100" dirty="0"/>
              <a:t>✅ Not suitable for </a:t>
            </a:r>
            <a:r>
              <a:rPr lang="en-IN" sz="2100" b="1" dirty="0"/>
              <a:t>multi-step operations</a:t>
            </a:r>
            <a:r>
              <a:rPr lang="en-IN" sz="2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1490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AADB-A318-92ED-DF1D-DB00DDDF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Disabling Auto-Commit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078D98-8503-3919-EF16-BF169F706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68016"/>
            <a:ext cx="7886700" cy="17077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3EBD29-1010-AF58-6A26-9B8B656C511E}"/>
              </a:ext>
            </a:extLst>
          </p:cNvPr>
          <p:cNvSpPr txBox="1"/>
          <p:nvPr/>
        </p:nvSpPr>
        <p:spPr>
          <a:xfrm>
            <a:off x="271058" y="3217126"/>
            <a:ext cx="88729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Required to group multiple SQL statements into </a:t>
            </a:r>
            <a:r>
              <a:rPr lang="en-IN" sz="2100" b="1" dirty="0"/>
              <a:t>a single transaction</a:t>
            </a:r>
            <a:r>
              <a:rPr lang="en-IN" sz="2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7356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2416-E1B0-A7B4-FD37-22AB8481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Performing Commit and Rollback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3593BF-4B0E-0AEF-F91F-1C57BC63D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394" y="1114278"/>
            <a:ext cx="7583213" cy="35822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1CBBA9-39E9-13CE-07E3-F5C291947299}"/>
              </a:ext>
            </a:extLst>
          </p:cNvPr>
          <p:cNvSpPr txBox="1"/>
          <p:nvPr/>
        </p:nvSpPr>
        <p:spPr>
          <a:xfrm>
            <a:off x="839514" y="4696532"/>
            <a:ext cx="5480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Ensures </a:t>
            </a:r>
            <a:r>
              <a:rPr lang="en-IN" sz="1800" b="1" dirty="0"/>
              <a:t>both statements succeed or both fail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9977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8CFF-B5D7-54EA-AACF-17B8D408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 Transactions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97B43-4566-A8D3-DA2B-7AED32AAD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✅ Bank transfers</a:t>
            </a:r>
          </a:p>
          <a:p>
            <a:pPr>
              <a:buNone/>
            </a:pPr>
            <a:r>
              <a:rPr lang="en-IN" dirty="0"/>
              <a:t>✅ Inventory updates</a:t>
            </a:r>
          </a:p>
          <a:p>
            <a:pPr>
              <a:buNone/>
            </a:pPr>
            <a:r>
              <a:rPr lang="en-IN" dirty="0"/>
              <a:t>✅ Batch processing</a:t>
            </a:r>
          </a:p>
          <a:p>
            <a:pPr>
              <a:buNone/>
            </a:pPr>
            <a:r>
              <a:rPr lang="en-IN" dirty="0"/>
              <a:t>✅ Multiple related changes to database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🚫 Avoid for simple, single-statement queries.</a:t>
            </a:r>
          </a:p>
        </p:txBody>
      </p:sp>
    </p:spTree>
    <p:extLst>
      <p:ext uri="{BB962C8B-B14F-4D97-AF65-F5344CB8AC3E}">
        <p14:creationId xmlns:p14="http://schemas.microsoft.com/office/powerpoint/2010/main" val="792421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B909-7B68-3BB3-583D-CA6648108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Savepoints in Transactions (Optional)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9C870-FD60-10D8-9AD4-109A458FD830}"/>
              </a:ext>
            </a:extLst>
          </p:cNvPr>
          <p:cNvSpPr txBox="1"/>
          <p:nvPr/>
        </p:nvSpPr>
        <p:spPr>
          <a:xfrm>
            <a:off x="543910" y="1268016"/>
            <a:ext cx="77588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Used to </a:t>
            </a:r>
            <a:r>
              <a:rPr lang="en-IN" sz="2100" b="1" dirty="0"/>
              <a:t>rollback to a specific point</a:t>
            </a:r>
            <a:r>
              <a:rPr lang="en-IN" sz="2100" dirty="0"/>
              <a:t> within a transaction.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194656-246C-0DA2-78D4-B1D1AC04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14" y="1703064"/>
            <a:ext cx="6822456" cy="19335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11EB0B-E2E0-0068-CD39-E249D2658068}"/>
              </a:ext>
            </a:extLst>
          </p:cNvPr>
          <p:cNvSpPr txBox="1"/>
          <p:nvPr/>
        </p:nvSpPr>
        <p:spPr>
          <a:xfrm>
            <a:off x="628650" y="3679276"/>
            <a:ext cx="68980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Useful for </a:t>
            </a:r>
            <a:r>
              <a:rPr lang="en-IN" sz="2100" b="1" dirty="0"/>
              <a:t>partial rollback</a:t>
            </a:r>
            <a:r>
              <a:rPr lang="en-IN" sz="2100" dirty="0"/>
              <a:t> during complex workflows.</a:t>
            </a:r>
          </a:p>
        </p:txBody>
      </p:sp>
    </p:spTree>
    <p:extLst>
      <p:ext uri="{BB962C8B-B14F-4D97-AF65-F5344CB8AC3E}">
        <p14:creationId xmlns:p14="http://schemas.microsoft.com/office/powerpoint/2010/main" val="3446327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C03D-DC2C-6A1B-A794-B5A4EAFB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for Transaction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B0519-A40D-39F9-1B21-7DE224216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012485"/>
          </a:xfrm>
        </p:spPr>
        <p:txBody>
          <a:bodyPr/>
          <a:lstStyle/>
          <a:p>
            <a:pPr>
              <a:buNone/>
            </a:pPr>
            <a:r>
              <a:rPr lang="en-IN" dirty="0"/>
              <a:t>✅ Always disable auto-commit </a:t>
            </a:r>
            <a:r>
              <a:rPr lang="en-IN" b="1" dirty="0"/>
              <a:t>only when needed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✅ Use try-catch-finally or </a:t>
            </a:r>
            <a:r>
              <a:rPr lang="en-IN" b="1" dirty="0"/>
              <a:t>try-with-resources</a:t>
            </a:r>
            <a:r>
              <a:rPr lang="en-IN" dirty="0"/>
              <a:t> to ensure commit/rollback.</a:t>
            </a:r>
          </a:p>
          <a:p>
            <a:pPr>
              <a:buNone/>
            </a:pPr>
            <a:r>
              <a:rPr lang="en-IN" dirty="0"/>
              <a:t>✅ Avoid long transactions — keep them </a:t>
            </a:r>
            <a:r>
              <a:rPr lang="en-IN" b="1" dirty="0"/>
              <a:t>short and fast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✅ Handle rollback scenarios </a:t>
            </a:r>
            <a:r>
              <a:rPr lang="en-IN" b="1" dirty="0"/>
              <a:t>gracefully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3787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BC50-49B9-61F8-70CA-4F200FC35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874519"/>
            <a:ext cx="8520600" cy="1041527"/>
          </a:xfrm>
        </p:spPr>
        <p:txBody>
          <a:bodyPr/>
          <a:lstStyle/>
          <a:p>
            <a:r>
              <a:rPr lang="en-IN" dirty="0"/>
              <a:t>Data Types in JDBC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065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B75A-AB59-A566-EA6E-93FAA971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Overview of JDBC Type Mapping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DF38-A77B-ED1F-FA1C-669B21D18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JDBC translates SQL types into Java types via </a:t>
            </a:r>
            <a:r>
              <a:rPr lang="en-IN" b="1" dirty="0"/>
              <a:t>type mappings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Mapped via </a:t>
            </a:r>
            <a:r>
              <a:rPr lang="en-IN" b="1" dirty="0" err="1"/>
              <a:t>java.sql.Types</a:t>
            </a:r>
            <a:r>
              <a:rPr lang="en-IN" b="1" dirty="0"/>
              <a:t> constants</a:t>
            </a:r>
            <a:r>
              <a:rPr lang="en-IN" dirty="0"/>
              <a:t> internally.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Handled automatically when using </a:t>
            </a:r>
            <a:r>
              <a:rPr lang="en-IN" b="1" dirty="0"/>
              <a:t>ResultSet or PreparedStatement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Ensures consistency across platforms and databases.</a:t>
            </a:r>
          </a:p>
        </p:txBody>
      </p:sp>
    </p:spTree>
    <p:extLst>
      <p:ext uri="{BB962C8B-B14F-4D97-AF65-F5344CB8AC3E}">
        <p14:creationId xmlns:p14="http://schemas.microsoft.com/office/powerpoint/2010/main" val="389500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0FCC-BD9B-C5CC-C5A0-05489A76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SQL–Java Type Mappings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750EE1-D8C3-D852-F8AF-CA550FABB2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96314" y="1415714"/>
          <a:ext cx="7551373" cy="16687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77854">
                  <a:extLst>
                    <a:ext uri="{9D8B030D-6E8A-4147-A177-3AD203B41FA5}">
                      <a16:colId xmlns:a16="http://schemas.microsoft.com/office/drawing/2014/main" val="2081823058"/>
                    </a:ext>
                  </a:extLst>
                </a:gridCol>
                <a:gridCol w="1570673">
                  <a:extLst>
                    <a:ext uri="{9D8B030D-6E8A-4147-A177-3AD203B41FA5}">
                      <a16:colId xmlns:a16="http://schemas.microsoft.com/office/drawing/2014/main" val="2170901725"/>
                    </a:ext>
                  </a:extLst>
                </a:gridCol>
                <a:gridCol w="1775460">
                  <a:extLst>
                    <a:ext uri="{9D8B030D-6E8A-4147-A177-3AD203B41FA5}">
                      <a16:colId xmlns:a16="http://schemas.microsoft.com/office/drawing/2014/main" val="3814995695"/>
                    </a:ext>
                  </a:extLst>
                </a:gridCol>
                <a:gridCol w="2327387">
                  <a:extLst>
                    <a:ext uri="{9D8B030D-6E8A-4147-A177-3AD203B41FA5}">
                      <a16:colId xmlns:a16="http://schemas.microsoft.com/office/drawing/2014/main" val="316556884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SQL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Java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ResultSet 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PreparedStatement Method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49401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VARCHAR, CHAR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getString()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setString()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7146086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getInt()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setInt()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290181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getLong()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setLong()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769184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DECIMAL, NUMERIC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BigDecimal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getBigDecimal()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setBigDecimal()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494384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java.sql.Date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getDate()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setDate()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727989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238C4F-ACC2-9E74-C43D-19CBF3AF70F4}"/>
              </a:ext>
            </a:extLst>
          </p:cNvPr>
          <p:cNvSpPr txBox="1"/>
          <p:nvPr/>
        </p:nvSpPr>
        <p:spPr>
          <a:xfrm>
            <a:off x="628650" y="3580108"/>
            <a:ext cx="703590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Always use the correct method to match the SQL type.</a:t>
            </a:r>
          </a:p>
        </p:txBody>
      </p:sp>
    </p:spTree>
    <p:extLst>
      <p:ext uri="{BB962C8B-B14F-4D97-AF65-F5344CB8AC3E}">
        <p14:creationId xmlns:p14="http://schemas.microsoft.com/office/powerpoint/2010/main" val="3496490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245C-EF46-8800-5B24-F220D789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Retrieving and Setting Values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9783A7-E38B-9F31-E046-B12B03A5D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893" y="883742"/>
            <a:ext cx="6440271" cy="2254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FACEC5-26DD-B83D-F729-34EA338FC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52" y="2973295"/>
            <a:ext cx="8236951" cy="1852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112CB4-51ED-2EDB-B7FE-86664F04C74A}"/>
              </a:ext>
            </a:extLst>
          </p:cNvPr>
          <p:cNvSpPr txBox="1"/>
          <p:nvPr/>
        </p:nvSpPr>
        <p:spPr>
          <a:xfrm>
            <a:off x="829666" y="4660122"/>
            <a:ext cx="74767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Use column name or index with appropriate type methods.</a:t>
            </a:r>
          </a:p>
        </p:txBody>
      </p:sp>
    </p:spTree>
    <p:extLst>
      <p:ext uri="{BB962C8B-B14F-4D97-AF65-F5344CB8AC3E}">
        <p14:creationId xmlns:p14="http://schemas.microsoft.com/office/powerpoint/2010/main" val="1727459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0A7E-8C15-BA0E-6D62-646F4F9B7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Working with Dates in JDBC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5C0842-849C-8201-55EA-C1ECC6E4B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0093" y="939998"/>
            <a:ext cx="5643815" cy="326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E128C5-53D4-DB98-A808-9C5E656CBC88}"/>
              </a:ext>
            </a:extLst>
          </p:cNvPr>
          <p:cNvSpPr txBox="1"/>
          <p:nvPr/>
        </p:nvSpPr>
        <p:spPr>
          <a:xfrm>
            <a:off x="918275" y="4254285"/>
            <a:ext cx="77364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2100" dirty="0"/>
              <a:t>✅ Use </a:t>
            </a:r>
            <a:r>
              <a:rPr lang="en-IN" sz="2100" dirty="0" err="1"/>
              <a:t>java.sql.Date</a:t>
            </a:r>
            <a:r>
              <a:rPr lang="en-IN" sz="2100" dirty="0"/>
              <a:t>, Time, and Timestamp for date/time fields.</a:t>
            </a:r>
          </a:p>
          <a:p>
            <a:r>
              <a:rPr lang="en-IN" sz="2100" dirty="0"/>
              <a:t>✅ Can convert to LocalDate using Java 8+ APIs if needed.</a:t>
            </a:r>
          </a:p>
        </p:txBody>
      </p:sp>
    </p:spTree>
    <p:extLst>
      <p:ext uri="{BB962C8B-B14F-4D97-AF65-F5344CB8AC3E}">
        <p14:creationId xmlns:p14="http://schemas.microsoft.com/office/powerpoint/2010/main" val="1554406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3178-17AE-00AA-B3D0-34780AAF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Null Values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10DD12-1E48-DB2D-B43F-9731F2C3A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5739" y="770930"/>
            <a:ext cx="3758261" cy="2421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6C7A7B-B0E4-80D9-7E4E-FFB1A1DAA0A9}"/>
              </a:ext>
            </a:extLst>
          </p:cNvPr>
          <p:cNvSpPr txBox="1"/>
          <p:nvPr/>
        </p:nvSpPr>
        <p:spPr>
          <a:xfrm>
            <a:off x="378696" y="1268016"/>
            <a:ext cx="52822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You can check if a value was null using: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CCC1A-150B-3F7F-627F-2E57F7DAE274}"/>
              </a:ext>
            </a:extLst>
          </p:cNvPr>
          <p:cNvSpPr txBox="1"/>
          <p:nvPr/>
        </p:nvSpPr>
        <p:spPr>
          <a:xfrm>
            <a:off x="378696" y="3141476"/>
            <a:ext cx="214513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To insert null: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1E4C13-029F-BC21-179A-3F2C932E2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029" y="3013658"/>
            <a:ext cx="5829300" cy="1723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39A381-3677-58BB-27E9-C148D0DBDE03}"/>
              </a:ext>
            </a:extLst>
          </p:cNvPr>
          <p:cNvSpPr txBox="1"/>
          <p:nvPr/>
        </p:nvSpPr>
        <p:spPr>
          <a:xfrm>
            <a:off x="628650" y="4673065"/>
            <a:ext cx="781335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Important when working with </a:t>
            </a:r>
            <a:r>
              <a:rPr lang="en-IN" sz="2100" b="1" dirty="0"/>
              <a:t>optional fields</a:t>
            </a:r>
            <a:r>
              <a:rPr lang="en-IN" sz="2100" dirty="0"/>
              <a:t> or missing data.</a:t>
            </a:r>
          </a:p>
        </p:txBody>
      </p:sp>
    </p:spTree>
    <p:extLst>
      <p:ext uri="{BB962C8B-B14F-4D97-AF65-F5344CB8AC3E}">
        <p14:creationId xmlns:p14="http://schemas.microsoft.com/office/powerpoint/2010/main" val="270362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824A-8996-3912-13B1-18E67353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Wrapper Classes for Nullable Columns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9D56F1-705A-DA32-979A-F175549A9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715468"/>
            <a:ext cx="7886700" cy="18587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ECB83-8544-F621-2A9A-D4211A2D7C57}"/>
              </a:ext>
            </a:extLst>
          </p:cNvPr>
          <p:cNvSpPr txBox="1"/>
          <p:nvPr/>
        </p:nvSpPr>
        <p:spPr>
          <a:xfrm>
            <a:off x="499820" y="1369219"/>
            <a:ext cx="894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Prefer Integer, Double, Long over primitives (int, double, long) if values can be null.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34BD4-2F4D-15DB-D124-19726385A9F5}"/>
              </a:ext>
            </a:extLst>
          </p:cNvPr>
          <p:cNvSpPr txBox="1"/>
          <p:nvPr/>
        </p:nvSpPr>
        <p:spPr>
          <a:xfrm>
            <a:off x="499821" y="3661475"/>
            <a:ext cx="6506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Helps avoid NullPointerException and improves null safety.</a:t>
            </a:r>
          </a:p>
        </p:txBody>
      </p:sp>
    </p:spTree>
    <p:extLst>
      <p:ext uri="{BB962C8B-B14F-4D97-AF65-F5344CB8AC3E}">
        <p14:creationId xmlns:p14="http://schemas.microsoft.com/office/powerpoint/2010/main" val="1224216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FF34-5496-4D21-79D4-AB76BF7C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for JDBC Type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5B1DB-F8D4-F2C2-0855-90EFA6274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1636445"/>
          </a:xfrm>
        </p:spPr>
        <p:txBody>
          <a:bodyPr/>
          <a:lstStyle/>
          <a:p>
            <a:pPr>
              <a:buNone/>
            </a:pPr>
            <a:r>
              <a:rPr lang="en-IN" dirty="0"/>
              <a:t>✅ Always match </a:t>
            </a:r>
            <a:r>
              <a:rPr lang="en-IN" b="1" dirty="0"/>
              <a:t>SQL column type</a:t>
            </a:r>
            <a:r>
              <a:rPr lang="en-IN" dirty="0"/>
              <a:t> with correct get/set method.</a:t>
            </a:r>
          </a:p>
          <a:p>
            <a:pPr>
              <a:buNone/>
            </a:pPr>
            <a:r>
              <a:rPr lang="en-IN" dirty="0"/>
              <a:t>✅ Use </a:t>
            </a:r>
            <a:r>
              <a:rPr lang="en-IN" b="1" dirty="0"/>
              <a:t>parameterized queries</a:t>
            </a:r>
            <a:r>
              <a:rPr lang="en-IN" dirty="0"/>
              <a:t> to handle data securely.</a:t>
            </a:r>
          </a:p>
          <a:p>
            <a:pPr>
              <a:buNone/>
            </a:pPr>
            <a:r>
              <a:rPr lang="en-IN" dirty="0"/>
              <a:t>✅ Handle </a:t>
            </a:r>
            <a:r>
              <a:rPr lang="en-IN" b="1" dirty="0"/>
              <a:t>nulls explicitly</a:t>
            </a:r>
            <a:r>
              <a:rPr lang="en-IN" dirty="0"/>
              <a:t> – don’t assume default values.</a:t>
            </a:r>
          </a:p>
          <a:p>
            <a:pPr>
              <a:buNone/>
            </a:pPr>
            <a:r>
              <a:rPr lang="en-IN" dirty="0"/>
              <a:t>✅ Use ResultSetMetaData for dynamic type handling if needed.</a:t>
            </a:r>
          </a:p>
        </p:txBody>
      </p:sp>
    </p:spTree>
    <p:extLst>
      <p:ext uri="{BB962C8B-B14F-4D97-AF65-F5344CB8AC3E}">
        <p14:creationId xmlns:p14="http://schemas.microsoft.com/office/powerpoint/2010/main" val="1871050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1759-E651-6CF9-94CC-484F5F6DA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329791"/>
            <a:ext cx="8520600" cy="2052600"/>
          </a:xfrm>
        </p:spPr>
        <p:txBody>
          <a:bodyPr/>
          <a:lstStyle/>
          <a:p>
            <a:r>
              <a:rPr lang="en-IN" dirty="0"/>
              <a:t>Handling JDBC Exceptions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25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1E13-3839-D202-A54B-81FE753A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SQLException?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84C03-0570-DA82-5780-1CB0FE772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i="1" dirty="0"/>
              <a:t>SQLException</a:t>
            </a:r>
            <a:r>
              <a:rPr lang="en-IN" dirty="0"/>
              <a:t> is the </a:t>
            </a:r>
            <a:r>
              <a:rPr lang="en-IN" b="1" dirty="0"/>
              <a:t>base class for all JDBC exceptions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Thrown when:</a:t>
            </a:r>
          </a:p>
          <a:p>
            <a:pPr marL="0" indent="0">
              <a:buNone/>
            </a:pPr>
            <a:r>
              <a:rPr lang="en-IN" dirty="0"/>
              <a:t>✅ Query is invalid</a:t>
            </a:r>
          </a:p>
          <a:p>
            <a:pPr marL="0" indent="0">
              <a:buNone/>
            </a:pPr>
            <a:r>
              <a:rPr lang="en-IN" dirty="0"/>
              <a:t>✅ Database is unreachable</a:t>
            </a:r>
          </a:p>
          <a:p>
            <a:pPr marL="0" indent="0">
              <a:buNone/>
            </a:pPr>
            <a:r>
              <a:rPr lang="en-IN" dirty="0"/>
              <a:t>✅ Driver fails to connect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All JDBC operations that interact with the DB can throw this.</a:t>
            </a:r>
          </a:p>
        </p:txBody>
      </p:sp>
    </p:spTree>
    <p:extLst>
      <p:ext uri="{BB962C8B-B14F-4D97-AF65-F5344CB8AC3E}">
        <p14:creationId xmlns:p14="http://schemas.microsoft.com/office/powerpoint/2010/main" val="3074996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80FE-455D-2ED3-4032-35D5D4D6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Causes of SQLException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D7203-2992-F994-5549-4B7ED59E6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Incorrect SQL syntax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Missing table or column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Wrong database URL or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Constraint violations (e.g., duplicate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Network or driver issues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These are typically </a:t>
            </a:r>
            <a:r>
              <a:rPr lang="en-IN" b="1" dirty="0"/>
              <a:t>runtime issues</a:t>
            </a:r>
            <a:r>
              <a:rPr lang="en-IN" dirty="0"/>
              <a:t>, not compile-time.</a:t>
            </a:r>
          </a:p>
        </p:txBody>
      </p:sp>
    </p:spTree>
    <p:extLst>
      <p:ext uri="{BB962C8B-B14F-4D97-AF65-F5344CB8AC3E}">
        <p14:creationId xmlns:p14="http://schemas.microsoft.com/office/powerpoint/2010/main" val="2996961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E14B-DD62-5C11-9837-249F50B4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Basic Exception Handling Structure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90821B-AC7E-20E7-A7DD-EA86614C1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149" y="1055378"/>
            <a:ext cx="7481703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6CF984-9E1A-9050-38F4-5347823F7BB1}"/>
              </a:ext>
            </a:extLst>
          </p:cNvPr>
          <p:cNvSpPr txBox="1"/>
          <p:nvPr/>
        </p:nvSpPr>
        <p:spPr>
          <a:xfrm>
            <a:off x="831149" y="4405393"/>
            <a:ext cx="51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Enclose </a:t>
            </a:r>
            <a:r>
              <a:rPr lang="en-IN" sz="1800" b="1" dirty="0"/>
              <a:t>all DB code inside try-catch</a:t>
            </a:r>
            <a:r>
              <a:rPr lang="en-IN" sz="1800" dirty="0"/>
              <a:t> blocks.</a:t>
            </a:r>
          </a:p>
        </p:txBody>
      </p:sp>
    </p:spTree>
    <p:extLst>
      <p:ext uri="{BB962C8B-B14F-4D97-AF65-F5344CB8AC3E}">
        <p14:creationId xmlns:p14="http://schemas.microsoft.com/office/powerpoint/2010/main" val="3102656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4D2D-44D8-9FDB-DA3B-B84194D3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Useful SQLException Methods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BEC562-D76B-F41E-97A2-6F8E891E38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61304" y="1380842"/>
          <a:ext cx="5421392" cy="17145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38676">
                  <a:extLst>
                    <a:ext uri="{9D8B030D-6E8A-4147-A177-3AD203B41FA5}">
                      <a16:colId xmlns:a16="http://schemas.microsoft.com/office/drawing/2014/main" val="1789894981"/>
                    </a:ext>
                  </a:extLst>
                </a:gridCol>
                <a:gridCol w="2682716">
                  <a:extLst>
                    <a:ext uri="{9D8B030D-6E8A-4147-A177-3AD203B41FA5}">
                      <a16:colId xmlns:a16="http://schemas.microsoft.com/office/drawing/2014/main" val="34419843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2697275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getMessage()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Gets error 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9556457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getErrorCode()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Vendor-specific code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4482987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getSQLState()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Standard SQL state string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4088588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getNextException()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Gets chained exceptions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052854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6EA3E1-E7EC-D7DF-E089-F0C13BD9D941}"/>
              </a:ext>
            </a:extLst>
          </p:cNvPr>
          <p:cNvSpPr txBox="1"/>
          <p:nvPr/>
        </p:nvSpPr>
        <p:spPr>
          <a:xfrm>
            <a:off x="732295" y="3429000"/>
            <a:ext cx="6763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Use these to log and troubleshoot </a:t>
            </a:r>
            <a:r>
              <a:rPr lang="en-IN" sz="1800" b="1" dirty="0"/>
              <a:t>specific database issues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9277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8581-BF15-CE51-47C0-7D720E5B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Chained Exceptions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DE21AB-1D8E-0E64-2FFD-04AD75ACF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778" y="1102655"/>
            <a:ext cx="6962445" cy="2938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7253B7-FC3E-114A-97E6-37880612F445}"/>
              </a:ext>
            </a:extLst>
          </p:cNvPr>
          <p:cNvSpPr txBox="1"/>
          <p:nvPr/>
        </p:nvSpPr>
        <p:spPr>
          <a:xfrm>
            <a:off x="628650" y="4184542"/>
            <a:ext cx="789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Useful when </a:t>
            </a:r>
            <a:r>
              <a:rPr lang="en-IN" sz="1800" b="1" dirty="0"/>
              <a:t>multiple SQL errors occur together</a:t>
            </a:r>
            <a:r>
              <a:rPr lang="en-IN" sz="1800" dirty="0"/>
              <a:t> (e.g., batch updates).</a:t>
            </a:r>
          </a:p>
        </p:txBody>
      </p:sp>
    </p:spTree>
    <p:extLst>
      <p:ext uri="{BB962C8B-B14F-4D97-AF65-F5344CB8AC3E}">
        <p14:creationId xmlns:p14="http://schemas.microsoft.com/office/powerpoint/2010/main" val="1857390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D36E-B076-A492-FA5D-16D8FD47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Handling Duplicate Key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FE3A30-0C90-896E-E61B-53DE4A6D2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89122"/>
            <a:ext cx="7886700" cy="29652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2BD46F-60BB-A6FC-E981-76D31D13513A}"/>
              </a:ext>
            </a:extLst>
          </p:cNvPr>
          <p:cNvSpPr txBox="1"/>
          <p:nvPr/>
        </p:nvSpPr>
        <p:spPr>
          <a:xfrm>
            <a:off x="871780" y="4300780"/>
            <a:ext cx="60276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Helps provide </a:t>
            </a:r>
            <a:r>
              <a:rPr lang="en-IN" sz="2100" b="1" dirty="0"/>
              <a:t>user-friendly error messages</a:t>
            </a:r>
            <a:r>
              <a:rPr lang="en-IN" sz="2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6226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C4C8-173C-AE12-4EC9-E1615275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for Exception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15A5-7894-E8AC-0104-0A2B4F50F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✅ Always </a:t>
            </a:r>
            <a:r>
              <a:rPr lang="en-IN" b="1" dirty="0"/>
              <a:t>catch SQLException</a:t>
            </a:r>
            <a:r>
              <a:rPr lang="en-IN" dirty="0"/>
              <a:t> specifically.</a:t>
            </a:r>
          </a:p>
          <a:p>
            <a:pPr>
              <a:buNone/>
            </a:pPr>
            <a:r>
              <a:rPr lang="en-IN" dirty="0"/>
              <a:t>✅ Log detailed messages with </a:t>
            </a:r>
            <a:r>
              <a:rPr lang="en-IN" i="1" dirty="0"/>
              <a:t>SQLState</a:t>
            </a:r>
            <a:r>
              <a:rPr lang="en-IN" dirty="0"/>
              <a:t> and </a:t>
            </a:r>
            <a:r>
              <a:rPr lang="en-IN" i="1" dirty="0"/>
              <a:t>ErrorCode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✅ Avoid catching generic </a:t>
            </a:r>
            <a:r>
              <a:rPr lang="en-IN" i="1" dirty="0"/>
              <a:t>Exception</a:t>
            </a:r>
            <a:r>
              <a:rPr lang="en-IN" dirty="0"/>
              <a:t> unless necessary.</a:t>
            </a:r>
          </a:p>
          <a:p>
            <a:pPr>
              <a:buNone/>
            </a:pPr>
            <a:r>
              <a:rPr lang="en-IN" dirty="0"/>
              <a:t>✅ Use </a:t>
            </a:r>
            <a:r>
              <a:rPr lang="en-IN" b="1" dirty="0"/>
              <a:t>finally block or try-with-resources</a:t>
            </a:r>
            <a:r>
              <a:rPr lang="en-IN" dirty="0"/>
              <a:t> to close connections.</a:t>
            </a:r>
          </a:p>
          <a:p>
            <a:pPr>
              <a:buNone/>
            </a:pPr>
            <a:r>
              <a:rPr lang="en-IN" dirty="0"/>
              <a:t>✅ Never expose </a:t>
            </a:r>
            <a:r>
              <a:rPr lang="en-IN" b="1" dirty="0"/>
              <a:t>SQL error messages</a:t>
            </a:r>
            <a:r>
              <a:rPr lang="en-IN" dirty="0"/>
              <a:t> directly to users.</a:t>
            </a:r>
          </a:p>
        </p:txBody>
      </p:sp>
    </p:spTree>
    <p:extLst>
      <p:ext uri="{BB962C8B-B14F-4D97-AF65-F5344CB8AC3E}">
        <p14:creationId xmlns:p14="http://schemas.microsoft.com/office/powerpoint/2010/main" val="799396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59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2038</TotalTime>
  <Words>1545</Words>
  <Application>Microsoft Macintosh PowerPoint</Application>
  <PresentationFormat>On-screen Show (16:9)</PresentationFormat>
  <Paragraphs>261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Courier New</vt:lpstr>
      <vt:lpstr>Simple Light</vt:lpstr>
      <vt:lpstr>PowerPoint Presentation</vt:lpstr>
      <vt:lpstr>PowerPoint Presentation</vt:lpstr>
      <vt:lpstr>JDBC Overview and Driver Types</vt:lpstr>
      <vt:lpstr>What is JDBC?</vt:lpstr>
      <vt:lpstr>Basic JDBC Workflow</vt:lpstr>
      <vt:lpstr>Example – Basic JDBC Steps</vt:lpstr>
      <vt:lpstr>Types of JDBC Drivers</vt:lpstr>
      <vt:lpstr>Type 1 – JDBC-ODBC Bridge</vt:lpstr>
      <vt:lpstr>Type 4 – Thin Driver (Pure Java)</vt:lpstr>
      <vt:lpstr>Best Practices with JDBC Drivers</vt:lpstr>
      <vt:lpstr>Establishing Database Connections in Java</vt:lpstr>
      <vt:lpstr>Required Libraries for JDBC</vt:lpstr>
      <vt:lpstr>Loading the JDBC Driver</vt:lpstr>
      <vt:lpstr>Establishing a Connection</vt:lpstr>
      <vt:lpstr>Complete Example – Connection Setup</vt:lpstr>
      <vt:lpstr>Handling Connection Exceptions</vt:lpstr>
      <vt:lpstr>Connection Properties (Optional)</vt:lpstr>
      <vt:lpstr>Best Practices for Database Connections</vt:lpstr>
      <vt:lpstr>Statement Objects and ResultSet Processing</vt:lpstr>
      <vt:lpstr>What is a Statement in JDBC?</vt:lpstr>
      <vt:lpstr>Creating and Using a Statement</vt:lpstr>
      <vt:lpstr>What is a ResultSet?</vt:lpstr>
      <vt:lpstr>Column Access with ResultSet</vt:lpstr>
      <vt:lpstr>Using PreparedStatement (Better Practice)</vt:lpstr>
      <vt:lpstr>Inserting Data Using executeUpdate()</vt:lpstr>
      <vt:lpstr>Best Practices</vt:lpstr>
      <vt:lpstr>Metadata in JDBC</vt:lpstr>
      <vt:lpstr>What is Metadata in JDBC?</vt:lpstr>
      <vt:lpstr>Using DatabaseMetaData</vt:lpstr>
      <vt:lpstr>Listing All Tables in a Database</vt:lpstr>
      <vt:lpstr>What is ResultSetMetaData?</vt:lpstr>
      <vt:lpstr>Accessing Column Info with ResultSetMetaData</vt:lpstr>
      <vt:lpstr>Practical Use Cases of Metadata</vt:lpstr>
      <vt:lpstr>Best Practices with Metadata</vt:lpstr>
      <vt:lpstr>Transaction Management in Java</vt:lpstr>
      <vt:lpstr>What is a Transaction?</vt:lpstr>
      <vt:lpstr>Default Behavior in JDBC</vt:lpstr>
      <vt:lpstr>Disabling Auto-Commit</vt:lpstr>
      <vt:lpstr>Performing Commit and Rollback</vt:lpstr>
      <vt:lpstr>When to Use Transactions</vt:lpstr>
      <vt:lpstr>Savepoints in Transactions (Optional)</vt:lpstr>
      <vt:lpstr>Best Practices for Transaction Management</vt:lpstr>
      <vt:lpstr>Data Types in JDBC</vt:lpstr>
      <vt:lpstr>Overview of JDBC Type Mapping</vt:lpstr>
      <vt:lpstr>Common SQL–Java Type Mappings</vt:lpstr>
      <vt:lpstr>Example – Retrieving and Setting Values</vt:lpstr>
      <vt:lpstr>Working with Dates in JDBC</vt:lpstr>
      <vt:lpstr>Handling Null Values</vt:lpstr>
      <vt:lpstr>Using Wrapper Classes for Nullable Columns</vt:lpstr>
      <vt:lpstr>Best Practices for JDBC Type Handling</vt:lpstr>
      <vt:lpstr>Handling JDBC Exceptions</vt:lpstr>
      <vt:lpstr>What is a SQLException?</vt:lpstr>
      <vt:lpstr>Common Causes of SQLException</vt:lpstr>
      <vt:lpstr>Basic Exception Handling Structure</vt:lpstr>
      <vt:lpstr>Useful SQLException Methods</vt:lpstr>
      <vt:lpstr>Handling Chained Exceptions</vt:lpstr>
      <vt:lpstr>Example – Handling Duplicate Key</vt:lpstr>
      <vt:lpstr>Best Practices for Exception Handling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35</cp:revision>
  <dcterms:modified xsi:type="dcterms:W3CDTF">2026-02-03T10:14:49Z</dcterms:modified>
</cp:coreProperties>
</file>