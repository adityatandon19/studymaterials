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352" r:id="rId3"/>
    <p:sldId id="351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35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5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58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F939A168-CF76-2745-9191-A75F5C748C8C}">
          <p14:sldIdLst>
            <p14:sldId id="256"/>
            <p14:sldId id="352"/>
          </p14:sldIdLst>
        </p14:section>
        <p14:section name="Classes in Java" id="{239EC36C-4D0A-8F47-9725-9D0DFE14D7C1}">
          <p14:sldIdLst>
            <p14:sldId id="351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  <p14:sldId id="268"/>
          </p14:sldIdLst>
        </p14:section>
        <p14:section name="Objects in Java" id="{B1858321-9757-8149-AB10-40F89A9AD0FF}">
          <p14:sldIdLst>
            <p14:sldId id="353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Methods in Java" id="{4980E5CC-712A-9C43-8382-818BC292FBE8}">
          <p14:sldIdLst>
            <p14:sldId id="354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C5F3F1-CEAC-D446-94CA-DE3077C58559}" v="5" dt="2025-05-04T10:19:3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65C5F3F1-CEAC-D446-94CA-DE3077C58559}"/>
    <pc:docChg chg="custSel modSld">
      <pc:chgData name="Aditya Hare Krishna" userId="de62b921b3c41f8c" providerId="LiveId" clId="{65C5F3F1-CEAC-D446-94CA-DE3077C58559}" dt="2025-05-04T10:19:45.293" v="21" actId="1076"/>
      <pc:docMkLst>
        <pc:docMk/>
      </pc:docMkLst>
      <pc:sldChg chg="addSp delSp modSp mod">
        <pc:chgData name="Aditya Hare Krishna" userId="de62b921b3c41f8c" providerId="LiveId" clId="{65C5F3F1-CEAC-D446-94CA-DE3077C58559}" dt="2025-05-04T10:19:45.293" v="21" actId="1076"/>
        <pc:sldMkLst>
          <pc:docMk/>
          <pc:sldMk cId="0" sldId="258"/>
        </pc:sldMkLst>
        <pc:spChg chg="add mod">
          <ac:chgData name="Aditya Hare Krishna" userId="de62b921b3c41f8c" providerId="LiveId" clId="{65C5F3F1-CEAC-D446-94CA-DE3077C58559}" dt="2025-05-04T10:19:45.293" v="21" actId="1076"/>
          <ac:spMkLst>
            <pc:docMk/>
            <pc:sldMk cId="0" sldId="258"/>
            <ac:spMk id="2" creationId="{3C73BF56-E86A-2825-36EB-9472FA64852B}"/>
          </ac:spMkLst>
        </pc:spChg>
        <pc:picChg chg="del">
          <ac:chgData name="Aditya Hare Krishna" userId="de62b921b3c41f8c" providerId="LiveId" clId="{65C5F3F1-CEAC-D446-94CA-DE3077C58559}" dt="2025-05-04T10:19:24.374" v="0" actId="478"/>
          <ac:picMkLst>
            <pc:docMk/>
            <pc:sldMk cId="0" sldId="258"/>
            <ac:picMk id="6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A6EA5-6F86-9847-AB17-177C361D9D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1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FA74-DFAA-39AE-3FC8-7FB7B13E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FA4D-21FF-3478-105E-FD2973646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2C10F-D47A-1998-FC99-4460BA23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663-262E-9143-81F7-034DECEA58A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EE9B-CF5A-0891-5AF1-2FB85B585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8ECF0-C5C5-0294-03AA-38250736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A24F6E-3F2D-614E-AF98-619E386AD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03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3.xml"/><Relationship Id="rId7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3.png"/><Relationship Id="rId10" Type="http://schemas.openxmlformats.org/officeDocument/2006/relationships/image" Target="../media/image410.png"/><Relationship Id="rId4" Type="http://schemas.openxmlformats.org/officeDocument/2006/relationships/image" Target="../media/image210.png"/><Relationship Id="rId9" Type="http://schemas.openxmlformats.org/officeDocument/2006/relationships/slide" Target="slide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2384980"/>
            <a:ext cx="9144000" cy="923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tx1"/>
                </a:solidFill>
              </a:rPr>
              <a:t>Classes, Objects and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85CD6E-8393-D758-6C8F-A38F61271887}"/>
              </a:ext>
            </a:extLst>
          </p:cNvPr>
          <p:cNvSpPr/>
          <p:nvPr/>
        </p:nvSpPr>
        <p:spPr>
          <a:xfrm>
            <a:off x="1876391" y="1291968"/>
            <a:ext cx="53912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32F75BA9-9CC6-DE4C-01D1-850EC50F50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9870494"/>
                  </p:ext>
                </p:extLst>
              </p:nvPr>
            </p:nvGraphicFramePr>
            <p:xfrm>
              <a:off x="2777569" y="322883"/>
              <a:ext cx="3588862" cy="2018735"/>
            </p:xfrm>
            <a:graphic>
              <a:graphicData uri="http://schemas.microsoft.com/office/powerpoint/2016/sectionzoom">
                <psez:sectionZm>
                  <psez:sectionZmObj sectionId="{239EC36C-4D0A-8F47-9725-9D0DFE14D7C1}">
                    <psez:zmPr id="{C50F27B5-6075-DD4F-AD38-19911ED038C9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88862" cy="2018735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2F75BA9-9CC6-DE4C-01D1-850EC50F50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77569" y="322883"/>
                <a:ext cx="3588862" cy="2018735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Section Zoom 5">
                <a:extLst>
                  <a:ext uri="{FF2B5EF4-FFF2-40B4-BE49-F238E27FC236}">
                    <a16:creationId xmlns:a16="http://schemas.microsoft.com/office/drawing/2014/main" id="{A23BF731-60E0-BE1A-1486-A2A6DDB745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0057145"/>
                  </p:ext>
                </p:extLst>
              </p:nvPr>
            </p:nvGraphicFramePr>
            <p:xfrm>
              <a:off x="300928" y="2890437"/>
              <a:ext cx="3588862" cy="2018735"/>
            </p:xfrm>
            <a:graphic>
              <a:graphicData uri="http://schemas.microsoft.com/office/powerpoint/2016/sectionzoom">
                <psez:sectionZm>
                  <psez:sectionZmObj sectionId="{B1858321-9757-8149-AB10-40F89A9AD0FF}">
                    <psez:zmPr id="{21F415DD-5FAC-8143-88BD-71B0875D78ED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88862" cy="2018735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Section Zoom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23BF731-60E0-BE1A-1486-A2A6DDB745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0928" y="2890437"/>
                <a:ext cx="3588862" cy="2018735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981BFA4C-0EDA-F4C3-7299-023AC792DA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70747059"/>
                  </p:ext>
                </p:extLst>
              </p:nvPr>
            </p:nvGraphicFramePr>
            <p:xfrm>
              <a:off x="5254211" y="2890436"/>
              <a:ext cx="3588864" cy="2018736"/>
            </p:xfrm>
            <a:graphic>
              <a:graphicData uri="http://schemas.microsoft.com/office/powerpoint/2016/sectionzoom">
                <psez:sectionZm>
                  <psez:sectionZmObj sectionId="{4980E5CC-712A-9C43-8382-818BC292FBE8}">
                    <psez:zmPr id="{3F72FD1C-0B28-D042-BF80-04D9493EA5C6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88864" cy="2018736"/>
                        </a:xfrm>
                        <a:prstGeom prst="round2DiagRect">
                          <a:avLst>
                            <a:gd name="adj1" fmla="val 16667"/>
                            <a:gd name="adj2" fmla="val 0"/>
                          </a:avLst>
                        </a:prstGeom>
                        <a:ln w="88900" cap="sq">
                          <a:solidFill>
                            <a:schemeClr val="tx1"/>
                          </a:solidFill>
                          <a:miter lim="800000"/>
                        </a:ln>
                        <a:effectLst>
                          <a:outerShdw blurRad="254000" algn="tl" rotWithShape="0">
                            <a:srgbClr val="000000">
                              <a:alpha val="43000"/>
                            </a:srgbClr>
                          </a:outerShdw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981BFA4C-0EDA-F4C3-7299-023AC792DA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54211" y="2890436"/>
                <a:ext cx="3588864" cy="2018736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88900" cap="sq">
                <a:solidFill>
                  <a:schemeClr val="tx1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281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E309-BDEF-0064-5A39-C047D963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Java</a:t>
            </a:r>
          </a:p>
        </p:txBody>
      </p:sp>
    </p:spTree>
    <p:extLst>
      <p:ext uri="{BB962C8B-B14F-4D97-AF65-F5344CB8AC3E}">
        <p14:creationId xmlns:p14="http://schemas.microsoft.com/office/powerpoint/2010/main" val="324297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CB36-4C59-0717-4441-F8F631E8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Class?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CB79-0FF8-17FC-4C16-2218F58C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040992"/>
          </a:xfrm>
        </p:spPr>
        <p:txBody>
          <a:bodyPr/>
          <a:lstStyle/>
          <a:p>
            <a:r>
              <a:rPr lang="en-IN" b="1" dirty="0"/>
              <a:t>Definition:</a:t>
            </a:r>
            <a:endParaRPr lang="en-IN" dirty="0"/>
          </a:p>
          <a:p>
            <a:pPr lvl="1"/>
            <a:r>
              <a:rPr lang="en-IN" dirty="0"/>
              <a:t>A </a:t>
            </a:r>
            <a:r>
              <a:rPr lang="en-IN" b="1" dirty="0"/>
              <a:t>class</a:t>
            </a:r>
            <a:r>
              <a:rPr lang="en-IN" dirty="0"/>
              <a:t> is a blueprint for creating objects.</a:t>
            </a:r>
          </a:p>
          <a:p>
            <a:r>
              <a:rPr lang="en-IN" dirty="0"/>
              <a:t>It defines </a:t>
            </a:r>
            <a:r>
              <a:rPr lang="en-IN" b="1" dirty="0"/>
              <a:t>attributes (variables)</a:t>
            </a:r>
            <a:r>
              <a:rPr lang="en-IN" dirty="0"/>
              <a:t> and </a:t>
            </a:r>
            <a:r>
              <a:rPr lang="en-IN" b="1" dirty="0"/>
              <a:t>behaviors (methods)</a:t>
            </a:r>
            <a:r>
              <a:rPr lang="en-IN" dirty="0"/>
              <a:t>.</a:t>
            </a:r>
          </a:p>
          <a:p>
            <a:r>
              <a:rPr lang="en-IN" dirty="0"/>
              <a:t>Objects are instances of a class.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4AB31-5068-9C21-7D32-247A2B39F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451" y="2748398"/>
            <a:ext cx="6565988" cy="229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9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6480-0DAE-01E3-603E-01642EC5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Components of a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3644-4B6C-68C9-339F-7CDAD6552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5228"/>
            <a:ext cx="7886700" cy="3968272"/>
          </a:xfrm>
        </p:spPr>
        <p:txBody>
          <a:bodyPr/>
          <a:lstStyle/>
          <a:p>
            <a:r>
              <a:rPr lang="en-IN" b="1" dirty="0"/>
              <a:t>Fields (Instance Variables):</a:t>
            </a:r>
            <a:r>
              <a:rPr lang="en-IN" dirty="0"/>
              <a:t> Store data of objects.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Methods:</a:t>
            </a:r>
            <a:r>
              <a:rPr lang="en-IN" dirty="0"/>
              <a:t> Define object behaviours.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Constructors:</a:t>
            </a:r>
            <a:r>
              <a:rPr lang="en-IN" dirty="0"/>
              <a:t> Initialize objects when they are created.</a:t>
            </a:r>
          </a:p>
          <a:p>
            <a:r>
              <a:rPr lang="en-IN" b="1" dirty="0"/>
              <a:t>Objects:</a:t>
            </a:r>
            <a:r>
              <a:rPr lang="en-IN" dirty="0"/>
              <a:t> Instances of a class with real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3110B-7A3A-4C16-69C2-D616DCD39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504" y="1406793"/>
            <a:ext cx="3048000" cy="1362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1A43E7-A95E-3560-DFDE-4A62644E8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372" y="2847620"/>
            <a:ext cx="2654474" cy="136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49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C439-0234-FB38-498E-665EB4AD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and Using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87C5-F2A0-01A1-920D-968EE00D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Creating an Object: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Assigning Values and Calling Methods: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Output: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AF7EC-3233-0631-0B97-D7964D5D4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27" y="802618"/>
            <a:ext cx="4131173" cy="15879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EE32B-45C4-98AB-74B2-38D7D609E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78" y="2236503"/>
            <a:ext cx="3477851" cy="1782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6AE45C-FD14-330F-06DF-94819B623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339" y="3771876"/>
            <a:ext cx="30480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99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C3CD-3519-CFFC-1594-0475BEB7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Class vs. Object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5BBAE8-A099-1F42-08AA-5813838E16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76872" y="1388008"/>
          <a:ext cx="6107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695">
                  <a:extLst>
                    <a:ext uri="{9D8B030D-6E8A-4147-A177-3AD203B41FA5}">
                      <a16:colId xmlns:a16="http://schemas.microsoft.com/office/drawing/2014/main" val="4224657271"/>
                    </a:ext>
                  </a:extLst>
                </a:gridCol>
                <a:gridCol w="1982244">
                  <a:extLst>
                    <a:ext uri="{9D8B030D-6E8A-4147-A177-3AD203B41FA5}">
                      <a16:colId xmlns:a16="http://schemas.microsoft.com/office/drawing/2014/main" val="1327436038"/>
                    </a:ext>
                  </a:extLst>
                </a:gridCol>
                <a:gridCol w="2602283">
                  <a:extLst>
                    <a:ext uri="{9D8B030D-6E8A-4147-A177-3AD203B41FA5}">
                      <a16:colId xmlns:a16="http://schemas.microsoft.com/office/drawing/2014/main" val="357292893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Class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Object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98966336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Definition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Blueprint / template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Instance of a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442774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Memory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No memory allocated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Memory allocated when created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435992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Example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</a:t>
                      </a:r>
                      <a:r>
                        <a:rPr lang="en-US" sz="1100" dirty="0"/>
                        <a:t> 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myCar</a:t>
                      </a:r>
                      <a:r>
                        <a:rPr lang="en-US" sz="1100" dirty="0"/>
                        <a:t> object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90385830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F071148-6A5D-44CA-A7CF-43C93BF8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97" y="2853146"/>
            <a:ext cx="6162797" cy="21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97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C624-AB76-BE56-9EC3-1940E20C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Modifiers in a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AF587-D15D-81F8-5E53-CF291E5B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190739" cy="2914682"/>
          </a:xfrm>
        </p:spPr>
        <p:txBody>
          <a:bodyPr/>
          <a:lstStyle/>
          <a:p>
            <a:r>
              <a:rPr lang="en-IN" b="1" dirty="0"/>
              <a:t>Control the visibility of variables and methods:</a:t>
            </a:r>
            <a:endParaRPr lang="en-IN" dirty="0"/>
          </a:p>
          <a:p>
            <a:pPr lvl="1"/>
            <a:r>
              <a:rPr lang="en-IN" dirty="0"/>
              <a:t>public: Accessible from anywhere.</a:t>
            </a:r>
          </a:p>
          <a:p>
            <a:pPr lvl="1"/>
            <a:r>
              <a:rPr lang="en-IN" dirty="0"/>
              <a:t>private: Accessible only within the class.</a:t>
            </a:r>
          </a:p>
          <a:p>
            <a:pPr lvl="1"/>
            <a:r>
              <a:rPr lang="en-IN" dirty="0"/>
              <a:t>protected: Accessible within the same package and subclasses.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80E67-C1C3-A6FF-50F3-77635EA44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431" y="1174315"/>
            <a:ext cx="4225570" cy="310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88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FA98-1DB1-0A7F-C46A-034FAF80D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Real-World Example of a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8FE86-0E48-D77B-CAA9-911478C60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538712"/>
          </a:xfrm>
        </p:spPr>
        <p:txBody>
          <a:bodyPr/>
          <a:lstStyle/>
          <a:p>
            <a:r>
              <a:rPr lang="en-IN" b="1" dirty="0"/>
              <a:t>Example: Defining a Student Class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37484-593D-C729-F73A-3C910008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12" y="1784838"/>
            <a:ext cx="8823188" cy="26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81826-BD17-D00E-EB0C-220F5CDD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356F-A0A5-4DE8-5B7C-0799A3B2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Real-World Example of a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ABBB2-BEFC-E56C-E174-9D6F4E0C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358720"/>
          </a:xfrm>
        </p:spPr>
        <p:txBody>
          <a:bodyPr/>
          <a:lstStyle/>
          <a:p>
            <a:r>
              <a:rPr lang="en-IN" b="1" dirty="0"/>
              <a:t>Creating and Using Objects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Output: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859E6-1ECB-EABC-8AE1-8509785FF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143" y="1134208"/>
            <a:ext cx="4795408" cy="24925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8162E8-ED34-677C-E25A-E88BF0E7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90" y="3512755"/>
            <a:ext cx="4985665" cy="14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03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9F7B-D638-7385-7886-E68270D6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A968-7107-168A-FFBF-1AA12D61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Forgetting to Initialize Objects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Correct Way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8585D-DA3B-DD16-1A6D-E8AD911C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356" y="1505752"/>
            <a:ext cx="4368311" cy="15462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AB72DB-58FF-E2B3-83FC-77D93A98C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67" y="3405238"/>
            <a:ext cx="48387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1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18CD6-96B8-EA50-156B-3E5FEA3F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A707-6868-04D5-FA6A-D3BB0916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D454-E443-C775-7434-9E0195BC6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Using private Variables Without Getters/Setters: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A66E3-471D-BF20-B083-114A7B42B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654" y="1568054"/>
            <a:ext cx="4591049" cy="166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046ECC-2E1A-E517-CB7A-4830C3E21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501" y="3190875"/>
            <a:ext cx="501967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28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C7890-44A2-F301-D15B-46AF80D4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501F-311E-D741-EC33-72CCEF50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in Java</a:t>
            </a:r>
          </a:p>
        </p:txBody>
      </p:sp>
    </p:spTree>
    <p:extLst>
      <p:ext uri="{BB962C8B-B14F-4D97-AF65-F5344CB8AC3E}">
        <p14:creationId xmlns:p14="http://schemas.microsoft.com/office/powerpoint/2010/main" val="2723530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4F88-58E9-0FC5-4DFF-84AA075B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Object?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877B-B230-581F-381B-577E483C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</a:t>
            </a:r>
            <a:r>
              <a:rPr lang="en-IN" b="1" dirty="0"/>
              <a:t>object</a:t>
            </a:r>
            <a:r>
              <a:rPr lang="en-IN" dirty="0"/>
              <a:t> is an instance of a class containing </a:t>
            </a:r>
            <a:r>
              <a:rPr lang="en-IN" b="1" dirty="0"/>
              <a:t>state (variables)</a:t>
            </a:r>
            <a:r>
              <a:rPr lang="en-IN" dirty="0"/>
              <a:t> and </a:t>
            </a:r>
            <a:r>
              <a:rPr lang="en-IN" b="1" dirty="0"/>
              <a:t>behavior (methods)</a:t>
            </a:r>
            <a:r>
              <a:rPr lang="en-IN" dirty="0"/>
              <a:t>.</a:t>
            </a:r>
          </a:p>
          <a:p>
            <a:r>
              <a:rPr lang="en-IN" dirty="0"/>
              <a:t>Objects are created using the </a:t>
            </a:r>
            <a:r>
              <a:rPr lang="en-IN" b="1" dirty="0"/>
              <a:t>new</a:t>
            </a:r>
            <a:r>
              <a:rPr lang="en-IN" dirty="0"/>
              <a:t> keyword.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7D18D-AD64-B6AD-E3BE-95B6F00E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91" y="2301726"/>
            <a:ext cx="4653419" cy="27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34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CA88-67F0-7D0C-16DC-E6A55FDC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Declaring an Object in Java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EB685-C146-866C-D41F-0AE8674C1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1616641" cy="3263504"/>
          </a:xfrm>
        </p:spPr>
        <p:txBody>
          <a:bodyPr/>
          <a:lstStyle/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32C91-97C0-B7E9-85EC-94FD79872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008" y="1242257"/>
            <a:ext cx="5064430" cy="1438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90C4DD-E277-9E08-600A-577E068F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181930"/>
            <a:ext cx="4762573" cy="1733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1E4F73-CBD2-149A-4412-9536630EA66A}"/>
              </a:ext>
            </a:extLst>
          </p:cNvPr>
          <p:cNvSpPr txBox="1"/>
          <p:nvPr/>
        </p:nvSpPr>
        <p:spPr>
          <a:xfrm>
            <a:off x="5391223" y="3809942"/>
            <a:ext cx="36255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Breaking it Down:</a:t>
            </a:r>
            <a:endParaRPr lang="en-IN" sz="1050" dirty="0"/>
          </a:p>
          <a:p>
            <a:r>
              <a:rPr lang="en-IN" sz="1050" dirty="0"/>
              <a:t>• Student → Class name</a:t>
            </a:r>
          </a:p>
          <a:p>
            <a:r>
              <a:rPr lang="en-IN" sz="1050" dirty="0"/>
              <a:t>• s1 → Reference variable</a:t>
            </a:r>
          </a:p>
          <a:p>
            <a:r>
              <a:rPr lang="en-IN" sz="1050" dirty="0"/>
              <a:t>• new Student() → Creates an object in memory</a:t>
            </a:r>
          </a:p>
        </p:txBody>
      </p:sp>
    </p:spTree>
    <p:extLst>
      <p:ext uri="{BB962C8B-B14F-4D97-AF65-F5344CB8AC3E}">
        <p14:creationId xmlns:p14="http://schemas.microsoft.com/office/powerpoint/2010/main" val="988929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86A0-5DE6-57DF-0FB9-33A223A1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Reference Variables vs. Objects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1908D1-515A-C728-7091-CEA874A3DA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24485" y="1488966"/>
          <a:ext cx="6304507" cy="139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42">
                  <a:extLst>
                    <a:ext uri="{9D8B030D-6E8A-4147-A177-3AD203B41FA5}">
                      <a16:colId xmlns:a16="http://schemas.microsoft.com/office/drawing/2014/main" val="3038035207"/>
                    </a:ext>
                  </a:extLst>
                </a:gridCol>
                <a:gridCol w="2931091">
                  <a:extLst>
                    <a:ext uri="{9D8B030D-6E8A-4147-A177-3AD203B41FA5}">
                      <a16:colId xmlns:a16="http://schemas.microsoft.com/office/drawing/2014/main" val="3855475674"/>
                    </a:ext>
                  </a:extLst>
                </a:gridCol>
                <a:gridCol w="2273474">
                  <a:extLst>
                    <a:ext uri="{9D8B030D-6E8A-4147-A177-3AD203B41FA5}">
                      <a16:colId xmlns:a16="http://schemas.microsoft.com/office/drawing/2014/main" val="138868500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Feature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Reference Variable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Object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7302113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Definition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Stores memory address of an object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Actual instance of a class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6486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Created in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/>
                        <a:t>Stack Memory</a:t>
                      </a:r>
                      <a:endParaRPr lang="en-IN" sz="11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/>
                        <a:t>Heap Memory</a:t>
                      </a:r>
                      <a:endParaRPr lang="en-IN" sz="11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353561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Example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 myCar;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Car();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62460065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Access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Methods &amp; properties via reference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Exists independently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0860981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9499534-8D01-3A0C-E684-A90DDDA76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15" y="3100567"/>
            <a:ext cx="6644846" cy="19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5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97EA-9EB7-5259-A5B8-9C52E1371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Multiple Reference Variables for One Object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A4688-D6A2-8F49-3610-300F122BA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Two or more variables can refer to the same object: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Memory Representation:</a:t>
            </a:r>
            <a:endParaRPr lang="en-IN" dirty="0"/>
          </a:p>
          <a:p>
            <a:pPr lvl="1"/>
            <a:r>
              <a:rPr lang="en-IN" dirty="0"/>
              <a:t>car1 and car2 both point to the same object in </a:t>
            </a:r>
            <a:r>
              <a:rPr lang="en-IN" b="1" dirty="0"/>
              <a:t>heap memory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51963-C3E4-A96D-0CFC-EEFFC94F5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586" y="1554684"/>
            <a:ext cx="7050827" cy="154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98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F6B7-A5DA-38BA-FB05-49B5D4DE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Happens When Reference is Null?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7305A-F7EA-CAD5-D1D2-399080BA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127044" cy="3263504"/>
          </a:xfrm>
        </p:spPr>
        <p:txBody>
          <a:bodyPr/>
          <a:lstStyle/>
          <a:p>
            <a:r>
              <a:rPr lang="en-IN" b="1" dirty="0"/>
              <a:t>A reference variable can be null, meaning it points to no object.</a:t>
            </a:r>
            <a:endParaRPr lang="en-IN" dirty="0"/>
          </a:p>
          <a:p>
            <a:r>
              <a:rPr lang="en-IN" b="1" dirty="0"/>
              <a:t>Example: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b="1" dirty="0"/>
              <a:t>Solution:</a:t>
            </a:r>
            <a:endParaRPr lang="en-IN" dirty="0"/>
          </a:p>
          <a:p>
            <a:pPr lvl="1"/>
            <a:r>
              <a:rPr lang="en-IN" dirty="0"/>
              <a:t>Always </a:t>
            </a:r>
            <a:r>
              <a:rPr lang="en-IN" b="1" dirty="0"/>
              <a:t>initialize</a:t>
            </a:r>
            <a:r>
              <a:rPr lang="en-IN" dirty="0"/>
              <a:t> an object before accessing its properties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51DF2-3A9D-E48D-B73B-59917A0F8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665" y="1712217"/>
            <a:ext cx="5133975" cy="1362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8ED809-BDB8-497A-3C25-32004A664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712" y="3781425"/>
            <a:ext cx="354361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72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E09C-6CC9-21F7-347C-034986718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Garbage Collection and Unused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C52EE-E483-A204-AE64-67E0D87CF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If an object has no reference variables pointing to it, it becomes eligible for garbage collection.</a:t>
            </a:r>
            <a:endParaRPr lang="en-IN" dirty="0"/>
          </a:p>
          <a:p>
            <a:r>
              <a:rPr lang="en-IN" b="1" dirty="0"/>
              <a:t>Example: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Memory Management in Java:</a:t>
            </a:r>
            <a:endParaRPr lang="en-IN" dirty="0"/>
          </a:p>
          <a:p>
            <a:pPr lvl="1"/>
            <a:r>
              <a:rPr lang="en-IN" b="1" dirty="0"/>
              <a:t>Garbage Collector (GC)</a:t>
            </a:r>
            <a:r>
              <a:rPr lang="en-IN" dirty="0"/>
              <a:t> automatically removes unused objects to free memory.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472368-0E91-2A46-87C8-E09A68764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786" y="1793211"/>
            <a:ext cx="5890758" cy="155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05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8FFBA-A8B6-3563-98F6-8C207D5B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Object 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5979-78D0-45A5-A500-A3B54536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024003"/>
            <a:ext cx="4594703" cy="3917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Using an Uninitialized Object Reference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Solution: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Overwriting References Unintentionally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Solution:</a:t>
            </a:r>
            <a:r>
              <a:rPr lang="en-IN" dirty="0"/>
              <a:t> Track object references carefully.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9BACF-0177-4260-0D5E-2FD7D0AA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544" y="879881"/>
            <a:ext cx="4227926" cy="1244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736EFD-736F-3CAE-3C3F-09A2F828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282" y="1985963"/>
            <a:ext cx="5362575" cy="1171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D51071-A062-57D1-D6DD-EE944B70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249" y="3019601"/>
            <a:ext cx="41243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01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5DC5-055B-4602-763A-FAA86110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7609F-0777-D894-B5DB-99511DABB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Java</a:t>
            </a:r>
          </a:p>
        </p:txBody>
      </p:sp>
    </p:spTree>
    <p:extLst>
      <p:ext uri="{BB962C8B-B14F-4D97-AF65-F5344CB8AC3E}">
        <p14:creationId xmlns:p14="http://schemas.microsoft.com/office/powerpoint/2010/main" val="3853263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07C9-1DE1-DABF-6F43-4E625C4C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 Method?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78A4-A15F-1665-B033-EC2FB757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994172"/>
          </a:xfrm>
        </p:spPr>
        <p:txBody>
          <a:bodyPr/>
          <a:lstStyle/>
          <a:p>
            <a:r>
              <a:rPr lang="en-IN" dirty="0"/>
              <a:t>A method is a block of code that performs a </a:t>
            </a:r>
            <a:r>
              <a:rPr lang="en-IN" b="1" dirty="0"/>
              <a:t>specific task</a:t>
            </a:r>
            <a:r>
              <a:rPr lang="en-IN" dirty="0"/>
              <a:t>.</a:t>
            </a:r>
          </a:p>
          <a:p>
            <a:r>
              <a:rPr lang="en-IN" dirty="0"/>
              <a:t>It helps in </a:t>
            </a:r>
            <a:r>
              <a:rPr lang="en-IN" b="1" dirty="0"/>
              <a:t>code reusability and modularization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C9EE7-12FC-68AB-55E8-3E88F71E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11" y="1999060"/>
            <a:ext cx="4550872" cy="184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15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0003-1879-1F5A-7D11-FA7C5D71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Types of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ACD2B-ACAC-0549-723C-ECEC266DB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383631"/>
          </a:xfrm>
        </p:spPr>
        <p:txBody>
          <a:bodyPr/>
          <a:lstStyle/>
          <a:p>
            <a:r>
              <a:rPr lang="en-IN" b="1" dirty="0"/>
              <a:t>Void Methods (Do not return a value)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Methods Returning a Value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AEEA5-F65E-1E3D-C7EB-5405F2C0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500" y="1666192"/>
            <a:ext cx="41148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574DD-FD85-2142-32C9-8D87C6EFE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175" y="3323294"/>
            <a:ext cx="30480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39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4364-4328-F33D-B0B3-DA768E5F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Calling a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203F-3EC8-90D7-9132-C59AE0F44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745581"/>
          </a:xfrm>
        </p:spPr>
        <p:txBody>
          <a:bodyPr/>
          <a:lstStyle/>
          <a:p>
            <a:r>
              <a:rPr lang="en-US" dirty="0"/>
              <a:t>A method must be called to execute.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894CE-8E58-96C6-87FC-91FD017BC32B}"/>
              </a:ext>
            </a:extLst>
          </p:cNvPr>
          <p:cNvSpPr txBox="1"/>
          <p:nvPr/>
        </p:nvSpPr>
        <p:spPr>
          <a:xfrm>
            <a:off x="1618313" y="3711844"/>
            <a:ext cx="1637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Method called!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3FE19-B232-64F8-7EBB-ECF8EFE30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307" y="1634933"/>
            <a:ext cx="4586993" cy="335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33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0295-5DAE-0DDF-A8F8-FBF6B218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Returning a Value from a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882A-1275-1395-1FC9-A5FC6FCAB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0243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Example of a method that returns a value: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6790F-4098-CF1E-C99A-D438B36C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609726"/>
            <a:ext cx="4895850" cy="3524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AF49D-FD49-8548-911B-E3A813485DA0}"/>
              </a:ext>
            </a:extLst>
          </p:cNvPr>
          <p:cNvSpPr txBox="1"/>
          <p:nvPr/>
        </p:nvSpPr>
        <p:spPr>
          <a:xfrm>
            <a:off x="7086601" y="3714750"/>
            <a:ext cx="8451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r>
              <a:rPr lang="en-US" sz="1050" dirty="0"/>
              <a:t>Square: 25</a:t>
            </a:r>
          </a:p>
        </p:txBody>
      </p:sp>
    </p:spTree>
    <p:extLst>
      <p:ext uri="{BB962C8B-B14F-4D97-AF65-F5344CB8AC3E}">
        <p14:creationId xmlns:p14="http://schemas.microsoft.com/office/powerpoint/2010/main" val="2793610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BF20-CCA4-89DB-5D61-54288FA3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538" y="154983"/>
            <a:ext cx="6902761" cy="86274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 Overloading (Multiple Methods with Same Name)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38F7-910F-D9B5-CF8B-6BC269B53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Two or more methods with the same name but different parameters.</a:t>
            </a:r>
            <a:endParaRPr lang="en-IN" dirty="0"/>
          </a:p>
          <a:p>
            <a:r>
              <a:rPr lang="en-IN" b="1" dirty="0"/>
              <a:t>Example: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114300" indent="0">
              <a:buNone/>
            </a:pPr>
            <a:r>
              <a:rPr lang="en-IN" b="1" dirty="0"/>
              <a:t>Why use overloading?</a:t>
            </a:r>
            <a:endParaRPr lang="en-IN" dirty="0"/>
          </a:p>
          <a:p>
            <a:pPr marL="114300" indent="0">
              <a:buNone/>
            </a:pPr>
            <a:r>
              <a:rPr lang="en-IN" dirty="0"/>
              <a:t>✅ Improves code readability</a:t>
            </a:r>
          </a:p>
          <a:p>
            <a:pPr marL="114300" indent="0">
              <a:buNone/>
            </a:pPr>
            <a:r>
              <a:rPr lang="en-IN" dirty="0"/>
              <a:t>✅ Provides flexibility in method usage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15ACD-4289-C6F6-660D-4E8CC0B71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0" y="1634133"/>
            <a:ext cx="39052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36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B599-574B-8DD2-3A29-D65C2333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Method Definitions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9ACE8-1EA0-A146-31EC-9B402C77F9C0}"/>
              </a:ext>
            </a:extLst>
          </p:cNvPr>
          <p:cNvSpPr txBox="1"/>
          <p:nvPr/>
        </p:nvSpPr>
        <p:spPr>
          <a:xfrm>
            <a:off x="438150" y="1129517"/>
            <a:ext cx="41338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Missing Return Statement in Non-void Methods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C5A2B4-14B4-9FC0-FBF8-832D74C6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344216"/>
            <a:ext cx="3800475" cy="1562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434F4A-6A8C-6F37-FAB5-7BF60E6D25ED}"/>
              </a:ext>
            </a:extLst>
          </p:cNvPr>
          <p:cNvSpPr txBox="1"/>
          <p:nvPr/>
        </p:nvSpPr>
        <p:spPr>
          <a:xfrm>
            <a:off x="5562600" y="1115616"/>
            <a:ext cx="12001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Correct: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2C21FF-C5AE-D409-0C72-6AD99C71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2" y="1328738"/>
            <a:ext cx="3286125" cy="1562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454933-6FBC-D019-A809-EE9044D7266F}"/>
              </a:ext>
            </a:extLst>
          </p:cNvPr>
          <p:cNvSpPr txBox="1"/>
          <p:nvPr/>
        </p:nvSpPr>
        <p:spPr>
          <a:xfrm>
            <a:off x="438150" y="3121016"/>
            <a:ext cx="2324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Mismatched Return Type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468BA-FF93-2D66-4672-41A01155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7" y="3398015"/>
            <a:ext cx="5148263" cy="1381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5957DD-096F-D1DE-FE90-9951BD02F3A9}"/>
              </a:ext>
            </a:extLst>
          </p:cNvPr>
          <p:cNvSpPr txBox="1"/>
          <p:nvPr/>
        </p:nvSpPr>
        <p:spPr>
          <a:xfrm>
            <a:off x="5648325" y="3121016"/>
            <a:ext cx="13144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Correct:</a:t>
            </a:r>
            <a:endParaRPr lang="en-IN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0955F6-F145-776A-A831-2BD0B94C3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363" y="3398015"/>
            <a:ext cx="30480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95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F620-6FFD-CE4B-5583-55002E795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572" y="81675"/>
            <a:ext cx="7212727" cy="93605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Real-world Example – A Simple Banking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C20B8-E8B8-441E-AC97-E98E69CEB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505200" cy="707231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Example of method usage in a class: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042A4-4C7E-20D2-8CA6-753190BC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09638"/>
            <a:ext cx="4391025" cy="284845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A7565B-F3A7-DB0D-375F-40F8B8C08D15}"/>
              </a:ext>
            </a:extLst>
          </p:cNvPr>
          <p:cNvSpPr txBox="1">
            <a:spLocks/>
          </p:cNvSpPr>
          <p:nvPr/>
        </p:nvSpPr>
        <p:spPr>
          <a:xfrm>
            <a:off x="180975" y="3363994"/>
            <a:ext cx="3505200" cy="39409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00" b="1" dirty="0"/>
              <a:t>Executing Methods: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52822-9388-EB58-01A9-D6C3E4185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3712354"/>
            <a:ext cx="5829300" cy="1431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D06A6A-B1CB-E0D2-6805-51E9C221DAB0}"/>
              </a:ext>
            </a:extLst>
          </p:cNvPr>
          <p:cNvSpPr txBox="1"/>
          <p:nvPr/>
        </p:nvSpPr>
        <p:spPr>
          <a:xfrm>
            <a:off x="6010275" y="4087574"/>
            <a:ext cx="14975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Deposited: 500  </a:t>
            </a:r>
          </a:p>
          <a:p>
            <a:r>
              <a:rPr lang="en-US" sz="1050" dirty="0"/>
              <a:t>Current Balance: 500 </a:t>
            </a:r>
          </a:p>
        </p:txBody>
      </p:sp>
    </p:spTree>
    <p:extLst>
      <p:ext uri="{BB962C8B-B14F-4D97-AF65-F5344CB8AC3E}">
        <p14:creationId xmlns:p14="http://schemas.microsoft.com/office/powerpoint/2010/main" val="2942770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A1D8-7505-EE67-563A-9C31A846C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are Parameters in Methods?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369AE-EF58-BF60-3B99-548B00094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Parameters act as </a:t>
            </a:r>
            <a:r>
              <a:rPr lang="en-IN" b="1" dirty="0"/>
              <a:t>input values</a:t>
            </a:r>
            <a:r>
              <a:rPr lang="en-IN" dirty="0"/>
              <a:t> that are passed to methods.</a:t>
            </a:r>
          </a:p>
          <a:p>
            <a:r>
              <a:rPr lang="en-IN" dirty="0"/>
              <a:t>They allow </a:t>
            </a:r>
            <a:r>
              <a:rPr lang="en-IN" b="1" dirty="0"/>
              <a:t>dynamic data processing</a:t>
            </a:r>
            <a:r>
              <a:rPr lang="en-IN" dirty="0"/>
              <a:t> rather than using fixed values.</a:t>
            </a:r>
            <a:endParaRPr lang="en-US" dirty="0"/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1ECD4-848C-7FB2-FAD4-F7EF735B2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83" y="2160286"/>
            <a:ext cx="4027832" cy="141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D9F218-6020-903B-855E-571B13D69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582" y="3601109"/>
            <a:ext cx="42386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4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C9013-8E36-779B-FDE8-93DC364B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Calling a Method with Parameters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9B5A6-CE45-2A79-F1E5-83FA2478DBA3}"/>
              </a:ext>
            </a:extLst>
          </p:cNvPr>
          <p:cNvSpPr txBox="1"/>
          <p:nvPr/>
        </p:nvSpPr>
        <p:spPr>
          <a:xfrm>
            <a:off x="663386" y="4267424"/>
            <a:ext cx="202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Output:</a:t>
            </a:r>
          </a:p>
          <a:p>
            <a:r>
              <a:rPr lang="en-US" sz="1800" dirty="0"/>
              <a:t>Hello, Aditya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F369E-DE2D-D9A9-1771-A795FAE3A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7178" y="1017725"/>
            <a:ext cx="578964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1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5BE51-0316-30EF-E109-0767A1F7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Methods with Multiple Parameters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C6087B-7D10-2C83-A71A-8A2269E4C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056421"/>
            <a:ext cx="5871542" cy="4060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C33D8-9472-D44F-CBC3-E1B9E72A11FD}"/>
              </a:ext>
            </a:extLst>
          </p:cNvPr>
          <p:cNvSpPr txBox="1"/>
          <p:nvPr/>
        </p:nvSpPr>
        <p:spPr>
          <a:xfrm>
            <a:off x="6500191" y="1312590"/>
            <a:ext cx="118654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Sum: 30</a:t>
            </a:r>
          </a:p>
        </p:txBody>
      </p:sp>
    </p:spTree>
    <p:extLst>
      <p:ext uri="{BB962C8B-B14F-4D97-AF65-F5344CB8AC3E}">
        <p14:creationId xmlns:p14="http://schemas.microsoft.com/office/powerpoint/2010/main" val="368924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C348-B83E-C26B-06B0-8A1789FE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Pass-by-Value in Java (Primitive Types)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327B-6CE5-9B0E-51FA-E58CDB519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9219"/>
            <a:ext cx="3146156" cy="1202531"/>
          </a:xfrm>
        </p:spPr>
        <p:txBody>
          <a:bodyPr/>
          <a:lstStyle/>
          <a:p>
            <a:r>
              <a:rPr lang="en-IN" b="1" dirty="0"/>
              <a:t>In Java, all primitive types are passed by value (a copy is made).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1A523-3B29-4F2A-3B2B-D8BD3FE15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268017"/>
            <a:ext cx="5829300" cy="3198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B7002F-4FD4-0FFB-6896-269C6F5006DB}"/>
              </a:ext>
            </a:extLst>
          </p:cNvPr>
          <p:cNvSpPr txBox="1"/>
          <p:nvPr/>
        </p:nvSpPr>
        <p:spPr>
          <a:xfrm>
            <a:off x="0" y="4047677"/>
            <a:ext cx="1304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0CF1F-F44A-69C7-611C-2D560DE714B7}"/>
              </a:ext>
            </a:extLst>
          </p:cNvPr>
          <p:cNvSpPr txBox="1"/>
          <p:nvPr/>
        </p:nvSpPr>
        <p:spPr>
          <a:xfrm>
            <a:off x="0" y="4509342"/>
            <a:ext cx="351358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dirty="0"/>
              <a:t>Value after method call: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D8298B-957A-3884-9E18-296BDFA67F8F}"/>
              </a:ext>
            </a:extLst>
          </p:cNvPr>
          <p:cNvSpPr txBox="1"/>
          <p:nvPr/>
        </p:nvSpPr>
        <p:spPr>
          <a:xfrm>
            <a:off x="3998563" y="4451454"/>
            <a:ext cx="51454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Why?</a:t>
            </a:r>
            <a:r>
              <a:rPr lang="en-IN" sz="1600" dirty="0">
                <a:solidFill>
                  <a:srgbClr val="FF0000"/>
                </a:solidFill>
              </a:rPr>
              <a:t> The original value </a:t>
            </a:r>
            <a:r>
              <a:rPr lang="en-IN" sz="1600" b="1" dirty="0">
                <a:solidFill>
                  <a:srgbClr val="FF0000"/>
                </a:solidFill>
              </a:rPr>
              <a:t>remains unchanged</a:t>
            </a:r>
            <a:r>
              <a:rPr lang="en-IN" sz="1600" dirty="0">
                <a:solidFill>
                  <a:srgbClr val="FF0000"/>
                </a:solidFill>
              </a:rPr>
              <a:t> because a copy was passed.</a:t>
            </a:r>
          </a:p>
        </p:txBody>
      </p:sp>
    </p:spTree>
    <p:extLst>
      <p:ext uri="{BB962C8B-B14F-4D97-AF65-F5344CB8AC3E}">
        <p14:creationId xmlns:p14="http://schemas.microsoft.com/office/powerpoint/2010/main" val="1081814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7253-4616-48F9-E143-23B58DE44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4395"/>
            <a:ext cx="7460700" cy="92333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Passing Objects as Parameters (Pass-by-Reference Effect)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7BC54-1E3C-BF35-BCBD-D903B4EF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568446" cy="99417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Objects behave differently – they are passed as references.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17533-82B9-19AA-DB70-50563D9FC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053956"/>
            <a:ext cx="4946904" cy="3815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14106-CAB0-A601-E65B-A561319542A4}"/>
              </a:ext>
            </a:extLst>
          </p:cNvPr>
          <p:cNvSpPr txBox="1"/>
          <p:nvPr/>
        </p:nvSpPr>
        <p:spPr>
          <a:xfrm>
            <a:off x="628650" y="2329986"/>
            <a:ext cx="2646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Updated Name: Krishna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F4F6E-1A23-46D9-FB80-4056F293FC4C}"/>
              </a:ext>
            </a:extLst>
          </p:cNvPr>
          <p:cNvSpPr txBox="1"/>
          <p:nvPr/>
        </p:nvSpPr>
        <p:spPr>
          <a:xfrm>
            <a:off x="628650" y="3504956"/>
            <a:ext cx="310210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100" b="1" dirty="0"/>
              <a:t>Why?</a:t>
            </a:r>
            <a:r>
              <a:rPr lang="en-IN" sz="2100" dirty="0"/>
              <a:t> Objects </a:t>
            </a:r>
            <a:r>
              <a:rPr lang="en-IN" sz="2100" b="1" dirty="0"/>
              <a:t>share memory reference</a:t>
            </a:r>
            <a:r>
              <a:rPr lang="en-IN" sz="2100" dirty="0"/>
              <a:t>, so changes persist.</a:t>
            </a:r>
          </a:p>
        </p:txBody>
      </p:sp>
    </p:spTree>
    <p:extLst>
      <p:ext uri="{BB962C8B-B14F-4D97-AF65-F5344CB8AC3E}">
        <p14:creationId xmlns:p14="http://schemas.microsoft.com/office/powerpoint/2010/main" val="61590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6670-9836-2972-2CD8-F6B26F92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Parameters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7D712-CA13-9160-ED3E-14B76021D929}"/>
              </a:ext>
            </a:extLst>
          </p:cNvPr>
          <p:cNvSpPr txBox="1"/>
          <p:nvPr/>
        </p:nvSpPr>
        <p:spPr>
          <a:xfrm>
            <a:off x="397764" y="1268016"/>
            <a:ext cx="45811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Mismatched Argument and Parameter Types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729E6-2A3C-4395-307B-197981274B6E}"/>
              </a:ext>
            </a:extLst>
          </p:cNvPr>
          <p:cNvSpPr txBox="1"/>
          <p:nvPr/>
        </p:nvSpPr>
        <p:spPr>
          <a:xfrm>
            <a:off x="376428" y="3239655"/>
            <a:ext cx="33558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Ensure correct data types: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DC03BA-3617-572D-BD1E-76007B34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8" y="1545015"/>
            <a:ext cx="4917132" cy="1417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6E17A4-84A0-01CA-1ED6-7FAD6E4C7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8" y="3519726"/>
            <a:ext cx="304800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70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576A-7566-2D46-A245-4AF03CCD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AE4F-470B-825A-6904-4A82FD9A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Parameters (Contd.)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0E44BF-FAFF-17DF-AE71-79986984FEC0}"/>
              </a:ext>
            </a:extLst>
          </p:cNvPr>
          <p:cNvSpPr txBox="1"/>
          <p:nvPr/>
        </p:nvSpPr>
        <p:spPr>
          <a:xfrm>
            <a:off x="376428" y="1202465"/>
            <a:ext cx="45811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to Pass Required Parameters</a:t>
            </a:r>
            <a:endParaRPr lang="en-IN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6D4F98-A9C9-A603-7783-9BBB15E3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8" y="1479465"/>
            <a:ext cx="6482414" cy="14283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0F40F8-F960-9313-3103-897AD9218FF2}"/>
              </a:ext>
            </a:extLst>
          </p:cNvPr>
          <p:cNvSpPr txBox="1"/>
          <p:nvPr/>
        </p:nvSpPr>
        <p:spPr>
          <a:xfrm>
            <a:off x="376428" y="3184791"/>
            <a:ext cx="45811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Provide arguments when calling methods: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CB165-1AFC-865F-912D-1DA559391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28" y="3509796"/>
            <a:ext cx="3792131" cy="13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405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808</Words>
  <Application>Microsoft Macintosh PowerPoint</Application>
  <PresentationFormat>On-screen Show (16:9)</PresentationFormat>
  <Paragraphs>215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Courier New</vt:lpstr>
      <vt:lpstr>Simple Light</vt:lpstr>
      <vt:lpstr>PowerPoint Presentation</vt:lpstr>
      <vt:lpstr>PowerPoint Presentation</vt:lpstr>
      <vt:lpstr>Classes in Java</vt:lpstr>
      <vt:lpstr>What is a Class?</vt:lpstr>
      <vt:lpstr>Key Components of a Class</vt:lpstr>
      <vt:lpstr>Creating and Using Objects</vt:lpstr>
      <vt:lpstr>Class vs. Object</vt:lpstr>
      <vt:lpstr>Access Modifiers in a Class</vt:lpstr>
      <vt:lpstr>Real-World Example of a Class</vt:lpstr>
      <vt:lpstr>Real-World Example of a Class</vt:lpstr>
      <vt:lpstr>Common Mistakes with Classes</vt:lpstr>
      <vt:lpstr>Common Mistakes with Classes</vt:lpstr>
      <vt:lpstr>Objects in Java</vt:lpstr>
      <vt:lpstr>What is an Object?</vt:lpstr>
      <vt:lpstr>Declaring an Object in Java</vt:lpstr>
      <vt:lpstr>Reference Variables vs. Objects</vt:lpstr>
      <vt:lpstr>Multiple Reference Variables for One Object</vt:lpstr>
      <vt:lpstr>What Happens When Reference is Null?</vt:lpstr>
      <vt:lpstr>Garbage Collection and Unused Objects</vt:lpstr>
      <vt:lpstr>Common Mistakes with Object References</vt:lpstr>
      <vt:lpstr>Methods in Java</vt:lpstr>
      <vt:lpstr>What is a Method?</vt:lpstr>
      <vt:lpstr>Types of Methods</vt:lpstr>
      <vt:lpstr>Calling a Method</vt:lpstr>
      <vt:lpstr>Returning a Value from a Method</vt:lpstr>
      <vt:lpstr>Method Overloading (Multiple Methods with Same Name)</vt:lpstr>
      <vt:lpstr>Common Mistakes in Method Definitions</vt:lpstr>
      <vt:lpstr>Real-world Example – A Simple Banking System</vt:lpstr>
      <vt:lpstr>What are Parameters in Methods?</vt:lpstr>
      <vt:lpstr>Calling a Method with Parameters</vt:lpstr>
      <vt:lpstr>Methods with Multiple Parameters</vt:lpstr>
      <vt:lpstr>Pass-by-Value in Java (Primitive Types)</vt:lpstr>
      <vt:lpstr>Passing Objects as Parameters (Pass-by-Reference Effect)</vt:lpstr>
      <vt:lpstr>Common Mistakes with Parameters</vt:lpstr>
      <vt:lpstr>Common Mistakes with Parameters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15</cp:revision>
  <dcterms:modified xsi:type="dcterms:W3CDTF">2026-01-05T06:16:36Z</dcterms:modified>
</cp:coreProperties>
</file>