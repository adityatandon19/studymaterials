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407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40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CE3A7-A7E3-6A4D-98CF-EDD776E02F40}" v="1" dt="2025-07-21T16:39:25.58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744467" y="2311125"/>
            <a:ext cx="7655066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Multithreading in 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CACD-29FF-A8E0-BAB0-A3D5AC6D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66585"/>
          </a:xfrm>
        </p:spPr>
        <p:txBody>
          <a:bodyPr>
            <a:normAutofit/>
          </a:bodyPr>
          <a:lstStyle/>
          <a:p>
            <a:r>
              <a:rPr lang="en-IN" b="1" dirty="0"/>
              <a:t>What is Multithreading?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09FB-D3A9-BBCC-7B56-B53778EC7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664064"/>
          </a:xfrm>
        </p:spPr>
        <p:txBody>
          <a:bodyPr>
            <a:normAutofit/>
          </a:bodyPr>
          <a:lstStyle/>
          <a:p>
            <a:r>
              <a:rPr lang="en-IN" dirty="0"/>
              <a:t>Multithreading is the ability to execute </a:t>
            </a:r>
            <a:r>
              <a:rPr lang="en-IN" b="1" dirty="0"/>
              <a:t>multiple threads</a:t>
            </a:r>
            <a:r>
              <a:rPr lang="en-IN" dirty="0"/>
              <a:t> in parallel within a program.</a:t>
            </a:r>
          </a:p>
          <a:p>
            <a:r>
              <a:rPr lang="en-IN" dirty="0"/>
              <a:t>Each thread represents a </a:t>
            </a:r>
            <a:r>
              <a:rPr lang="en-IN" b="1" dirty="0"/>
              <a:t>separate execution path</a:t>
            </a:r>
            <a:r>
              <a:rPr lang="en-IN" dirty="0"/>
              <a:t>.</a:t>
            </a:r>
          </a:p>
          <a:p>
            <a:r>
              <a:rPr lang="en-IN" b="1" dirty="0"/>
              <a:t>Why Use Multithreading?</a:t>
            </a:r>
            <a:endParaRPr lang="en-IN" dirty="0"/>
          </a:p>
          <a:p>
            <a:pPr lvl="1"/>
            <a:r>
              <a:rPr lang="en-IN" dirty="0"/>
              <a:t>✅ </a:t>
            </a:r>
            <a:r>
              <a:rPr lang="en-IN" b="1" dirty="0"/>
              <a:t>Better CPU utilization</a:t>
            </a:r>
            <a:r>
              <a:rPr lang="en-IN" dirty="0"/>
              <a:t> – Runs tasks in parallel.</a:t>
            </a:r>
          </a:p>
          <a:p>
            <a:pPr lvl="1"/>
            <a:r>
              <a:rPr lang="en-IN" dirty="0"/>
              <a:t>✅ </a:t>
            </a:r>
            <a:r>
              <a:rPr lang="en-IN" b="1" dirty="0"/>
              <a:t>Faster execution</a:t>
            </a:r>
            <a:r>
              <a:rPr lang="en-IN" dirty="0"/>
              <a:t> – Reduces program execution time.</a:t>
            </a:r>
          </a:p>
          <a:p>
            <a:pPr lvl="1"/>
            <a:r>
              <a:rPr lang="en-IN" dirty="0"/>
              <a:t>✅ </a:t>
            </a:r>
            <a:r>
              <a:rPr lang="en-IN" b="1" dirty="0"/>
              <a:t>Smooth user experience</a:t>
            </a:r>
            <a:r>
              <a:rPr lang="en-IN" dirty="0"/>
              <a:t> – Used in real-time applications (GUI, games).</a:t>
            </a:r>
          </a:p>
          <a:p>
            <a:r>
              <a:rPr lang="en-IN" b="1" dirty="0"/>
              <a:t>Example Use Cases:</a:t>
            </a:r>
            <a:endParaRPr lang="en-IN" dirty="0"/>
          </a:p>
          <a:p>
            <a:pPr lvl="1"/>
            <a:r>
              <a:rPr lang="en-IN" b="1" dirty="0"/>
              <a:t>Web browsers</a:t>
            </a:r>
            <a:r>
              <a:rPr lang="en-IN" dirty="0"/>
              <a:t> loading multiple pages.</a:t>
            </a:r>
          </a:p>
          <a:p>
            <a:pPr lvl="1"/>
            <a:r>
              <a:rPr lang="en-IN" b="1" dirty="0"/>
              <a:t>Music players</a:t>
            </a:r>
            <a:r>
              <a:rPr lang="en-IN" dirty="0"/>
              <a:t> playing songs while downloading files.</a:t>
            </a:r>
          </a:p>
        </p:txBody>
      </p:sp>
    </p:spTree>
    <p:extLst>
      <p:ext uri="{BB962C8B-B14F-4D97-AF65-F5344CB8AC3E}">
        <p14:creationId xmlns:p14="http://schemas.microsoft.com/office/powerpoint/2010/main" val="4222092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1829-89A9-2037-BE2F-A1118B08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64864"/>
          </a:xfrm>
        </p:spPr>
        <p:txBody>
          <a:bodyPr>
            <a:normAutofit/>
          </a:bodyPr>
          <a:lstStyle/>
          <a:p>
            <a:r>
              <a:rPr lang="en-IN" b="1" dirty="0"/>
              <a:t>Difference Between Processes and Threads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8F9E1C-FE1F-03AF-75AF-EF8CEDFFCB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345890"/>
              </p:ext>
            </p:extLst>
          </p:nvPr>
        </p:nvGraphicFramePr>
        <p:xfrm>
          <a:off x="849087" y="1405958"/>
          <a:ext cx="6821806" cy="1409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3535">
                  <a:extLst>
                    <a:ext uri="{9D8B030D-6E8A-4147-A177-3AD203B41FA5}">
                      <a16:colId xmlns:a16="http://schemas.microsoft.com/office/drawing/2014/main" val="1784248292"/>
                    </a:ext>
                  </a:extLst>
                </a:gridCol>
                <a:gridCol w="3101023">
                  <a:extLst>
                    <a:ext uri="{9D8B030D-6E8A-4147-A177-3AD203B41FA5}">
                      <a16:colId xmlns:a16="http://schemas.microsoft.com/office/drawing/2014/main" val="2427815407"/>
                    </a:ext>
                  </a:extLst>
                </a:gridCol>
                <a:gridCol w="2107248">
                  <a:extLst>
                    <a:ext uri="{9D8B030D-6E8A-4147-A177-3AD203B41FA5}">
                      <a16:colId xmlns:a16="http://schemas.microsoft.com/office/drawing/2014/main" val="375680727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Process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Thread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890426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Independent program execution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Part of a process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5315928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Memory 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Uses separate memory space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Shares process memory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2066659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Execution Speed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Slower (heavyweight)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Faster (lightweight)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2608223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Communication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Inter-process communication needed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Direct memory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067462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A720B9-E2B2-6748-4DE2-CA9C8F20B727}"/>
              </a:ext>
            </a:extLst>
          </p:cNvPr>
          <p:cNvSpPr txBox="1"/>
          <p:nvPr/>
        </p:nvSpPr>
        <p:spPr>
          <a:xfrm>
            <a:off x="849086" y="3168477"/>
            <a:ext cx="457404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Example:</a:t>
            </a:r>
            <a:endParaRPr lang="en-IN" sz="1050" dirty="0"/>
          </a:p>
          <a:p>
            <a:r>
              <a:rPr lang="en-IN" sz="1050" dirty="0"/>
              <a:t>• </a:t>
            </a:r>
            <a:r>
              <a:rPr lang="en-IN" sz="1050" b="1" dirty="0"/>
              <a:t>Process:</a:t>
            </a:r>
            <a:r>
              <a:rPr lang="en-IN" sz="1050" dirty="0"/>
              <a:t> Running </a:t>
            </a:r>
            <a:r>
              <a:rPr lang="en-IN" sz="1050" b="1" dirty="0"/>
              <a:t>Chrome</a:t>
            </a:r>
            <a:r>
              <a:rPr lang="en-IN" sz="1050" dirty="0"/>
              <a:t> and </a:t>
            </a:r>
            <a:r>
              <a:rPr lang="en-IN" sz="1050" b="1" dirty="0"/>
              <a:t>VS Code</a:t>
            </a:r>
            <a:r>
              <a:rPr lang="en-IN" sz="1050" dirty="0"/>
              <a:t> separately.</a:t>
            </a:r>
          </a:p>
          <a:p>
            <a:r>
              <a:rPr lang="en-IN" sz="1050" dirty="0"/>
              <a:t>• </a:t>
            </a:r>
            <a:r>
              <a:rPr lang="en-IN" sz="1050" b="1" dirty="0"/>
              <a:t>Threads:</a:t>
            </a:r>
            <a:r>
              <a:rPr lang="en-IN" sz="1050" dirty="0"/>
              <a:t> Running </a:t>
            </a:r>
            <a:r>
              <a:rPr lang="en-IN" sz="1050" b="1" dirty="0"/>
              <a:t>multiple tabs</a:t>
            </a:r>
            <a:r>
              <a:rPr lang="en-IN" sz="1050" dirty="0"/>
              <a:t> inside Chrome.</a:t>
            </a:r>
          </a:p>
        </p:txBody>
      </p:sp>
    </p:spTree>
    <p:extLst>
      <p:ext uri="{BB962C8B-B14F-4D97-AF65-F5344CB8AC3E}">
        <p14:creationId xmlns:p14="http://schemas.microsoft.com/office/powerpoint/2010/main" val="3447006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665A-A250-21C7-9C66-99A3D718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How Java Supports Multithreading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AC307-A2DE-CF1E-DD37-CE97931EB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09" y="1304483"/>
            <a:ext cx="7886700" cy="1949564"/>
          </a:xfrm>
        </p:spPr>
        <p:txBody>
          <a:bodyPr>
            <a:normAutofit/>
          </a:bodyPr>
          <a:lstStyle/>
          <a:p>
            <a:r>
              <a:rPr lang="en-IN" sz="1500" b="1" dirty="0"/>
              <a:t>Java provides built-in support for multithreading via the </a:t>
            </a:r>
            <a:r>
              <a:rPr lang="en-IN" sz="1500" b="1" i="1" dirty="0"/>
              <a:t>java.lang.Thread </a:t>
            </a:r>
            <a:r>
              <a:rPr lang="en-IN" sz="1500" b="1" dirty="0"/>
              <a:t>class.</a:t>
            </a:r>
            <a:endParaRPr lang="en-IN" sz="1500" dirty="0"/>
          </a:p>
          <a:p>
            <a:r>
              <a:rPr lang="en-IN" sz="1500" b="1" dirty="0"/>
              <a:t>Ways to create threads in Java:</a:t>
            </a:r>
            <a:endParaRPr lang="en-IN" sz="1500" dirty="0"/>
          </a:p>
          <a:p>
            <a:pPr marL="0" indent="0">
              <a:buNone/>
            </a:pPr>
            <a:r>
              <a:rPr lang="en-IN" sz="1500" dirty="0"/>
              <a:t>1. </a:t>
            </a:r>
            <a:r>
              <a:rPr lang="en-IN" sz="1500" b="1" dirty="0"/>
              <a:t>Extending Thread class</a:t>
            </a:r>
            <a:endParaRPr lang="en-IN" sz="1500" dirty="0"/>
          </a:p>
          <a:p>
            <a:pPr marL="0" indent="0">
              <a:buNone/>
            </a:pPr>
            <a:r>
              <a:rPr lang="en-IN" sz="1500" dirty="0"/>
              <a:t>2. </a:t>
            </a:r>
            <a:r>
              <a:rPr lang="en-IN" sz="1500" b="1" dirty="0"/>
              <a:t>Implementing Runnable interface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• </a:t>
            </a:r>
            <a:r>
              <a:rPr lang="en-IN" sz="1500" b="1" dirty="0"/>
              <a:t>Basic Syntax for Creating a Thread:</a:t>
            </a:r>
            <a:endParaRPr lang="en-IN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8BEDA-A1E8-BCEF-8D6A-166C7CAA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156" y="1696345"/>
            <a:ext cx="5110844" cy="3447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EF6485-FFA3-BEF3-5F36-D52C9DF3B5D8}"/>
              </a:ext>
            </a:extLst>
          </p:cNvPr>
          <p:cNvSpPr txBox="1"/>
          <p:nvPr/>
        </p:nvSpPr>
        <p:spPr>
          <a:xfrm>
            <a:off x="2265590" y="4177159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Thread is running...</a:t>
            </a:r>
          </a:p>
        </p:txBody>
      </p:sp>
    </p:spTree>
    <p:extLst>
      <p:ext uri="{BB962C8B-B14F-4D97-AF65-F5344CB8AC3E}">
        <p14:creationId xmlns:p14="http://schemas.microsoft.com/office/powerpoint/2010/main" val="2183474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7859-7652-4F8B-657A-D56E0D3F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Advantages of Multithreading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1FCCA-19C2-BB01-77AB-437119F38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83" y="1369219"/>
            <a:ext cx="8437789" cy="1631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Improves performance</a:t>
            </a:r>
            <a:r>
              <a:rPr lang="en-IN" dirty="0"/>
              <a:t> → Executes tasks in parallel.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Efficient resource sharing</a:t>
            </a:r>
            <a:r>
              <a:rPr lang="en-IN" dirty="0"/>
              <a:t> → Threads share the same memory space.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Better user experience</a:t>
            </a:r>
            <a:r>
              <a:rPr lang="en-IN" dirty="0"/>
              <a:t> → UI remains responsive.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Simplifies complex applications</a:t>
            </a:r>
            <a:r>
              <a:rPr lang="en-IN" dirty="0"/>
              <a:t> → Useful in real-time systems.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0433E-1BE8-45C3-7BDE-D4C2B1987322}"/>
              </a:ext>
            </a:extLst>
          </p:cNvPr>
          <p:cNvSpPr txBox="1"/>
          <p:nvPr/>
        </p:nvSpPr>
        <p:spPr>
          <a:xfrm>
            <a:off x="628649" y="3505473"/>
            <a:ext cx="60701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Example:</a:t>
            </a:r>
            <a:endParaRPr lang="en-IN" sz="1500" dirty="0"/>
          </a:p>
          <a:p>
            <a:r>
              <a:rPr lang="en-IN" sz="1500" dirty="0"/>
              <a:t>• </a:t>
            </a:r>
            <a:r>
              <a:rPr lang="en-IN" sz="1500" b="1" dirty="0"/>
              <a:t>Without threads:</a:t>
            </a:r>
            <a:r>
              <a:rPr lang="en-IN" sz="1500" dirty="0"/>
              <a:t> One task must finish before another starts.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With threads:</a:t>
            </a:r>
            <a:r>
              <a:rPr lang="en-IN" sz="1500" dirty="0"/>
              <a:t> Multiple tasks execute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347476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C17E-6E19-CEE5-16EF-108936957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82769"/>
          </a:xfrm>
        </p:spPr>
        <p:txBody>
          <a:bodyPr>
            <a:normAutofit/>
          </a:bodyPr>
          <a:lstStyle/>
          <a:p>
            <a:r>
              <a:rPr lang="en-IN" b="1" dirty="0"/>
              <a:t>Challenges in Multithreading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A02CD-819A-0CD6-E585-87DADCA3B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6939643" cy="14474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Race conditions</a:t>
            </a:r>
            <a:r>
              <a:rPr lang="en-IN" dirty="0"/>
              <a:t> – Multiple threads modifying shared data.</a:t>
            </a:r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Deadlocks</a:t>
            </a:r>
            <a:r>
              <a:rPr lang="en-IN" dirty="0"/>
              <a:t> – Two threads waiting for each other indefinitely.</a:t>
            </a:r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Thread starvation</a:t>
            </a:r>
            <a:r>
              <a:rPr lang="en-IN" dirty="0"/>
              <a:t> – Low-priority threads never execute.</a:t>
            </a:r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Synchronization issues</a:t>
            </a:r>
            <a:r>
              <a:rPr lang="en-IN" dirty="0"/>
              <a:t> – Data inconsistency in shared memory.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89594-A56A-511A-F268-CA596435C333}"/>
              </a:ext>
            </a:extLst>
          </p:cNvPr>
          <p:cNvSpPr txBox="1"/>
          <p:nvPr/>
        </p:nvSpPr>
        <p:spPr>
          <a:xfrm>
            <a:off x="628650" y="2816678"/>
            <a:ext cx="4574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 (Race Condition Issue):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8B9A2-8BC5-922A-6826-6497F8E1D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08" y="3013930"/>
            <a:ext cx="6939643" cy="212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70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02A6-8957-666E-A5A1-BEA9152D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7343"/>
          </a:xfrm>
        </p:spPr>
        <p:txBody>
          <a:bodyPr>
            <a:normAutofit/>
          </a:bodyPr>
          <a:lstStyle/>
          <a:p>
            <a:r>
              <a:rPr lang="en-IN" b="1" dirty="0"/>
              <a:t>Best Practices for Using Multithreading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98AD9-567D-779F-5F6D-6FD0EC2DE775}"/>
              </a:ext>
            </a:extLst>
          </p:cNvPr>
          <p:cNvSpPr txBox="1"/>
          <p:nvPr/>
        </p:nvSpPr>
        <p:spPr>
          <a:xfrm>
            <a:off x="511289" y="1142353"/>
            <a:ext cx="64650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✅ </a:t>
            </a:r>
            <a:r>
              <a:rPr lang="en-IN" sz="1500" b="1" dirty="0"/>
              <a:t>Use synchronization</a:t>
            </a:r>
            <a:r>
              <a:rPr lang="en-IN" sz="1500" dirty="0"/>
              <a:t> to prevent race conditions.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Avoid unnecessary thread creation</a:t>
            </a:r>
            <a:r>
              <a:rPr lang="en-IN" sz="1500" dirty="0"/>
              <a:t> to optimize memory usage.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Use thread-safe collections</a:t>
            </a:r>
            <a:r>
              <a:rPr lang="en-IN" sz="1500" dirty="0"/>
              <a:t> like </a:t>
            </a:r>
            <a:r>
              <a:rPr lang="en-IN" sz="1500" b="1" i="1" dirty="0"/>
              <a:t>ConcurrentHashMap</a:t>
            </a:r>
            <a:r>
              <a:rPr lang="en-IN" sz="1500" dirty="0"/>
              <a:t>.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Handle exceptions properly</a:t>
            </a:r>
            <a:r>
              <a:rPr lang="en-IN" sz="1500" dirty="0"/>
              <a:t> to prevent unexpected crashes.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156E9-2792-B358-29EE-C64DDFE89F70}"/>
              </a:ext>
            </a:extLst>
          </p:cNvPr>
          <p:cNvSpPr txBox="1"/>
          <p:nvPr/>
        </p:nvSpPr>
        <p:spPr>
          <a:xfrm>
            <a:off x="511289" y="2294751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(Using synchronized to Prevent Race Condition):</a:t>
            </a:r>
            <a:endParaRPr lang="en-IN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FB6FD-9F69-A4A6-13C7-CA0FC845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82" y="2571750"/>
            <a:ext cx="6465019" cy="198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1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6165-964F-DAE3-3720-DF9863092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Ways to Create a Thread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45575-97B0-32D0-8631-55FFCD7B2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4319868" cy="82532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350" dirty="0"/>
              <a:t>Java provides two primary methods to create a thread:</a:t>
            </a:r>
          </a:p>
          <a:p>
            <a:pPr marL="0" indent="0">
              <a:buNone/>
            </a:pPr>
            <a:r>
              <a:rPr lang="en-IN" sz="1350" dirty="0"/>
              <a:t>1. </a:t>
            </a:r>
            <a:r>
              <a:rPr lang="en-IN" sz="1350" b="1" dirty="0"/>
              <a:t>Extending the Thread class</a:t>
            </a:r>
            <a:endParaRPr lang="en-IN" sz="1350" dirty="0"/>
          </a:p>
          <a:p>
            <a:pPr marL="0" indent="0">
              <a:buNone/>
            </a:pPr>
            <a:r>
              <a:rPr lang="en-IN" sz="1350" dirty="0"/>
              <a:t>2. </a:t>
            </a:r>
            <a:r>
              <a:rPr lang="en-IN" sz="1350" b="1" dirty="0"/>
              <a:t>Implementing the Runnable interface</a:t>
            </a:r>
            <a:endParaRPr lang="en-IN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EFD79-CAAA-36F2-D028-B7B42AA13665}"/>
              </a:ext>
            </a:extLst>
          </p:cNvPr>
          <p:cNvSpPr txBox="1"/>
          <p:nvPr/>
        </p:nvSpPr>
        <p:spPr>
          <a:xfrm>
            <a:off x="628650" y="2225502"/>
            <a:ext cx="536537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Choosing the Right Approach:</a:t>
            </a:r>
            <a:endParaRPr lang="en-IN" sz="1050" dirty="0"/>
          </a:p>
          <a:p>
            <a:r>
              <a:rPr lang="en-IN" sz="1050" dirty="0"/>
              <a:t>✅ Use </a:t>
            </a:r>
            <a:r>
              <a:rPr lang="en-IN" sz="1050" b="1" dirty="0"/>
              <a:t>Thread class</a:t>
            </a:r>
            <a:r>
              <a:rPr lang="en-IN" sz="1050" dirty="0"/>
              <a:t> → If a thread requires full control over execution.</a:t>
            </a:r>
          </a:p>
          <a:p>
            <a:r>
              <a:rPr lang="en-IN" sz="1050" dirty="0"/>
              <a:t>✅ Use </a:t>
            </a:r>
            <a:r>
              <a:rPr lang="en-IN" sz="1050" b="1" dirty="0"/>
              <a:t>Runnable interface</a:t>
            </a:r>
            <a:r>
              <a:rPr lang="en-IN" sz="1050" dirty="0"/>
              <a:t> → If the class should extend another class.</a:t>
            </a:r>
          </a:p>
        </p:txBody>
      </p:sp>
    </p:spTree>
    <p:extLst>
      <p:ext uri="{BB962C8B-B14F-4D97-AF65-F5344CB8AC3E}">
        <p14:creationId xmlns:p14="http://schemas.microsoft.com/office/powerpoint/2010/main" val="1147313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9C29-B5A3-8E57-39CC-24EF5C49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292" y="202968"/>
            <a:ext cx="6081007" cy="1065048"/>
          </a:xfrm>
        </p:spPr>
        <p:txBody>
          <a:bodyPr>
            <a:normAutofit/>
          </a:bodyPr>
          <a:lstStyle/>
          <a:p>
            <a:r>
              <a:rPr lang="en-IN" b="1" dirty="0"/>
              <a:t>Creating a Thread by Extending the Thread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B8B07-926E-4423-CD49-C732335F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3741644" cy="14412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b="1" dirty="0"/>
              <a:t>Steps: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1. Extend the Thread class.</a:t>
            </a:r>
          </a:p>
          <a:p>
            <a:pPr marL="0" indent="0">
              <a:buNone/>
            </a:pPr>
            <a:r>
              <a:rPr lang="en-IN" dirty="0"/>
              <a:t>2. Override the run() method.</a:t>
            </a:r>
          </a:p>
          <a:p>
            <a:pPr marL="0" indent="0">
              <a:buNone/>
            </a:pPr>
            <a:r>
              <a:rPr lang="en-IN" dirty="0"/>
              <a:t>3. Create an object and call start().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6940B-8FBB-B3A4-7FF3-292D951F8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992" y="1268016"/>
            <a:ext cx="4999008" cy="3408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B56E71-4B2C-6BE4-BCA7-E882914D4F00}"/>
              </a:ext>
            </a:extLst>
          </p:cNvPr>
          <p:cNvSpPr txBox="1"/>
          <p:nvPr/>
        </p:nvSpPr>
        <p:spPr>
          <a:xfrm>
            <a:off x="2683967" y="3875484"/>
            <a:ext cx="127310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Thread is running.</a:t>
            </a:r>
          </a:p>
        </p:txBody>
      </p:sp>
    </p:spTree>
    <p:extLst>
      <p:ext uri="{BB962C8B-B14F-4D97-AF65-F5344CB8AC3E}">
        <p14:creationId xmlns:p14="http://schemas.microsoft.com/office/powerpoint/2010/main" val="4224273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2030-1A7F-2B87-A639-DB9D31E0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181" y="194633"/>
            <a:ext cx="6882118" cy="9483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Creating a Thread by Implementing Runnable Interface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5D138-3228-A4C0-C476-CDF37E93E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016"/>
            <a:ext cx="4104715" cy="14277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500" b="1" dirty="0"/>
              <a:t>Steps:</a:t>
            </a:r>
            <a:endParaRPr lang="en-IN" sz="1500" dirty="0"/>
          </a:p>
          <a:p>
            <a:r>
              <a:rPr lang="en-IN" sz="1500" dirty="0"/>
              <a:t>1. Implement the Runnable interface.</a:t>
            </a:r>
          </a:p>
          <a:p>
            <a:r>
              <a:rPr lang="en-IN" sz="1500" dirty="0"/>
              <a:t>2. Define the run() method.</a:t>
            </a:r>
          </a:p>
          <a:p>
            <a:r>
              <a:rPr lang="en-IN" sz="1500" dirty="0"/>
              <a:t>3. Pass an instance to Thread and call start().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CE712-4AFB-5BD7-E44F-1CC682896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932" y="1143001"/>
            <a:ext cx="5452091" cy="3610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509F9-97B7-5761-1472-85892062C58E}"/>
              </a:ext>
            </a:extLst>
          </p:cNvPr>
          <p:cNvSpPr txBox="1"/>
          <p:nvPr/>
        </p:nvSpPr>
        <p:spPr>
          <a:xfrm>
            <a:off x="457200" y="3644154"/>
            <a:ext cx="184537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Runnable thread is running.</a:t>
            </a:r>
          </a:p>
        </p:txBody>
      </p:sp>
    </p:spTree>
    <p:extLst>
      <p:ext uri="{BB962C8B-B14F-4D97-AF65-F5344CB8AC3E}">
        <p14:creationId xmlns:p14="http://schemas.microsoft.com/office/powerpoint/2010/main" val="789855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6591-42A0-545D-F641-2CBB5510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240" y="288274"/>
            <a:ext cx="7756059" cy="1046911"/>
          </a:xfrm>
        </p:spPr>
        <p:txBody>
          <a:bodyPr>
            <a:normAutofit/>
          </a:bodyPr>
          <a:lstStyle/>
          <a:p>
            <a:r>
              <a:rPr lang="en-IN" b="1" dirty="0"/>
              <a:t>Differences Between Thread and Runnable Approaches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09F967-8AA1-E84D-CAE2-0BE54C1DC0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184048"/>
              </p:ext>
            </p:extLst>
          </p:nvPr>
        </p:nvGraphicFramePr>
        <p:xfrm>
          <a:off x="1001283" y="2015490"/>
          <a:ext cx="6713444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5268">
                  <a:extLst>
                    <a:ext uri="{9D8B030D-6E8A-4147-A177-3AD203B41FA5}">
                      <a16:colId xmlns:a16="http://schemas.microsoft.com/office/drawing/2014/main" val="3769539301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279314862"/>
                    </a:ext>
                  </a:extLst>
                </a:gridCol>
                <a:gridCol w="2326341">
                  <a:extLst>
                    <a:ext uri="{9D8B030D-6E8A-4147-A177-3AD203B41FA5}">
                      <a16:colId xmlns:a16="http://schemas.microsoft.com/office/drawing/2014/main" val="221515155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Extending </a:t>
                      </a:r>
                      <a:r>
                        <a:rPr lang="en-US" sz="1400" b="1" i="1" dirty="0"/>
                        <a:t>Thread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Implementing </a:t>
                      </a:r>
                      <a:r>
                        <a:rPr lang="en-US" sz="1400" b="1" i="1" dirty="0"/>
                        <a:t>Runnable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389532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Extensibility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Cannot extend another 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 extend another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4581661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Reusability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Less reusable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More reusable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5321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Resource Sharing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Each thread has its own object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 share the same object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15337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6CFDD37-B2D4-28BA-8F3C-095F329CB39B}"/>
              </a:ext>
            </a:extLst>
          </p:cNvPr>
          <p:cNvSpPr txBox="1"/>
          <p:nvPr/>
        </p:nvSpPr>
        <p:spPr>
          <a:xfrm>
            <a:off x="577851" y="3603481"/>
            <a:ext cx="64680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Recommendation:</a:t>
            </a:r>
            <a:r>
              <a:rPr lang="en-IN" sz="1200" dirty="0"/>
              <a:t> Prefer Runnable when designing modular, scalable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811178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69BF-AE4D-84FE-704E-E96B4A1B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9413"/>
          </a:xfrm>
        </p:spPr>
        <p:txBody>
          <a:bodyPr>
            <a:normAutofit/>
          </a:bodyPr>
          <a:lstStyle/>
          <a:p>
            <a:r>
              <a:rPr lang="en-IN" b="1" dirty="0"/>
              <a:t>Using Anonymous Classes to Create Threads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4B8E2-89DF-C085-CBD3-C081B1BC48DE}"/>
              </a:ext>
            </a:extLst>
          </p:cNvPr>
          <p:cNvSpPr txBox="1"/>
          <p:nvPr/>
        </p:nvSpPr>
        <p:spPr>
          <a:xfrm>
            <a:off x="628650" y="1268016"/>
            <a:ext cx="62696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Java allows thread creation </a:t>
            </a:r>
            <a:r>
              <a:rPr lang="en-IN" sz="1200" b="1" dirty="0"/>
              <a:t>without separate classes</a:t>
            </a:r>
            <a:r>
              <a:rPr lang="en-IN" sz="1200" dirty="0"/>
              <a:t> using anonymous classes.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7970B5-9E62-D139-632B-6E8056BA3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309" y="1545015"/>
            <a:ext cx="6269691" cy="3175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46E27B-320D-5EC2-44B5-C321B829DACF}"/>
              </a:ext>
            </a:extLst>
          </p:cNvPr>
          <p:cNvSpPr txBox="1"/>
          <p:nvPr/>
        </p:nvSpPr>
        <p:spPr>
          <a:xfrm>
            <a:off x="363071" y="3375212"/>
            <a:ext cx="200728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Thread with anonymous class.</a:t>
            </a:r>
          </a:p>
        </p:txBody>
      </p:sp>
    </p:spTree>
    <p:extLst>
      <p:ext uri="{BB962C8B-B14F-4D97-AF65-F5344CB8AC3E}">
        <p14:creationId xmlns:p14="http://schemas.microsoft.com/office/powerpoint/2010/main" val="2443644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8A27-C822-091C-A6CB-36D0096B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Best Practices for Creating Threads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80B0D-865F-CEA1-2D18-203EB0D51598}"/>
              </a:ext>
            </a:extLst>
          </p:cNvPr>
          <p:cNvSpPr txBox="1"/>
          <p:nvPr/>
        </p:nvSpPr>
        <p:spPr>
          <a:xfrm>
            <a:off x="628649" y="1268016"/>
            <a:ext cx="70183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Use Runnable for better reusability and flexibility.</a:t>
            </a: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Minimize the number of threads</a:t>
            </a:r>
            <a:r>
              <a:rPr lang="en-IN" dirty="0"/>
              <a:t> to avoid performance issues.</a:t>
            </a:r>
          </a:p>
          <a:p>
            <a:r>
              <a:rPr lang="en-IN" dirty="0"/>
              <a:t>✅ </a:t>
            </a:r>
            <a:r>
              <a:rPr lang="en-IN" b="1" dirty="0"/>
              <a:t>Avoid blocking operations</a:t>
            </a:r>
            <a:r>
              <a:rPr lang="en-IN" dirty="0"/>
              <a:t> inside run() to maintain efficiency.</a:t>
            </a:r>
          </a:p>
          <a:p>
            <a:r>
              <a:rPr lang="en-IN" dirty="0"/>
              <a:t>✅ </a:t>
            </a:r>
            <a:r>
              <a:rPr lang="en-IN" b="1" dirty="0"/>
              <a:t>Use thread pools (ExecutorService)</a:t>
            </a:r>
            <a:r>
              <a:rPr lang="en-IN" dirty="0"/>
              <a:t> for managing multiple threads efficiently.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B3C97-648B-E372-DEE5-6C48B22B268A}"/>
              </a:ext>
            </a:extLst>
          </p:cNvPr>
          <p:cNvSpPr txBox="1"/>
          <p:nvPr/>
        </p:nvSpPr>
        <p:spPr>
          <a:xfrm>
            <a:off x="628650" y="2262188"/>
            <a:ext cx="5213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(Using ExecutorService for Thread Management):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B6EAF8-E282-A139-4CAF-F80D49E1A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8496"/>
            <a:ext cx="6189009" cy="26350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47B9A8-BAB7-D4C2-6415-608927D0FF96}"/>
              </a:ext>
            </a:extLst>
          </p:cNvPr>
          <p:cNvSpPr txBox="1"/>
          <p:nvPr/>
        </p:nvSpPr>
        <p:spPr>
          <a:xfrm>
            <a:off x="6333565" y="3429000"/>
            <a:ext cx="18341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Thread pool running.</a:t>
            </a:r>
          </a:p>
        </p:txBody>
      </p:sp>
    </p:spTree>
    <p:extLst>
      <p:ext uri="{BB962C8B-B14F-4D97-AF65-F5344CB8AC3E}">
        <p14:creationId xmlns:p14="http://schemas.microsoft.com/office/powerpoint/2010/main" val="3266125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</TotalTime>
  <Words>645</Words>
  <Application>Microsoft Macintosh PowerPoint</Application>
  <PresentationFormat>On-screen Show (16:9)</PresentationFormat>
  <Paragraphs>114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PowerPoint Presentation</vt:lpstr>
      <vt:lpstr>What is Multithreading?</vt:lpstr>
      <vt:lpstr>Difference Between Processes and Threads</vt:lpstr>
      <vt:lpstr>How Java Supports Multithreading</vt:lpstr>
      <vt:lpstr>Advantages of Multithreading</vt:lpstr>
      <vt:lpstr>Challenges in Multithreading</vt:lpstr>
      <vt:lpstr>Best Practices for Using Multithreading</vt:lpstr>
      <vt:lpstr>Ways to Create a Thread in Java</vt:lpstr>
      <vt:lpstr>Creating a Thread by Extending the Thread Class</vt:lpstr>
      <vt:lpstr>Creating a Thread by Implementing Runnable Interface</vt:lpstr>
      <vt:lpstr>Differences Between Thread and Runnable Approaches</vt:lpstr>
      <vt:lpstr>Using Anonymous Classes to Create Threads</vt:lpstr>
      <vt:lpstr>Best Practices for Creating Threads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29</cp:revision>
  <dcterms:modified xsi:type="dcterms:W3CDTF">2026-02-03T10:09:36Z</dcterms:modified>
</cp:coreProperties>
</file>