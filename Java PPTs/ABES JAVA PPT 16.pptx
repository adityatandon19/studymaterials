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407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8A06B1-D98C-6045-8745-160DBFC2FF9C}" v="2" dt="2025-07-22T15:07:48.37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9"/>
    <p:restoredTop sz="96301"/>
  </p:normalViewPr>
  <p:slideViewPr>
    <p:cSldViewPr snapToGrid="0">
      <p:cViewPr varScale="1">
        <p:scale>
          <a:sx n="138" d="100"/>
          <a:sy n="138" d="100"/>
        </p:scale>
        <p:origin x="200" y="4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888A06B1-D98C-6045-8745-160DBFC2FF9C}"/>
    <pc:docChg chg="custSel modSld">
      <pc:chgData name="Aditya Hare Krishna" userId="de62b921b3c41f8c" providerId="LiveId" clId="{888A06B1-D98C-6045-8745-160DBFC2FF9C}" dt="2025-07-22T15:07:48.755" v="15" actId="27636"/>
      <pc:docMkLst>
        <pc:docMk/>
      </pc:docMkLst>
      <pc:sldChg chg="addSp modSp mod">
        <pc:chgData name="Aditya Hare Krishna" userId="de62b921b3c41f8c" providerId="LiveId" clId="{888A06B1-D98C-6045-8745-160DBFC2FF9C}" dt="2025-07-22T15:07:48.610" v="1" actId="27636"/>
        <pc:sldMkLst>
          <pc:docMk/>
          <pc:sldMk cId="489281262" sldId="297"/>
        </pc:sldMkLst>
        <pc:spChg chg="add mod">
          <ac:chgData name="Aditya Hare Krishna" userId="de62b921b3c41f8c" providerId="LiveId" clId="{888A06B1-D98C-6045-8745-160DBFC2FF9C}" dt="2025-07-22T15:07:48.610" v="1" actId="27636"/>
          <ac:spMkLst>
            <pc:docMk/>
            <pc:sldMk cId="489281262" sldId="297"/>
            <ac:spMk id="3" creationId="{82A221DC-C7B5-A0CD-EB1D-2A9A66F06048}"/>
          </ac:spMkLst>
        </pc:spChg>
      </pc:sldChg>
      <pc:sldChg chg="addSp modSp mod">
        <pc:chgData name="Aditya Hare Krishna" userId="de62b921b3c41f8c" providerId="LiveId" clId="{888A06B1-D98C-6045-8745-160DBFC2FF9C}" dt="2025-07-22T15:07:48.623" v="2" actId="27636"/>
        <pc:sldMkLst>
          <pc:docMk/>
          <pc:sldMk cId="2735974281" sldId="298"/>
        </pc:sldMkLst>
        <pc:spChg chg="add mod">
          <ac:chgData name="Aditya Hare Krishna" userId="de62b921b3c41f8c" providerId="LiveId" clId="{888A06B1-D98C-6045-8745-160DBFC2FF9C}" dt="2025-07-22T15:07:48.623" v="2" actId="27636"/>
          <ac:spMkLst>
            <pc:docMk/>
            <pc:sldMk cId="2735974281" sldId="298"/>
            <ac:spMk id="3" creationId="{494FFC8C-5731-85EE-93F2-51C8EB62A82B}"/>
          </ac:spMkLst>
        </pc:spChg>
      </pc:sldChg>
      <pc:sldChg chg="addSp modSp mod">
        <pc:chgData name="Aditya Hare Krishna" userId="de62b921b3c41f8c" providerId="LiveId" clId="{888A06B1-D98C-6045-8745-160DBFC2FF9C}" dt="2025-07-22T15:07:48.632" v="3" actId="27636"/>
        <pc:sldMkLst>
          <pc:docMk/>
          <pc:sldMk cId="2375026088" sldId="299"/>
        </pc:sldMkLst>
        <pc:spChg chg="add mod">
          <ac:chgData name="Aditya Hare Krishna" userId="de62b921b3c41f8c" providerId="LiveId" clId="{888A06B1-D98C-6045-8745-160DBFC2FF9C}" dt="2025-07-22T15:07:48.632" v="3" actId="27636"/>
          <ac:spMkLst>
            <pc:docMk/>
            <pc:sldMk cId="2375026088" sldId="299"/>
            <ac:spMk id="3" creationId="{695DB040-756E-AFF4-DEAD-DE4831CB2445}"/>
          </ac:spMkLst>
        </pc:spChg>
      </pc:sldChg>
      <pc:sldChg chg="addSp modSp mod">
        <pc:chgData name="Aditya Hare Krishna" userId="de62b921b3c41f8c" providerId="LiveId" clId="{888A06B1-D98C-6045-8745-160DBFC2FF9C}" dt="2025-07-22T15:07:48.650" v="4" actId="27636"/>
        <pc:sldMkLst>
          <pc:docMk/>
          <pc:sldMk cId="2491968037" sldId="300"/>
        </pc:sldMkLst>
        <pc:spChg chg="add mod">
          <ac:chgData name="Aditya Hare Krishna" userId="de62b921b3c41f8c" providerId="LiveId" clId="{888A06B1-D98C-6045-8745-160DBFC2FF9C}" dt="2025-07-22T15:07:48.650" v="4" actId="27636"/>
          <ac:spMkLst>
            <pc:docMk/>
            <pc:sldMk cId="2491968037" sldId="300"/>
            <ac:spMk id="3" creationId="{623A48D2-4B87-3CCF-CE65-838BDA83CCD8}"/>
          </ac:spMkLst>
        </pc:spChg>
      </pc:sldChg>
      <pc:sldChg chg="addSp modSp mod">
        <pc:chgData name="Aditya Hare Krishna" userId="de62b921b3c41f8c" providerId="LiveId" clId="{888A06B1-D98C-6045-8745-160DBFC2FF9C}" dt="2025-07-22T15:07:48.669" v="5" actId="27636"/>
        <pc:sldMkLst>
          <pc:docMk/>
          <pc:sldMk cId="3484744866" sldId="301"/>
        </pc:sldMkLst>
        <pc:spChg chg="add mod">
          <ac:chgData name="Aditya Hare Krishna" userId="de62b921b3c41f8c" providerId="LiveId" clId="{888A06B1-D98C-6045-8745-160DBFC2FF9C}" dt="2025-07-22T15:07:48.669" v="5" actId="27636"/>
          <ac:spMkLst>
            <pc:docMk/>
            <pc:sldMk cId="3484744866" sldId="301"/>
            <ac:spMk id="3" creationId="{E95D3BC7-F687-BEAC-B1A4-6103AD55B63B}"/>
          </ac:spMkLst>
        </pc:spChg>
      </pc:sldChg>
      <pc:sldChg chg="addSp modSp mod">
        <pc:chgData name="Aditya Hare Krishna" userId="de62b921b3c41f8c" providerId="LiveId" clId="{888A06B1-D98C-6045-8745-160DBFC2FF9C}" dt="2025-07-22T15:07:48.678" v="6" actId="27636"/>
        <pc:sldMkLst>
          <pc:docMk/>
          <pc:sldMk cId="1956045046" sldId="302"/>
        </pc:sldMkLst>
        <pc:spChg chg="add mod">
          <ac:chgData name="Aditya Hare Krishna" userId="de62b921b3c41f8c" providerId="LiveId" clId="{888A06B1-D98C-6045-8745-160DBFC2FF9C}" dt="2025-07-22T15:07:48.678" v="6" actId="27636"/>
          <ac:spMkLst>
            <pc:docMk/>
            <pc:sldMk cId="1956045046" sldId="302"/>
            <ac:spMk id="3" creationId="{0F0C4D17-D918-AF45-149F-BA6F0AFEF7B0}"/>
          </ac:spMkLst>
        </pc:spChg>
      </pc:sldChg>
      <pc:sldChg chg="addSp modSp mod">
        <pc:chgData name="Aditya Hare Krishna" userId="de62b921b3c41f8c" providerId="LiveId" clId="{888A06B1-D98C-6045-8745-160DBFC2FF9C}" dt="2025-07-22T15:07:48.686" v="7" actId="27636"/>
        <pc:sldMkLst>
          <pc:docMk/>
          <pc:sldMk cId="2466435858" sldId="303"/>
        </pc:sldMkLst>
        <pc:spChg chg="add mod">
          <ac:chgData name="Aditya Hare Krishna" userId="de62b921b3c41f8c" providerId="LiveId" clId="{888A06B1-D98C-6045-8745-160DBFC2FF9C}" dt="2025-07-22T15:07:48.686" v="7" actId="27636"/>
          <ac:spMkLst>
            <pc:docMk/>
            <pc:sldMk cId="2466435858" sldId="303"/>
            <ac:spMk id="3" creationId="{056C1B71-281A-28B3-DC9C-7D9DA2A07D64}"/>
          </ac:spMkLst>
        </pc:spChg>
      </pc:sldChg>
      <pc:sldChg chg="addSp modSp mod">
        <pc:chgData name="Aditya Hare Krishna" userId="de62b921b3c41f8c" providerId="LiveId" clId="{888A06B1-D98C-6045-8745-160DBFC2FF9C}" dt="2025-07-22T15:07:48.689" v="8" actId="27636"/>
        <pc:sldMkLst>
          <pc:docMk/>
          <pc:sldMk cId="2881223613" sldId="304"/>
        </pc:sldMkLst>
        <pc:spChg chg="add mod">
          <ac:chgData name="Aditya Hare Krishna" userId="de62b921b3c41f8c" providerId="LiveId" clId="{888A06B1-D98C-6045-8745-160DBFC2FF9C}" dt="2025-07-22T15:07:48.689" v="8" actId="27636"/>
          <ac:spMkLst>
            <pc:docMk/>
            <pc:sldMk cId="2881223613" sldId="304"/>
            <ac:spMk id="3" creationId="{97F8F9C2-E8F7-EDC3-E7E9-AF8A838F1184}"/>
          </ac:spMkLst>
        </pc:spChg>
      </pc:sldChg>
      <pc:sldChg chg="addSp modSp mod">
        <pc:chgData name="Aditya Hare Krishna" userId="de62b921b3c41f8c" providerId="LiveId" clId="{888A06B1-D98C-6045-8745-160DBFC2FF9C}" dt="2025-07-22T15:07:48.691" v="9" actId="27636"/>
        <pc:sldMkLst>
          <pc:docMk/>
          <pc:sldMk cId="1666131232" sldId="305"/>
        </pc:sldMkLst>
        <pc:spChg chg="add mod">
          <ac:chgData name="Aditya Hare Krishna" userId="de62b921b3c41f8c" providerId="LiveId" clId="{888A06B1-D98C-6045-8745-160DBFC2FF9C}" dt="2025-07-22T15:07:48.691" v="9" actId="27636"/>
          <ac:spMkLst>
            <pc:docMk/>
            <pc:sldMk cId="1666131232" sldId="305"/>
            <ac:spMk id="3" creationId="{B414A870-DAF6-F571-C78F-6BFD29746DA6}"/>
          </ac:spMkLst>
        </pc:spChg>
      </pc:sldChg>
      <pc:sldChg chg="addSp modSp mod">
        <pc:chgData name="Aditya Hare Krishna" userId="de62b921b3c41f8c" providerId="LiveId" clId="{888A06B1-D98C-6045-8745-160DBFC2FF9C}" dt="2025-07-22T15:07:48.713" v="10" actId="27636"/>
        <pc:sldMkLst>
          <pc:docMk/>
          <pc:sldMk cId="1377600710" sldId="306"/>
        </pc:sldMkLst>
        <pc:spChg chg="add mod">
          <ac:chgData name="Aditya Hare Krishna" userId="de62b921b3c41f8c" providerId="LiveId" clId="{888A06B1-D98C-6045-8745-160DBFC2FF9C}" dt="2025-07-22T15:07:48.713" v="10" actId="27636"/>
          <ac:spMkLst>
            <pc:docMk/>
            <pc:sldMk cId="1377600710" sldId="306"/>
            <ac:spMk id="3" creationId="{0B951D7E-6380-4731-D37A-2EC275B39692}"/>
          </ac:spMkLst>
        </pc:spChg>
      </pc:sldChg>
      <pc:sldChg chg="addSp modSp mod">
        <pc:chgData name="Aditya Hare Krishna" userId="de62b921b3c41f8c" providerId="LiveId" clId="{888A06B1-D98C-6045-8745-160DBFC2FF9C}" dt="2025-07-22T15:07:48.729" v="11" actId="27636"/>
        <pc:sldMkLst>
          <pc:docMk/>
          <pc:sldMk cId="2298320218" sldId="307"/>
        </pc:sldMkLst>
        <pc:spChg chg="add mod">
          <ac:chgData name="Aditya Hare Krishna" userId="de62b921b3c41f8c" providerId="LiveId" clId="{888A06B1-D98C-6045-8745-160DBFC2FF9C}" dt="2025-07-22T15:07:48.729" v="11" actId="27636"/>
          <ac:spMkLst>
            <pc:docMk/>
            <pc:sldMk cId="2298320218" sldId="307"/>
            <ac:spMk id="4" creationId="{E1020A9B-9F01-C53C-B4CD-8FC6496113FF}"/>
          </ac:spMkLst>
        </pc:spChg>
      </pc:sldChg>
      <pc:sldChg chg="addSp modSp mod">
        <pc:chgData name="Aditya Hare Krishna" userId="de62b921b3c41f8c" providerId="LiveId" clId="{888A06B1-D98C-6045-8745-160DBFC2FF9C}" dt="2025-07-22T15:07:48.744" v="12" actId="27636"/>
        <pc:sldMkLst>
          <pc:docMk/>
          <pc:sldMk cId="1370115112" sldId="308"/>
        </pc:sldMkLst>
        <pc:spChg chg="add mod">
          <ac:chgData name="Aditya Hare Krishna" userId="de62b921b3c41f8c" providerId="LiveId" clId="{888A06B1-D98C-6045-8745-160DBFC2FF9C}" dt="2025-07-22T15:07:48.744" v="12" actId="27636"/>
          <ac:spMkLst>
            <pc:docMk/>
            <pc:sldMk cId="1370115112" sldId="308"/>
            <ac:spMk id="3" creationId="{85F84CAC-360B-27E1-9CD7-7D566CE58B02}"/>
          </ac:spMkLst>
        </pc:spChg>
      </pc:sldChg>
      <pc:sldChg chg="addSp modSp mod">
        <pc:chgData name="Aditya Hare Krishna" userId="de62b921b3c41f8c" providerId="LiveId" clId="{888A06B1-D98C-6045-8745-160DBFC2FF9C}" dt="2025-07-22T15:07:48.752" v="13" actId="27636"/>
        <pc:sldMkLst>
          <pc:docMk/>
          <pc:sldMk cId="391745295" sldId="309"/>
        </pc:sldMkLst>
        <pc:spChg chg="add mod">
          <ac:chgData name="Aditya Hare Krishna" userId="de62b921b3c41f8c" providerId="LiveId" clId="{888A06B1-D98C-6045-8745-160DBFC2FF9C}" dt="2025-07-22T15:07:48.752" v="13" actId="27636"/>
          <ac:spMkLst>
            <pc:docMk/>
            <pc:sldMk cId="391745295" sldId="309"/>
            <ac:spMk id="3" creationId="{BCEA9410-DEC3-8454-A7B8-C224D12B65C8}"/>
          </ac:spMkLst>
        </pc:spChg>
      </pc:sldChg>
      <pc:sldChg chg="addSp modSp mod">
        <pc:chgData name="Aditya Hare Krishna" userId="de62b921b3c41f8c" providerId="LiveId" clId="{888A06B1-D98C-6045-8745-160DBFC2FF9C}" dt="2025-07-22T15:07:48.754" v="14" actId="27636"/>
        <pc:sldMkLst>
          <pc:docMk/>
          <pc:sldMk cId="1436192121" sldId="310"/>
        </pc:sldMkLst>
        <pc:spChg chg="add mod">
          <ac:chgData name="Aditya Hare Krishna" userId="de62b921b3c41f8c" providerId="LiveId" clId="{888A06B1-D98C-6045-8745-160DBFC2FF9C}" dt="2025-07-22T15:07:48.754" v="14" actId="27636"/>
          <ac:spMkLst>
            <pc:docMk/>
            <pc:sldMk cId="1436192121" sldId="310"/>
            <ac:spMk id="3" creationId="{0E0B6D48-EE67-C4A9-0FFC-F7953B7B90AE}"/>
          </ac:spMkLst>
        </pc:spChg>
      </pc:sldChg>
      <pc:sldChg chg="addSp modSp mod">
        <pc:chgData name="Aditya Hare Krishna" userId="de62b921b3c41f8c" providerId="LiveId" clId="{888A06B1-D98C-6045-8745-160DBFC2FF9C}" dt="2025-07-22T15:07:48.755" v="15" actId="27636"/>
        <pc:sldMkLst>
          <pc:docMk/>
          <pc:sldMk cId="172948784" sldId="311"/>
        </pc:sldMkLst>
        <pc:spChg chg="add mod">
          <ac:chgData name="Aditya Hare Krishna" userId="de62b921b3c41f8c" providerId="LiveId" clId="{888A06B1-D98C-6045-8745-160DBFC2FF9C}" dt="2025-07-22T15:07:48.755" v="15" actId="27636"/>
          <ac:spMkLst>
            <pc:docMk/>
            <pc:sldMk cId="172948784" sldId="311"/>
            <ac:spMk id="3" creationId="{A33A5618-C410-84FE-9E46-7AC5C7EFE38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ED8A-8F37-6896-037A-C0C4B7A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93218-0077-D1C3-29F4-FF6441188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4D693-AF17-BAE8-F289-81ABB388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F1C-35AA-00C3-5F8E-B9918FCC5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F6F4E-37D4-DD4C-3955-5816A8A1D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EA83-A5F4-E24B-A28B-E7B4BF564E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029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2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2617773" y="2270664"/>
            <a:ext cx="3908453" cy="126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Java Swing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906D5-B483-3A61-EB4F-0158F6DA0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754856"/>
          </a:xfrm>
        </p:spPr>
        <p:txBody>
          <a:bodyPr/>
          <a:lstStyle/>
          <a:p>
            <a:r>
              <a:rPr lang="en-IN" b="1" dirty="0"/>
              <a:t>What is Swing in Java?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DB5B25-6161-D31E-8DD0-AF8FCBD55D81}"/>
              </a:ext>
            </a:extLst>
          </p:cNvPr>
          <p:cNvSpPr txBox="1"/>
          <p:nvPr/>
        </p:nvSpPr>
        <p:spPr>
          <a:xfrm>
            <a:off x="628650" y="1129517"/>
            <a:ext cx="4574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Swing is a part of Java’s GUI toolkit (</a:t>
            </a:r>
            <a:r>
              <a:rPr lang="en-IN" sz="1200" b="1" dirty="0" err="1"/>
              <a:t>javax.swing</a:t>
            </a:r>
            <a:r>
              <a:rPr lang="en-IN" sz="1200" b="1" dirty="0"/>
              <a:t>).</a:t>
            </a: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3C7EA-0B74-C39E-E872-D53613ED8F6B}"/>
              </a:ext>
            </a:extLst>
          </p:cNvPr>
          <p:cNvSpPr txBox="1"/>
          <p:nvPr/>
        </p:nvSpPr>
        <p:spPr>
          <a:xfrm>
            <a:off x="4747268" y="1115712"/>
            <a:ext cx="41424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IN" sz="1200" b="1" dirty="0"/>
              <a:t>Why Use Swing?</a:t>
            </a:r>
            <a:endParaRPr lang="en-IN" sz="1200" dirty="0"/>
          </a:p>
          <a:p>
            <a:pPr>
              <a:buNone/>
            </a:pPr>
            <a:r>
              <a:rPr lang="en-IN" sz="1200" dirty="0"/>
              <a:t>✅ More </a:t>
            </a:r>
            <a:r>
              <a:rPr lang="en-IN" sz="1200" b="1" dirty="0"/>
              <a:t>powerful and flexible</a:t>
            </a:r>
            <a:r>
              <a:rPr lang="en-IN" sz="1200" dirty="0"/>
              <a:t> than AWT.</a:t>
            </a:r>
          </a:p>
          <a:p>
            <a:pPr>
              <a:buNone/>
            </a:pPr>
            <a:r>
              <a:rPr lang="en-IN" sz="1200" dirty="0"/>
              <a:t>✅ </a:t>
            </a:r>
            <a:r>
              <a:rPr lang="en-IN" sz="1200" b="1" dirty="0"/>
              <a:t>Lightweight components</a:t>
            </a:r>
            <a:r>
              <a:rPr lang="en-IN" sz="1200" dirty="0"/>
              <a:t> (does not rely on OS).</a:t>
            </a:r>
          </a:p>
          <a:p>
            <a:pPr>
              <a:buNone/>
            </a:pPr>
            <a:r>
              <a:rPr lang="en-IN" sz="1200" dirty="0"/>
              <a:t>✅ </a:t>
            </a:r>
            <a:r>
              <a:rPr lang="en-IN" sz="1200" b="1" dirty="0"/>
              <a:t>Supports MVC architecture</a:t>
            </a:r>
            <a:r>
              <a:rPr lang="en-IN" sz="1200" dirty="0"/>
              <a:t> for better GUI separation.</a:t>
            </a:r>
          </a:p>
          <a:p>
            <a:r>
              <a:rPr lang="en-IN" sz="1200" dirty="0"/>
              <a:t>✅ </a:t>
            </a:r>
            <a:r>
              <a:rPr lang="en-IN" sz="1200" b="1" dirty="0"/>
              <a:t>Look-and-feel customization</a:t>
            </a:r>
            <a:r>
              <a:rPr lang="en-IN" sz="1200" dirty="0"/>
              <a:t> (Metal, Nimbus, etc.).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BF14CC-C4A3-9CE0-EA5F-6511F9E3796C}"/>
              </a:ext>
            </a:extLst>
          </p:cNvPr>
          <p:cNvSpPr txBox="1"/>
          <p:nvPr/>
        </p:nvSpPr>
        <p:spPr>
          <a:xfrm>
            <a:off x="615821" y="1889000"/>
            <a:ext cx="3866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Example: A Simple Swing Window (Using JFrame)</a:t>
            </a:r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9CCA9-C5B4-0DBC-4620-FF69C90DF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20" y="2165999"/>
            <a:ext cx="5412299" cy="29567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AD9E81-0C5B-17C5-DEEC-8476E1CA8639}"/>
              </a:ext>
            </a:extLst>
          </p:cNvPr>
          <p:cNvSpPr txBox="1"/>
          <p:nvPr/>
        </p:nvSpPr>
        <p:spPr>
          <a:xfrm>
            <a:off x="5543334" y="4672386"/>
            <a:ext cx="3600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Output:</a:t>
            </a:r>
            <a:r>
              <a:rPr lang="en-IN" sz="1200" dirty="0"/>
              <a:t> A window titled </a:t>
            </a:r>
            <a:r>
              <a:rPr lang="en-IN" sz="1200" b="1" dirty="0"/>
              <a:t>“Swing Window”</a:t>
            </a:r>
            <a:r>
              <a:rPr lang="en-IN" sz="1200" dirty="0"/>
              <a:t> opens.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A221DC-C7B5-A0CD-EB1D-2A9A66F0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81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07C5E-90EC-2663-3159-9C41004C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47506"/>
          </a:xfrm>
        </p:spPr>
        <p:txBody>
          <a:bodyPr>
            <a:normAutofit/>
          </a:bodyPr>
          <a:lstStyle/>
          <a:p>
            <a:r>
              <a:rPr lang="en-IN" b="1" dirty="0"/>
              <a:t>Swing vs. AWT (Key Differences)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92638F-D18B-11B0-DF06-7C769607A1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02228" y="1543050"/>
          <a:ext cx="5208815" cy="20574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992211">
                  <a:extLst>
                    <a:ext uri="{9D8B030D-6E8A-4147-A177-3AD203B41FA5}">
                      <a16:colId xmlns:a16="http://schemas.microsoft.com/office/drawing/2014/main" val="286513639"/>
                    </a:ext>
                  </a:extLst>
                </a:gridCol>
                <a:gridCol w="1322615">
                  <a:extLst>
                    <a:ext uri="{9D8B030D-6E8A-4147-A177-3AD203B41FA5}">
                      <a16:colId xmlns:a16="http://schemas.microsoft.com/office/drawing/2014/main" val="3854055017"/>
                    </a:ext>
                  </a:extLst>
                </a:gridCol>
                <a:gridCol w="893989">
                  <a:extLst>
                    <a:ext uri="{9D8B030D-6E8A-4147-A177-3AD203B41FA5}">
                      <a16:colId xmlns:a16="http://schemas.microsoft.com/office/drawing/2014/main" val="247623193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US" sz="1800" dirty="0"/>
                        <a:t>Feature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AWT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Swing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4651708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Lightweight?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❌ No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✅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366482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Custom Look &amp; Feel?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✅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4663994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MVC Support?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✅ Yes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0035619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Platform-Dependent?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 Yes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5792247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en-US" sz="1800" b="1" dirty="0"/>
                        <a:t>Better Performance?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❌ No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 Yes</a:t>
                      </a:r>
                      <a:endParaRPr lang="en-US" sz="18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9197573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4FFC8C-5731-85EE-93F2-51C8EB62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974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80BD-E884-79AB-155D-1CC800EF2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15137"/>
          </a:xfrm>
        </p:spPr>
        <p:txBody>
          <a:bodyPr>
            <a:normAutofit/>
          </a:bodyPr>
          <a:lstStyle/>
          <a:p>
            <a:r>
              <a:rPr lang="en-IN" b="1" dirty="0"/>
              <a:t>Key Swing Components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0F8500-9EE3-7A81-507B-CA6BA6325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34536"/>
              </p:ext>
            </p:extLst>
          </p:nvPr>
        </p:nvGraphicFramePr>
        <p:xfrm>
          <a:off x="628650" y="1268016"/>
          <a:ext cx="4294414" cy="16916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18607">
                  <a:extLst>
                    <a:ext uri="{9D8B030D-6E8A-4147-A177-3AD203B41FA5}">
                      <a16:colId xmlns:a16="http://schemas.microsoft.com/office/drawing/2014/main" val="1618836132"/>
                    </a:ext>
                  </a:extLst>
                </a:gridCol>
                <a:gridCol w="2375807">
                  <a:extLst>
                    <a:ext uri="{9D8B030D-6E8A-4147-A177-3AD203B41FA5}">
                      <a16:colId xmlns:a16="http://schemas.microsoft.com/office/drawing/2014/main" val="184864586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Swing Component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7378719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JFrame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Main application window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836160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JButton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Clickable button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9122867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JLabel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text/images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8080407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JTextField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Editable text box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538383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i="1" dirty="0"/>
                        <a:t>JTextArea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Multi-line text box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304120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AD913FE-B8E8-1997-CCCF-0B7D1C467C32}"/>
              </a:ext>
            </a:extLst>
          </p:cNvPr>
          <p:cNvSpPr txBox="1"/>
          <p:nvPr/>
        </p:nvSpPr>
        <p:spPr>
          <a:xfrm>
            <a:off x="628651" y="3098347"/>
            <a:ext cx="32111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Example (Adding a Button to a Swing Window):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C352BB-7EDA-44E9-64C1-DD79E36F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32" y="3326678"/>
            <a:ext cx="5450004" cy="18086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5DB040-756E-AFF4-DEAD-DE4831CB2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026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1381-7DCC-E5BF-9B44-61D7C362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8663"/>
          </a:xfrm>
        </p:spPr>
        <p:txBody>
          <a:bodyPr>
            <a:normAutofit/>
          </a:bodyPr>
          <a:lstStyle/>
          <a:p>
            <a:r>
              <a:rPr lang="en-IN" b="1" dirty="0"/>
              <a:t>Creating a Simple Swing Application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D34626-50C1-F164-0882-33E5AF15FB68}"/>
              </a:ext>
            </a:extLst>
          </p:cNvPr>
          <p:cNvSpPr txBox="1"/>
          <p:nvPr/>
        </p:nvSpPr>
        <p:spPr>
          <a:xfrm>
            <a:off x="628650" y="1129517"/>
            <a:ext cx="4574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JFrame with a Label and Button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CC4CF-20BC-C896-9E0F-AC112311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32" y="1386481"/>
            <a:ext cx="5151665" cy="36264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E4AD6E-FBB4-DD0F-19D9-55A0A88FA001}"/>
              </a:ext>
            </a:extLst>
          </p:cNvPr>
          <p:cNvSpPr txBox="1"/>
          <p:nvPr/>
        </p:nvSpPr>
        <p:spPr>
          <a:xfrm>
            <a:off x="5670097" y="3199705"/>
            <a:ext cx="30780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IN" dirty="0"/>
              <a:t>A window with a </a:t>
            </a:r>
            <a:r>
              <a:rPr lang="en-IN" b="1" dirty="0"/>
              <a:t>label</a:t>
            </a:r>
            <a:r>
              <a:rPr lang="en-IN" dirty="0"/>
              <a:t> and a </a:t>
            </a:r>
            <a:r>
              <a:rPr lang="en-IN" b="1" dirty="0"/>
              <a:t>button</a:t>
            </a:r>
            <a:r>
              <a:rPr lang="en-IN" dirty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3A48D2-4B87-3CCF-CE65-838BDA83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68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F60E-283C-F456-B2B7-D11E6D950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74677"/>
          </a:xfrm>
        </p:spPr>
        <p:txBody>
          <a:bodyPr>
            <a:normAutofit/>
          </a:bodyPr>
          <a:lstStyle/>
          <a:p>
            <a:r>
              <a:rPr lang="en-IN" b="1" dirty="0"/>
              <a:t>Handling Button Clicks in Swing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DB1D9-51B1-7EB7-1FAA-389584725AAC}"/>
              </a:ext>
            </a:extLst>
          </p:cNvPr>
          <p:cNvSpPr txBox="1"/>
          <p:nvPr/>
        </p:nvSpPr>
        <p:spPr>
          <a:xfrm>
            <a:off x="628650" y="1129517"/>
            <a:ext cx="4574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 ActionListener to detect button clicks.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76D007-FD02-28BE-9A6A-0C7E29BDF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1" y="1363498"/>
            <a:ext cx="8056826" cy="1520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ED25F7-FF1F-7E59-12B6-2E9A420B4E37}"/>
              </a:ext>
            </a:extLst>
          </p:cNvPr>
          <p:cNvSpPr txBox="1"/>
          <p:nvPr/>
        </p:nvSpPr>
        <p:spPr>
          <a:xfrm>
            <a:off x="628650" y="2883879"/>
            <a:ext cx="3430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Less code, efficient event handling.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5D3BC7-F687-BEAC-B1A4-6103AD55B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744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7B2B-A72E-010B-D2BE-020524E0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03093"/>
          </a:xfrm>
        </p:spPr>
        <p:txBody>
          <a:bodyPr>
            <a:normAutofit/>
          </a:bodyPr>
          <a:lstStyle/>
          <a:p>
            <a:r>
              <a:rPr lang="en-IN" b="1" dirty="0"/>
              <a:t>What is a Layout Manager?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DB1DA-6981-D486-2071-6B946C29EA03}"/>
              </a:ext>
            </a:extLst>
          </p:cNvPr>
          <p:cNvSpPr txBox="1"/>
          <p:nvPr/>
        </p:nvSpPr>
        <p:spPr>
          <a:xfrm>
            <a:off x="392905" y="1171424"/>
            <a:ext cx="7043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</a:t>
            </a:r>
            <a:r>
              <a:rPr lang="en-IN" b="1" dirty="0"/>
              <a:t>layout manager</a:t>
            </a:r>
            <a:r>
              <a:rPr lang="en-IN" dirty="0"/>
              <a:t> controls </a:t>
            </a:r>
            <a:r>
              <a:rPr lang="en-IN" b="1" dirty="0"/>
              <a:t>the arrangement of components</a:t>
            </a:r>
            <a:r>
              <a:rPr lang="en-IN" dirty="0"/>
              <a:t> in a Swing container.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8C2A2E-6BA5-C590-8990-7A0CB3773608}"/>
              </a:ext>
            </a:extLst>
          </p:cNvPr>
          <p:cNvSpPr txBox="1"/>
          <p:nvPr/>
        </p:nvSpPr>
        <p:spPr>
          <a:xfrm>
            <a:off x="392906" y="1659257"/>
            <a:ext cx="54414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use layout managers?</a:t>
            </a:r>
            <a:endParaRPr lang="en-IN" dirty="0"/>
          </a:p>
          <a:p>
            <a:pPr>
              <a:buNone/>
            </a:pPr>
            <a:r>
              <a:rPr lang="en-IN" dirty="0"/>
              <a:t>✅ Ensures </a:t>
            </a:r>
            <a:r>
              <a:rPr lang="en-IN" b="1" dirty="0"/>
              <a:t>consistent UI design</a:t>
            </a:r>
            <a:r>
              <a:rPr lang="en-IN" dirty="0"/>
              <a:t> across different screen sizes.</a:t>
            </a:r>
          </a:p>
          <a:p>
            <a:pPr>
              <a:buNone/>
            </a:pPr>
            <a:r>
              <a:rPr lang="en-IN" dirty="0"/>
              <a:t>✅ Eliminates the need for </a:t>
            </a:r>
            <a:r>
              <a:rPr lang="en-IN" b="1" dirty="0"/>
              <a:t>manual positioning</a:t>
            </a:r>
            <a:r>
              <a:rPr lang="en-IN" dirty="0"/>
              <a:t> (setBounds()).</a:t>
            </a:r>
          </a:p>
          <a:p>
            <a:r>
              <a:rPr lang="en-IN" dirty="0"/>
              <a:t>✅ Handles </a:t>
            </a:r>
            <a:r>
              <a:rPr lang="en-IN" b="1" dirty="0"/>
              <a:t>component resizing and alignment</a:t>
            </a:r>
            <a:r>
              <a:rPr lang="en-IN" dirty="0"/>
              <a:t> automatically.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2D4EF-14A3-5777-3F22-719AB0A6511A}"/>
              </a:ext>
            </a:extLst>
          </p:cNvPr>
          <p:cNvSpPr txBox="1"/>
          <p:nvPr/>
        </p:nvSpPr>
        <p:spPr>
          <a:xfrm>
            <a:off x="392905" y="2708370"/>
            <a:ext cx="6331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 Without Layout Manager (Hardcoded Positions, Bad Practice):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F96A50B-C5EB-C8A2-5A51-9F5BDC7D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3016147"/>
            <a:ext cx="6871545" cy="195038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0C4D17-D918-AF45-149F-BA6F0AFEF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045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429F-499A-09AB-FE42-E9227901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055" y="249569"/>
            <a:ext cx="7886700" cy="693624"/>
          </a:xfrm>
        </p:spPr>
        <p:txBody>
          <a:bodyPr/>
          <a:lstStyle/>
          <a:p>
            <a:r>
              <a:rPr lang="en-IN" b="1" dirty="0"/>
              <a:t>Types of Layout Managers in Swing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74307-5B6B-C71A-9A62-276097457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3659256"/>
              </p:ext>
            </p:extLst>
          </p:nvPr>
        </p:nvGraphicFramePr>
        <p:xfrm>
          <a:off x="93890" y="1132376"/>
          <a:ext cx="5486083" cy="144389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46823">
                  <a:extLst>
                    <a:ext uri="{9D8B030D-6E8A-4147-A177-3AD203B41FA5}">
                      <a16:colId xmlns:a16="http://schemas.microsoft.com/office/drawing/2014/main" val="2962792446"/>
                    </a:ext>
                  </a:extLst>
                </a:gridCol>
                <a:gridCol w="4239260">
                  <a:extLst>
                    <a:ext uri="{9D8B030D-6E8A-4147-A177-3AD203B41FA5}">
                      <a16:colId xmlns:a16="http://schemas.microsoft.com/office/drawing/2014/main" val="1231410595"/>
                    </a:ext>
                  </a:extLst>
                </a:gridCol>
              </a:tblGrid>
              <a:tr h="262520">
                <a:tc>
                  <a:txBody>
                    <a:bodyPr/>
                    <a:lstStyle/>
                    <a:p>
                      <a:r>
                        <a:rPr lang="en-US" sz="1100" dirty="0"/>
                        <a:t>Layout Manager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38968836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FlowLayout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Arranges components in a row, wraps to next line.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4620608"/>
                  </a:ext>
                </a:extLst>
              </a:tr>
              <a:tr h="236491">
                <a:tc>
                  <a:txBody>
                    <a:bodyPr/>
                    <a:lstStyle/>
                    <a:p>
                      <a:r>
                        <a:rPr lang="en-US" sz="1100" dirty="0"/>
                        <a:t>BorderLayout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Divides container into </a:t>
                      </a:r>
                      <a:r>
                        <a:rPr lang="en-US" sz="1100" b="1" dirty="0"/>
                        <a:t>NORTH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SOUTH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EAST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WEST</a:t>
                      </a:r>
                      <a:r>
                        <a:rPr lang="en-US" sz="1100" b="0" dirty="0"/>
                        <a:t>,</a:t>
                      </a:r>
                      <a:r>
                        <a:rPr lang="en-US" sz="1100" b="1" dirty="0"/>
                        <a:t> CENTER</a:t>
                      </a:r>
                      <a:r>
                        <a:rPr lang="en-US" sz="1100" b="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95783538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GridLayout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Divides container into a grid of rows and columns.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17302058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BoxLayout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Aligns components </a:t>
                      </a:r>
                      <a:r>
                        <a:rPr lang="en-US" sz="1100" b="1" dirty="0"/>
                        <a:t>horizontally or vertically</a:t>
                      </a:r>
                      <a:r>
                        <a:rPr lang="en-US" sz="11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94059709"/>
                  </a:ext>
                </a:extLst>
              </a:tr>
              <a:tr h="229500">
                <a:tc>
                  <a:txBody>
                    <a:bodyPr/>
                    <a:lstStyle/>
                    <a:p>
                      <a:r>
                        <a:rPr lang="en-US" sz="1100" dirty="0"/>
                        <a:t>GridBagLayout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Flexible layout with </a:t>
                      </a:r>
                      <a:r>
                        <a:rPr lang="en-US" sz="1100" b="1" dirty="0"/>
                        <a:t>custom positioning</a:t>
                      </a:r>
                      <a:r>
                        <a:rPr lang="en-US" sz="1100" dirty="0"/>
                        <a:t> (advanced).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10682150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21979F1A-345F-394D-01D7-D64E4F1F9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82" y="2368324"/>
            <a:ext cx="4192361" cy="262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C1B71-281A-28B3-DC9C-7D9DA2A0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435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9726-B11E-626C-A383-5C276A3F8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691440"/>
          </a:xfrm>
        </p:spPr>
        <p:txBody>
          <a:bodyPr>
            <a:normAutofit/>
          </a:bodyPr>
          <a:lstStyle/>
          <a:p>
            <a:r>
              <a:rPr lang="en-IN" b="1" dirty="0"/>
              <a:t>Using FlowLayout (Default Layout)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305E6-9F54-0538-2AC6-89A754BCA236}"/>
              </a:ext>
            </a:extLst>
          </p:cNvPr>
          <p:cNvSpPr txBox="1"/>
          <p:nvPr/>
        </p:nvSpPr>
        <p:spPr>
          <a:xfrm>
            <a:off x="181128" y="1622438"/>
            <a:ext cx="3977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Components are placed from left to right, wrapping when needed.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8F71DD-267A-6487-E94D-44009DDAE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742" y="753802"/>
            <a:ext cx="5020205" cy="43914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AD8048-AC2F-D65B-D19C-D55F43278A95}"/>
              </a:ext>
            </a:extLst>
          </p:cNvPr>
          <p:cNvSpPr txBox="1"/>
          <p:nvPr/>
        </p:nvSpPr>
        <p:spPr>
          <a:xfrm>
            <a:off x="181128" y="2329376"/>
            <a:ext cx="39770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Output:</a:t>
            </a:r>
            <a:r>
              <a:rPr lang="en-IN" sz="1200" dirty="0"/>
              <a:t> Buttons appear in a row, adjusting dynamically.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F8F9C2-E8F7-EDC3-E7E9-AF8A838F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223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A9D71-31C1-BBCE-C781-8518FFA8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93075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BorderLayout </a:t>
            </a:r>
            <a:br>
              <a:rPr lang="en-IN" b="1" dirty="0"/>
            </a:br>
            <a:r>
              <a:rPr lang="en-IN" b="1" dirty="0"/>
              <a:t>(Divides Container into 5 Regions)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0D7CB-D8B8-6722-E75B-2C50B4C3FF89}"/>
              </a:ext>
            </a:extLst>
          </p:cNvPr>
          <p:cNvSpPr txBox="1"/>
          <p:nvPr/>
        </p:nvSpPr>
        <p:spPr>
          <a:xfrm>
            <a:off x="800039" y="1508866"/>
            <a:ext cx="2954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Arranges components in NORTH, SOUTH, EAST, WEST, and CENTER.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3D99C2-9215-91B3-F450-FB8CF4C68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055" y="1219031"/>
            <a:ext cx="5271515" cy="37980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B6A5E5-A634-0990-E482-C7A45A47F676}"/>
              </a:ext>
            </a:extLst>
          </p:cNvPr>
          <p:cNvSpPr txBox="1"/>
          <p:nvPr/>
        </p:nvSpPr>
        <p:spPr>
          <a:xfrm>
            <a:off x="800040" y="2333451"/>
            <a:ext cx="20441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North Button at the top</a:t>
            </a:r>
          </a:p>
          <a:p>
            <a:r>
              <a:rPr lang="en-US" sz="1200" dirty="0"/>
              <a:t>Center Button in the middle</a:t>
            </a:r>
          </a:p>
          <a:p>
            <a:r>
              <a:rPr lang="en-US" sz="1200" dirty="0"/>
              <a:t>South Button at the bottom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14A870-DAF6-F571-C78F-6BFD29746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312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3C8CE-3584-5A16-F3C3-FBADAB39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93362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Using GridLayout </a:t>
            </a:r>
            <a:br>
              <a:rPr lang="en-IN" b="1" dirty="0"/>
            </a:br>
            <a:r>
              <a:rPr lang="en-IN" b="1" dirty="0"/>
              <a:t>(Grid-Based Arrangement)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534D78-2D04-681C-D1FC-301E315CDC48}"/>
              </a:ext>
            </a:extLst>
          </p:cNvPr>
          <p:cNvSpPr txBox="1"/>
          <p:nvPr/>
        </p:nvSpPr>
        <p:spPr>
          <a:xfrm>
            <a:off x="628650" y="1404551"/>
            <a:ext cx="4574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Divides container into equal-sized cells.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A2A8F-4051-63E5-2A7A-7F801D67F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40" y="1681550"/>
            <a:ext cx="5055651" cy="30455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5A43D9-DD91-533C-A843-464E626BA2C5}"/>
              </a:ext>
            </a:extLst>
          </p:cNvPr>
          <p:cNvSpPr txBox="1"/>
          <p:nvPr/>
        </p:nvSpPr>
        <p:spPr>
          <a:xfrm>
            <a:off x="5549591" y="2081892"/>
            <a:ext cx="2624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  <a:r>
              <a:rPr lang="en-IN" dirty="0"/>
              <a:t> A </a:t>
            </a:r>
            <a:r>
              <a:rPr lang="en-IN" b="1" dirty="0"/>
              <a:t>2×2 grid</a:t>
            </a:r>
            <a:r>
              <a:rPr lang="en-IN" dirty="0"/>
              <a:t> of buttons.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51D7E-6380-4731-D37A-2EC275B3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600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F128-B970-16DA-A27B-BD0E4499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8953"/>
          </a:xfrm>
        </p:spPr>
        <p:txBody>
          <a:bodyPr>
            <a:normAutofit/>
          </a:bodyPr>
          <a:lstStyle/>
          <a:p>
            <a:r>
              <a:rPr lang="en-IN" b="1" dirty="0"/>
              <a:t>Steps to Create a Simple Swing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F355-6C70-9F21-FA0E-FA9EE6339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00" y="1152475"/>
            <a:ext cx="8520600" cy="1882038"/>
          </a:xfrm>
        </p:spPr>
        <p:txBody>
          <a:bodyPr/>
          <a:lstStyle/>
          <a:p>
            <a:pPr>
              <a:buNone/>
            </a:pPr>
            <a:r>
              <a:rPr lang="en-IN" dirty="0"/>
              <a:t>1️⃣ </a:t>
            </a:r>
            <a:r>
              <a:rPr lang="en-IN" b="1" dirty="0"/>
              <a:t>Create a JFrame (Main Window).</a:t>
            </a:r>
            <a:endParaRPr lang="en-IN" dirty="0"/>
          </a:p>
          <a:p>
            <a:pPr>
              <a:buNone/>
            </a:pPr>
            <a:r>
              <a:rPr lang="en-IN" dirty="0"/>
              <a:t>2️⃣ </a:t>
            </a:r>
            <a:r>
              <a:rPr lang="en-IN" b="1" dirty="0"/>
              <a:t>Add GUI components</a:t>
            </a:r>
            <a:r>
              <a:rPr lang="en-IN" dirty="0"/>
              <a:t> (JLabel, JButton, JTextField).</a:t>
            </a:r>
          </a:p>
          <a:p>
            <a:pPr>
              <a:buNone/>
            </a:pPr>
            <a:r>
              <a:rPr lang="en-IN" dirty="0"/>
              <a:t>3️⃣ </a:t>
            </a:r>
            <a:r>
              <a:rPr lang="en-IN" b="1" dirty="0"/>
              <a:t>Use layout managers</a:t>
            </a:r>
            <a:r>
              <a:rPr lang="en-IN" dirty="0"/>
              <a:t> to arrange components.</a:t>
            </a:r>
          </a:p>
          <a:p>
            <a:pPr>
              <a:buNone/>
            </a:pPr>
            <a:r>
              <a:rPr lang="en-IN" dirty="0"/>
              <a:t>4️⃣ </a:t>
            </a:r>
            <a:r>
              <a:rPr lang="en-IN" b="1" dirty="0"/>
              <a:t>Implement event handling</a:t>
            </a:r>
            <a:r>
              <a:rPr lang="en-IN" dirty="0"/>
              <a:t> for button clicks.</a:t>
            </a:r>
          </a:p>
          <a:p>
            <a:pPr>
              <a:buNone/>
            </a:pPr>
            <a:r>
              <a:rPr lang="en-IN" dirty="0"/>
              <a:t>5️⃣ </a:t>
            </a:r>
            <a:r>
              <a:rPr lang="en-IN" b="1" dirty="0"/>
              <a:t>Set frame visibility to true to display the window.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20A9B-9F01-C53C-B4CD-8FC64961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20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B52F-E4B3-866A-FAEE-E0A29283B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731321"/>
          </a:xfrm>
        </p:spPr>
        <p:txBody>
          <a:bodyPr>
            <a:normAutofit/>
          </a:bodyPr>
          <a:lstStyle/>
          <a:p>
            <a:r>
              <a:rPr lang="en-IN" b="1" dirty="0"/>
              <a:t>Creating a Basic Swing Window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782810-B5E6-408A-B903-C51335266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8803" y="1451580"/>
            <a:ext cx="6039357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49628-E671-F9E0-3789-B069B5F43B53}"/>
              </a:ext>
            </a:extLst>
          </p:cNvPr>
          <p:cNvSpPr txBox="1"/>
          <p:nvPr/>
        </p:nvSpPr>
        <p:spPr>
          <a:xfrm>
            <a:off x="628650" y="1158508"/>
            <a:ext cx="457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A simple Swing window using JFrame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F826E-BEF0-C06D-C14A-75C135E4164A}"/>
              </a:ext>
            </a:extLst>
          </p:cNvPr>
          <p:cNvSpPr txBox="1"/>
          <p:nvPr/>
        </p:nvSpPr>
        <p:spPr>
          <a:xfrm>
            <a:off x="701386" y="4731157"/>
            <a:ext cx="5288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  <a:r>
              <a:rPr lang="en-IN" dirty="0"/>
              <a:t> A blank Swing window titled </a:t>
            </a:r>
            <a:r>
              <a:rPr lang="en-IN" b="1" dirty="0"/>
              <a:t>“My Swing App”</a:t>
            </a:r>
            <a:r>
              <a:rPr lang="en-IN" dirty="0"/>
              <a:t> appears.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F84CAC-360B-27E1-9CD7-7D566CE5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115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836E6-D32F-F32A-922F-F79B27838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4"/>
            <a:ext cx="8520600" cy="691201"/>
          </a:xfrm>
        </p:spPr>
        <p:txBody>
          <a:bodyPr>
            <a:normAutofit/>
          </a:bodyPr>
          <a:lstStyle/>
          <a:p>
            <a:r>
              <a:rPr lang="en-IN" b="1" dirty="0"/>
              <a:t>Adding Components to the Window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862AD54-6103-9C78-11DD-801436140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0945" y="1406515"/>
            <a:ext cx="5423349" cy="32635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28CBEE-4F10-C53F-0CAD-9B74B0AE1057}"/>
              </a:ext>
            </a:extLst>
          </p:cNvPr>
          <p:cNvSpPr txBox="1"/>
          <p:nvPr/>
        </p:nvSpPr>
        <p:spPr>
          <a:xfrm>
            <a:off x="628650" y="1129517"/>
            <a:ext cx="4574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 Adding a Label and a Button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1EF66-C580-D378-1DD3-8B4A0F158935}"/>
              </a:ext>
            </a:extLst>
          </p:cNvPr>
          <p:cNvSpPr txBox="1"/>
          <p:nvPr/>
        </p:nvSpPr>
        <p:spPr>
          <a:xfrm>
            <a:off x="564729" y="4701337"/>
            <a:ext cx="5593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✅ </a:t>
            </a:r>
            <a:r>
              <a:rPr lang="en-IN" b="1" dirty="0"/>
              <a:t>Components are automatically arranged using FlowLayout().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EA9410-DEC3-8454-A7B8-C224D12B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45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3E807-6A43-F8DA-8F94-44599F5E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707046"/>
          </a:xfrm>
        </p:spPr>
        <p:txBody>
          <a:bodyPr>
            <a:normAutofit/>
          </a:bodyPr>
          <a:lstStyle/>
          <a:p>
            <a:r>
              <a:rPr lang="en-IN" b="1" dirty="0"/>
              <a:t>Handling Button Click Events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93A2DF-8A1D-31E2-F8D1-F769D332F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544" y="1408252"/>
            <a:ext cx="7995805" cy="1450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4C676-BE78-6679-091E-8482314A900B}"/>
              </a:ext>
            </a:extLst>
          </p:cNvPr>
          <p:cNvSpPr txBox="1"/>
          <p:nvPr/>
        </p:nvSpPr>
        <p:spPr>
          <a:xfrm>
            <a:off x="628650" y="1129517"/>
            <a:ext cx="4574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Printing a message when a button is clicked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95423-FC41-9A57-E70B-3720DA3EAEA5}"/>
              </a:ext>
            </a:extLst>
          </p:cNvPr>
          <p:cNvSpPr txBox="1"/>
          <p:nvPr/>
        </p:nvSpPr>
        <p:spPr>
          <a:xfrm>
            <a:off x="628650" y="2839125"/>
            <a:ext cx="1217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Output:</a:t>
            </a:r>
          </a:p>
          <a:p>
            <a:endParaRPr lang="en-US" sz="1200" dirty="0"/>
          </a:p>
          <a:p>
            <a:r>
              <a:rPr lang="en-US" sz="1200" dirty="0"/>
              <a:t>Button Clicked!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0B6D48-EE67-C4A9-0FFC-F7953B7B9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192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942A-5C87-E21C-43CD-EE511CE9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677571"/>
          </a:xfrm>
        </p:spPr>
        <p:txBody>
          <a:bodyPr/>
          <a:lstStyle/>
          <a:p>
            <a:r>
              <a:rPr lang="en-IN" b="1" dirty="0"/>
              <a:t>Complete Simple Swing Application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7C098B-400D-6156-3246-2810CCB29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1" y="761828"/>
            <a:ext cx="6303956" cy="4381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6A4EB9-9B4B-DE59-085F-43CEAFFCFF92}"/>
              </a:ext>
            </a:extLst>
          </p:cNvPr>
          <p:cNvSpPr txBox="1"/>
          <p:nvPr/>
        </p:nvSpPr>
        <p:spPr>
          <a:xfrm>
            <a:off x="184439" y="1268016"/>
            <a:ext cx="2387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Example: JFrame with a Label, Text Field, and Button</a:t>
            </a: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0CBAD2-EC6F-EE6D-B585-E0291912075A}"/>
              </a:ext>
            </a:extLst>
          </p:cNvPr>
          <p:cNvSpPr txBox="1"/>
          <p:nvPr/>
        </p:nvSpPr>
        <p:spPr>
          <a:xfrm>
            <a:off x="184439" y="1897487"/>
            <a:ext cx="6254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9205745-77EE-9DF7-F1D1-3845010F3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148320"/>
            <a:ext cx="2493818" cy="1585875"/>
          </a:xfrm>
          <a:prstGeom prst="rect">
            <a:avLst/>
          </a:prstGeom>
        </p:spPr>
      </p:pic>
      <p:pic>
        <p:nvPicPr>
          <p:cNvPr id="11" name="Picture 10" descr="A screenshot of a chat&#10;&#10;AI-generated content may be incorrect.">
            <a:extLst>
              <a:ext uri="{FF2B5EF4-FFF2-40B4-BE49-F238E27FC236}">
                <a16:creationId xmlns:a16="http://schemas.microsoft.com/office/drawing/2014/main" id="{4D8D5C1E-BF74-5B2B-2473-13B3D5D70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03" y="3708027"/>
            <a:ext cx="1900847" cy="11616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3A5618-C410-84FE-9E46-7AC5C7EF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DDDEA83-A5F4-E24B-A28B-E7B4BF564EC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8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2ACBAD-425F-66F4-3E38-864291B525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582</Words>
  <Application>Microsoft Macintosh PowerPoint</Application>
  <PresentationFormat>On-screen Show (16:9)</PresentationFormat>
  <Paragraphs>122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PowerPoint Presentation</vt:lpstr>
      <vt:lpstr>What is Swing in Java?</vt:lpstr>
      <vt:lpstr>Swing vs. AWT (Key Differences)</vt:lpstr>
      <vt:lpstr>Key Swing Components</vt:lpstr>
      <vt:lpstr>Creating a Simple Swing Application</vt:lpstr>
      <vt:lpstr>Handling Button Clicks in Swing</vt:lpstr>
      <vt:lpstr>What is a Layout Manager?</vt:lpstr>
      <vt:lpstr>Types of Layout Managers in Swing</vt:lpstr>
      <vt:lpstr>Using FlowLayout (Default Layout)</vt:lpstr>
      <vt:lpstr>Using BorderLayout  (Divides Container into 5 Regions)</vt:lpstr>
      <vt:lpstr>Using GridLayout  (Grid-Based Arrangement)</vt:lpstr>
      <vt:lpstr>Steps to Create a Simple Swing Application</vt:lpstr>
      <vt:lpstr>Creating a Basic Swing Window</vt:lpstr>
      <vt:lpstr>Adding Components to the Window</vt:lpstr>
      <vt:lpstr>Handling Button Click Events</vt:lpstr>
      <vt:lpstr>Complete Simple Swing Application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29</cp:revision>
  <dcterms:modified xsi:type="dcterms:W3CDTF">2026-02-03T10:10:21Z</dcterms:modified>
</cp:coreProperties>
</file>